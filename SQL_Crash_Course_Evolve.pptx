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SQL Crash Course! By the end of this course, you'll be able to sit down in front of a real company database and pull out the answers a manager actually needs — not just memorize syntax.
We'll build everything around a single running scenario: you as a newly hired data analyst at Evolve Corp, working with the company's employee database. Every example, every practice question, comes back to that same dataset, so the skills stack on top of each other instead of feeling like a random grab-bag of commands.
Check-for-understanding: has anyone here used a spreadsheet's filter or sort feature before? (Pause for response) Good — SQL does the same job, just at a much larger scale, and with far more power once you know the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 before we dive in — a bit about who's teaching this course and why the approach here is hands-on rather than lecture-heavy.
The philosophy driving this course: you don't really learn SQL by memorizing syntax in isolation, you learn it by using it to answer real questions against real-shaped data, over and over, until the patterns become second nature. That's exactly how we'll structure everything from here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point forward, everything in the course lives inside one consistent story: you're the new analyst at Evolve Corp, and you've just been handed the keys to the company's employee database. This is actually a real, widely-used practice dataset in the SQL-learning world — so the skills you build here transfer directly to real practice afterward.
The database has four tables that matter for us: employees (basic personal info), departments and dept_emp (who works where), salaries (pay history), and titles (job title history). Notice they're already split apart rather than crammed into one giant table — that's the relational model in action, and we'll unpack exactly why that split exists in Part 1.
Keep this scenario in mind through the whole course: every clause we learn is really just another tool for answering a manager's question about these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path. We start at the very foundation — what data and databases actually are — because SQL only makes sense once you understand the relational structure it's built to query.
From there we set up your environment, write your first real queries, learn to filter and shape results, handle dates and missing data, group and sort, and finish by combining multiple tables together — which is where SQL really starts to feel powerful.
Every part builds on the one before it, and every example uses the same Evolve Corp employees database, so nothing here is throwaway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introduce Part 1: Data, Databases &amp; DBMS Foundations. This grounds students in vocabulary before touching any SQL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a single line of SQL, let's ground ourselves in what data actually is: any fact or piece of information a computer can store and process — text, numbers, images, audio, video, all of it.
How we've stored that data has changed dramatically. It started with physical punch cards and paper records — reliable but painfully slow to search. Magnetic tape and disks digitized storage but kept access mostly sequential. Databases were the breakthrough: structured storage built specifically for fast, flexible retrieval. Today we've layered cloud and distributed storage on top, spreading data across many machines at once.
SQL sits at the database stage of this timeline — it's the standard language the industry settled on for asking questions of structured data. Understanding that lineage helps explain why SQL looks and behaves the way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database is more than a spreadsheet with a fancier name — it's data stored in a structured format (usually tables like this one), designed from the ground up to be easily retrieved, updated, and managed, using a Database Management System, or DBMS, as the software layer that sits between you and the raw data.
Three characteristics define a database: it stores data in a structured format, it allows data to be retrieved and updated efficiently, and it relies on a DBMS to actually do that work. This simple three-column table is small enough to manage by eye — but scale it to Evolve Corp's tens of thousands of employees, and you need real database software, not a spreadsheet, to keep it fast and reliable. That software is exactly what we look 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DBMS — Database Management Software — is what actually stores, organizes, and lets you interact with a database. You don't touch the raw files on disk directly; you go through the DBMS.
The industry has many of these, each with different strengths: MySQL and PostgreSQL are open-source relational workhorses, Oracle and SQL Server are enterprise relational systems, and then MongoDB, Redis, Cassandra, and Neo4j represent different NoSQL approaches we'll touch on shortly.
For this course, Evolve Corp runs MySQL — it's free, extremely widely used in the real world, and everything we install and query from here forward will be MySQL specifically, even though the SQL language itself is very similar across most of these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databases didn't appear out of nowhere — they're the third generation of a design problem database engineers kept iterating on.
The hierarchical model came first: think of it as a tree. Every record has exactly one parent, which mirrors things like a company org chart, but breaks down the moment something needs more than one parent — a single employee who belongs to two departments, for instance.
The network model fixed that by allowing many-to-many relationships — a child could have multiple parents — but the resulting web of connections became genuinely difficult to navigate and maintain as databases grew.
The relational model, which we use for the rest of this course, solved both problems at once: data lives in independent tables, and relationships between them — one-to-one, one-to-many, or many-to-many — are expressed through shared key values rather than rigid physical links. That flexibility is exactly why it's still the industry default decades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isn't the only way to organize data — it's just the most common for the kind of structured, tabular business data we'll work with. It's worth knowing the alternatives exist.
Key-value stores like Redis pair a simple key with a value — blazing fast, often used for caching. Document stores like MongoDB keep each record as a flexible, self-contained document, which suits data that doesn't fit a rigid schema well. Columnar databases like Cassandra organize by column instead of row, optimized for very fast reads across massive datasets. Graph databases like Neo4j store data as nodes and relationships, ideal for deeply interconnected data like social networks or fraud detection.
We won't write queries against any of these in this course — Evolve Corp's employee data is a textbook relational use case, and SQL against a relational database is what you'll meet in the vast majority of data analyst roles. But recognizing these names when they come up in a job posting or a team conversation is valuable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relational model in action on a small scale. Instead of one giant spreadsheet cramming customer info, sales, and city details into a single wide table with tons of repeated data, we split it into three focused tables: Customer Data, Sales Data, and City Data.
Notice Sales Data doesn't repeat 'Lagos' or 'Nigeria' anywhere — it just stores a City_id, a number that points back to the matching row in City Data. That's the core relational idea: each fact lives in exactly one place, and tables reference each other through shared ID columns instead of duplicating information everywhere it's needed.
This is precisely the pattern Evolve Corp's own database follows — employees, departments, and salaries are separate tables linked by an employee number, not one sprawling table. Once you can read this three-table example, you can read that one too. Next, we'll give a name to the columns that make these links possible: primary and foreign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vocabulary check before we move into SQL itself, because these two terms get used loosely and it's worth being precise.
DBMS is the umbrella term — any software that manages a database, regardless of what model that database follows. RDBMS narrows that down specifically to software managing relational databases — the tables-linked-by-keys structure we just walked through.
Every RDBMS is technically a DBMS, but not every DBMS is an RDBMS — MongoDB, for example, is a DBMS but not an RDBMS, since it stores flexible documents rather than related tables. MySQL, which we're about to install and use for the rest of this course, is an RDBMS through and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introduce Part 2: Meet SQL &amp; Your Toolkit. This part gets students from vocabulary to a working MySQL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stands for Structured Query Language — it's the standard language nearly every relational database understands, from MySQL to PostgreSQL to Oracle. Learn it once, and the vast majority of it transfers directly between systems.
SQL commands roughly split into three jobs: querying data with SELECT, modifying data with INSERT, UPDATE, and DELETE, and defining the structure itself with CREATE, ALTER, and DROP — building or changing tables and databases.
As a data analyst at Evolve Corp, your day-to-day work is almost entirely SELECT — asking questions of data that already exists, not changing it. That's exactly where this course will spend nearly all of its time, though understanding that the other categories exist helps you read documentation and conversations with database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terms you'll hear constantly once you start reading SQL documentation or talking with other analysts: record and field. They're really just formal names for row and column, and people use both sets of words interchangeably.
A record (or row) is one full entry in a table — in Evolve Corp's employees table, one record is one employee, with all their information together. A field (or column) is one specific piece of information the table tracks — first_name is a field, birth_date is a field, hire_date is a field.
Looking at this small table: the highlighted row is one record — everything about Love Muili. Each column header — ID, Name, Phone Number — names one field. Every query we write from here forward is really just a precise way of asking for certain fields, from certain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terms explain exactly how the tables we saw earlier link together. A primary key is a column (or set of columns) that uniquely identifies every row in its table — no duplicates allowed. In the Customer Data table, ID is the primary key: exactly one customer per ID value.
A foreign key is a column in a different table that references that primary key. In the Master Data table, Customer_id is a foreign key pointing back to the ID column in Customer Data — it's how Master Data says 'this sales record belongs to customer number 1.'
This exact pattern is what links Evolve Corp's tables together: employees.emp_no is a primary key, and it shows up as a foreign key in salaries, titles, and dept_emp. Once you can spot a primary key and its matching foreign key, you can read the relationship between any two tables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can query anything, you need somewhere to type and run that query. A GUI client is software that gives you a visual window into your database — browsing tables, writing queries, and seeing results in a clean grid — instead of interacting with the database purely through typed commands.
For this course, we'll use MySQL Workbench, the official free client from MySQL itself. To get set up: download the MySQL Installer from the official site, install both MySQL Server (the actual database engine) and MySQL Workbench (the visual client), and then download the sample 'employees' database we'll use for every example in this course.
You'll encounter other GUI clients in real jobs — DBeaver and TablePlus work across many database types, and pgAdmin is the PostgreSQL-specific equivalent of Workbench. They all do fundamentally the same job, so once you're comfortable in one, switching to another is mostly just learning a new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time you'll import a database through Workbench's visual import wizard, but walking through the command-line version once really cements what's actually happening underneath.
Step one: confirm MySQL is installed and reachable by typing mysql -V in your terminal or command prompt. If that fails, use 'where mysql' on Windows or 'which mysql' on Mac to find where it's actually installed.
Step two: if it's not found, add the MySQL bin folder to your system's PATH environment variable so your terminal knows where to find the mysql command from any folder.
Step three: connect with mysql -u root -p, enter your password when prompted, then run CREATE DATABASE employees; to make an empty database ready to receive data.
Step four: exit that session with \q, then import the actual data in one line: mysql -u root -p employees &lt; employees.sql — that redirect symbol tells MySQL to run every command inside that .sql file against your new employees database. Once that finishes, you have the full dataset we'll use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pieces of housekeeping before we start writing real queries next part.
Comments let you leave notes inside your SQL that the database ignores when running the query. Single-line comments use two dashes followed by a space — that space matters, some tools won't recognize the comment without it. Multi-line comments wrap content between /* and */, useful for longer explanations or temporarily disabling a chunk of a query.
Schema refers to the overall structure that defines how data is organized — the tables, their columns, and the data types those columns hold. You can create one with CREATE SCHEMA employees; or, just as easily, let the GUI create it automatically when you import a database, which is what happens when you import the employees.sql file through Workbench's wizard.
Get comfortable commenting your queries early — it's a habit that pays off the moment you come back to a query you wrote a month ago and can't remember why you wrote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introduce Part 3: Your First Queries. Students write and run their first real SQL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query in this course starts the same way: SELECT, followed by what you want, FROM, followed by where to get it. That's the entire skeleton — everything else we learn from here is just adding more pieces onto this basic frame.
SELECT column1, column2 FROM table_name; — list the exact fields you want, separated by commas, then say which table they live in. Try it right now against Evolve Corp's employees table: SELECT first_name, last_name FROM employees; returns just those two columns for every employee.
The asterisk, *, is a shortcut meaning 'every column' — SELECT * FROM employees; grabs the whole table. It's genuinely useful when you're exploring an unfamiliar table for the first time, but in real reports, naming your columns explicitly is clearer and faster once the table has dozens of fields you don't actually need.
Check-for-understanding: what would SELECT hire_date FROM employees; return? (Pause) Right — just the hire_date column, for every single employee in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CONCAT glues text values together. CONCAT(first_name, ' ', last_name) joins someone's first name, a literal space character, and their last name into one combined string — 'Love' plus ' ' plus 'Muili' becomes 'Love Muili'.
On its own, that combined column would show up in your results labeled with something ugly like CONCAT(first_name, ' ', last_name) — which is where alias comes in. Alias just means renaming an object in SQL, most commonly a column. Adding AS "name" after the CONCAT relabels that column as simply 'name' in your results.
This isn't limited to CONCAT — you can alias any column, any calculation, even an entire table when you're combining several together, which becomes especially useful once we reach joins in Part 7. For now, the pattern to remember: SELECT CONCAT(first_name, ' ', last_name) AS "name" FROM employees; gives you a clean, single 'name' column instead of two separate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broadly, is a set of steps that produces a single value from some input. Aggregate functions are a specific family that summarize an entire column of rows down into just one number.
The core five: COUNT tells you how many rows or values exist. MAX and MIN find the largest and smallest values in a column. AVG calculates the average, and SUM adds everything up.
These map directly onto the kind of questions a manager actually asks: 'What's the total number of employees in the company?' is a COUNT question. 'How many departments are there?' is also COUNT, just on a different table. 'What's the average salary of employees?' is an AVG question. We'll turn all three of these into real queries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aggregate functions to work on exactly the kind of question you'd get asked on your first week at Evolve Corp.
'What's the total number of employees?' becomes SELECT COUNT(emp_no) AS "total_employees" FROM employees; — counting the primary key column is a safe way to count rows, since a primary key is guaranteed never to be empty.
'How many departments are there?' is the identical pattern against a different table: SELECT COUNT(dept_no) AS "total_departments" FROM departments;
'What's the average salary?' switches to AVG instead of COUNT: SELECT AVG(salary) AS "avg_salary" FROM salaries; — note this runs against the salaries table, not employees, since that's where the salary figures actually live.
Notice the shape repeating across all three: aggregate function, wrapped around a column, aliased to a readable name, pulled from the right table. Once that shape feels automatic, you can answer almost any 'how many' or 'what's the average' question a manager throws at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subtle but important distinction that trips up a lot of beginners. Plain COUNT(column) counts every non-empty value in that column, duplicates and all. If three employees are all named Alex, COUNT(first_name) still counts all three.
COUNT(DISTINCT(column)) instead counts only the unique values — so if two employees share the name Alex and one is named Jordan, COUNT(DISTINCT(first_name)) returns 2, not 3, because it only counts 'Alex' and 'Jordan' once each.
This matters constantly in real analysis. If you want to know how many employees exist, COUNT(emp_no) is correct, since emp_no is unique per person anyway. But if you wanted to know how many distinct job titles exist across the whole company, you'd need COUNT(DISTINCT(title)) — otherwise you'd be counting every employee who holds a title, not the number of different titles that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catalogue of the mistakes nearly everyone makes early on — recognizing them fast will save you real debugging time.
Forgetting the semicolon at the end of a statement is the single most common one — most clients simply won't execute anything until they see it.
Mixing up quote types is next: text values need single quotes, like 'North', while double quotes are reserved for aliases like AS "total_sales". Dates need quotes too, even though they look numeric — WHERE hire_date = '1986-06-26' not WHERE hire_date = 1986-06-26.
Once we reach GROUP BY in Part 6, a very common error appears: selecting a column that's neither grouped nor wrapped in an aggregate function, which MySQL will often silently allow but produce confusing, effectively random results for the ungrouped column.
And finally, don't assume case sensitivity behaves the way you'd guess — column and table names are usually case-insensitive in MySQL, but the actual text values you're comparing against inside quotes can be case-sensitive depending on how the database is configured. When in doubt, match the exact casing you see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introduce Part 4: Filtering Your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is the filtering workhorse of SQL — it sits between FROM and the rest of your query, and it decides which rows survive into your results.
SELECT * FROM employees.salaries WHERE salary = 60117; checks every row's salary value, keeps the ones equal to 60117, and discards the rest before anything gets returned to you.
Try a second one yourself: return the full name, birth date, and sex of employees. That's SELECT CONCAT(first_name, ' ', last_name) AS "name", birth_date, sex FROM employees; — no WHERE needed here since we want every row, just specific columns. Notice WHERE is optional; you only add it when you need to narrow rows down.
Check-for-understanding: what would WHERE salary &gt; 60117 return instead of WHERE salary = 60117? (Pause) Right — only rows where salary is strictly greater than 60117, not equal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is another filtering clause, and the rule is strict: every single condition joined by AND must be true for a row to survive.
WHERE sex = 'F' AND hire_date = '1986-08-28' only keeps rows that are both female AND hired on exactly that date — miss either condition and the row is out.
Here's a classic beginner trap: ask for employees hired on August 28, 1986 AND November 21, 1985. Run that, and SQL returns nothing at all — zero rows. Why? Because hire_date is a single column holding one value per row. No employee's hire_date can simultaneously equal two different dates, so the AND condition can never be satisfied by any row.
This mistake usually means you actually wanted OR — 'give me employees hired on this date, or that date' — which is exactly what we cover next. The takeaway: whenever you're ANDing two conditions on the same column, stop and ask whether OR is really what you meant.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related tools, each a different answer to 'I need more flexibility than a single AND allows.'
OR only needs one of its conditions to be true, not all of them — exactly what fixes the trap from the last slide. WHERE hire_date = '1986-08-28' OR hire_date = '1985-11-21' correctly returns employees hired on either date.
IN is shorthand for exactly that pattern once you're checking more than two values against the same column — WHERE hire_date IN ('1986-08-28', '1985-11-21') means the same thing as the OR version above, but scales cleanly to five or ten dates without a wall of OR keywords.
NOT flips a condition — it filters for everything except what you specify. WHERE NOT gender = 'm' returns every row where gender isn't 'm', which in most cases is a cleaner way to express 'anyone but male' than writing out every other possible value.
Interactive exercise: how would you rewrite 'employees in the Sales, Marketing, or Finance departments' using IN instead of three ORs? (Pause) Right: WHERE department IN ('Sales', 'Marketing',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WHERE condition you write eventually comes down to one of these six comparison operators, so getting fluent with them pays off immediately.
Equal to, written as a single =, checks whether two values match exactly — 'lo' = 'lo' is TRUE, but 'num' = 'bag' is FALSE since the text doesn't match.
Greater than and less than, &gt; and &lt;, compare numbers or dates directly — salary &gt; 60000 keeps only higher earners. Not equal to has two accepted spellings in MySQL: &lt;&gt; and !=, both do the same job.
Greater-than-or-equal and less-than-or-equal, &gt;= and &lt;=, are the inclusive versions — salary &gt;= 60000 includes someone earning exactly 60000, while salary &gt; 60000 would exclude them.
These six operators are the vocabulary every filtering clause is built from — WHERE, AND, OR, all of them ultimately combine these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is pure convenience — it's shorthand for a range check you could otherwise write with two separate AND'd comparisons. WHERE column1 BETWEEN condition1 AND condition2 is functionally identical to WHERE column1 &gt;= condition1 AND column1 &lt;= condition2, just shorter and more readable.
Both ends of the range are included — that's an easy detail to miss. BETWEEN '1986-06-26' AND '1989-09-12' includes employees hired on exactly those two boundary dates, not just the ones strictly in between.
First practice question: return the full name and employee number of female employees hired between 1986-06-26 and 1989-09-12. That combines everything so far — CONCAT, alias, WHERE, AND, and now BETWEEN.
Second practice question: return the top 10 employees who earned the highest salary. Notice BETWEEN doesn't actually help here — you don't know the range ahead of time. This one needs sorting and a row limit, which is exactly what ORDER BY and LIMIT give us once we reach Part 6. File that question away — we'll come back and answer it for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subtle bug source: SQL has a default order for evaluating AND and OR when you mix them in one WHERE clause, similar to how multiplication happens before addition in ordinary math. AND is evaluated before OR.
WHERE department = 'Sales' AND salary &gt; 60000 OR salary &gt; 100000 actually gets read as: (department = 'Sales' AND salary &gt; 60000) OR salary &gt; 100000 — meaning any employee earning over 100,000 gets included regardless of department, which might not be what you intended at all.
The fix is simple and should become a habit: wrap your intended groupings in explicit parentheses. WHERE (department = 'Sales' AND salary &gt; 60000) OR salary &gt; 100000 says exactly the same thing as before in this case, but now there's zero ambiguity — and if you actually wanted a different grouping, like WHERE department = 'Sales' AND (salary &gt; 60000 OR salary &gt; 100000), parentheses let you say precisely that instead.
Rule of thumb: the moment a WHERE clause mixes AND and OR, add parentheses. It costs nothing and removes an entire category of silent, hard-to-spot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introduce Part 5: Dates, Time &amp; Missing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are their own small universe of SQL rules, so let's ground the format before doing anything clever with them. MySQL follows the ISO-8601 international standard, which gives us three related formats: 'yyyy-mm-dd' for a plain date, 'yyyy-mm-dd hh:mm:ss' for a full timestamp, and 'hh:mm:ss' for just a time.
Getting the current date and time is one function call: SELECT NOW(); returns the exact moment the query ran, down to the second.
Often you only want the date portion of a timestamp, not the time attached to it. CAST lets you convert between types — SELECT CAST(NOW() AS DATE); strips the time off and leaves just the date. We'll lean on CAST again once we start comparing dates and timestamps against each other, since MySQL needs both sides of a comparison in compatible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functions cover almost everything you'll need for date math. TIMESTAMPDIFF(unit, start_date, end_date) measures the gap between two dates in whatever unit you specify — year, month, day, and more.
SELECT TIMESTAMPDIFF(year, birth_date, curdate()) FROM employees; calculates every employee's current age in years, comparing their birth_date against curdate(), today's date.
TIMESTAMPADD works in reverse — it shifts a date forward (or backward, with a negative number) by an amount. SELECT date(birth_date), TIMESTAMPADD(year, 2, birth_date) FROM employees; shows each birth date next to what it would be two years later.
DATE_SUB is a close cousin that subtracts an interval directly: DATE_SUB(curdate(), INTERVAL 30 year) gives you the date exactly 30 years before today — useful for comparisons, which is exactly what we'll do on the next slide.
One framing worth remembering: &gt; usually means 'after that date' — newer, or shorter tenure — while &lt; means 'before that date' — older, or longer tenure. Keep that in your head when reading date comparisons; it's easy to flip the direction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answer a real tenure question two different ways, because both patterns show up constantly in real SQL and it's worth recognizing them as equivalent.
Approach 1 calculates the exact gap for every row directly: WHERE TIMESTAMPDIFF(year, hire_Date, curdate()) &lt; 30 keeps only employees whose years of service, calculated fresh for each row, come out under 30.
Approach 2 flips the logic: instead of calculating a difference per row, it calculates one fixed date — 30 years before today — using TIMESTAMPADD(year, -30, curdate()), and then simply compares each employee's hire_Date against that single fixed point. WHERE hire_Date &gt; TIMESTAMPADD(year, -30, curdate()) means 'hired more recently than 30 years ago,' which is the same condition as 'less than 30 years of service.' DATE_SUB(curdate(), INTERVAL 30 year) does the identical calculation with slightly different syntax.
Approach 1 tends to read more naturally when you're learning. Approach 2 tends to perform better on large tables, because the database only computes that boundary date once, rather than running TIMESTAMPDIFF fresh for every single row. Both are worth having in your 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 is one of the most misunderstood concepts for SQL beginners, so let's be precise about it. NULL represents a missing value or an empty cell — the database genuinely doesn't know or doesn't have that piece of information.
Critically, NULL is not the same as 0, not the same as an empty string ' ', and not the same as the literal text 'NULL' typed in quotes. Zero is a real, meaningful number. An empty string is still a value — just an empty one. And the quoted text 'NULL' is just four letters, not the actual missing-value marker. Mixing these up produces subtly wrong query results that are hard to spot.
While we're here, worth naming MySQL's major data type families, since NULL can technically appear in any of them: numeric types like TINYINT and INT, text types like VARCHAR and CHAR, and date types like DATE, TIME, and DATETIME.
Practice question to sit with: return all employees hired before August 28, 1986. If some rows have a NULL hire_date, do they show up in your results? They won't — NULL doesn't satisfy a less-than comparison, or any comparison at all, which is exactly the surprising behavior we tackle next with COALESCE.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COALESCE solves the exact problem NULL creates: it scans a list of values left to right and returns the first one that isn't NULL, letting you substitute in a sensible fallback.
COALESCE(column_1, 'empty') checks column_1 first — if it has a real value, that's what's returned. If column_1 is NULL, it falls through to the second argument, 'empty', and returns that instead. You can chain more than two arguments if you want a whole fallback sequence.
First practice question: replace all empty first or last names with a default value, something like COALESCE(first_name, 'Unknown'). Second, trickier one: assuming a student's minimum age for a class is 15, find the average age of a student, replacing any missing age value with that minimum of 15 before averaging — that's COALESCE(age, 15) wrapped inside an AVG().
This pattern — COALESCE nested inside an aggregate function — is extremely common in real reporting, because a straightforward AVG(age) would simply skip NULL rows entirely, which can quietly skew your average in a way that's easy to miss if you're not paying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introduce Part 6: Grouping, Pattern Matching &amp;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aggregate function we've used so far — COUNT, AVG, SUM — collapsed the entire table into a single number. GROUP BY changes that: instead of one summary for the whole table, you get one summary per unique value in the column you group by.
SELECT hire_date, COUNT(emp_no) FROM employees GROUP BY hire_date; answers exactly the practice question on this slide — how many people were hired on any given date. Instead of one total count, you get a row per distinct hire_date, each with its own count of how many employees share that date.
The mental model: GROUP BY first sorts every row into buckets based on matching values in that column, and then any aggregate function in your SELECT runs separately within each bucket, not across the whole table at once.
This is one of the most powerful patterns in all of SQL — nearly every 'break this down by category' business question routes through GROUP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GROUP BY is in the picture, WHERE stops being enough for one specific job: filtering based on the aggregate result itself. That's what HAVING is built for.
The distinction: WHERE filters individual rows before grouping ever happens, and it can't reference an aggregate function — the aggregate doesn't exist yet at that stage. HAVING filters entire groups, after GROUP BY has already collapsed the rows, and it's specifically designed to reference aggregate functions like COUNT, AVG, or SUM.
SELECT emp_no, COUNT(salary) AS "salary_changes" FROM salaries GROUP BY emp_no HAVING COUNT(salary) &gt; 15; groups every salary record by employee, counts how many salary entries each employee has, and then keeps only the employees whose count exceeds 15. Try writing this with WHERE COUNT(salary) &gt; 15 instead — MySQL will throw an error, because WHERE runs before COUNT has been calculated per group.
One handy related note: MIN() on a date column returns the earliest date, MAX() returns the most recent — combine that with GROUP BY emp_no and you can find each employee's very first or most recent salary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lets you search for text patterns instead of exact matches, using two wildcard characters. The percent sign, %, stands in for any number of characters, including none at all. The underscore, _, stands in for exactly one character, no more, no less.
Combining them into patterns: LIKE 'A%' matches anything starting with A. LIKE '%a' matches anything ending with a. LIKE '%a%' matches anything containing an a anywhere at all. LIKE '%a_' is more specific — it needs an a somewhere, followed by exactly one more character after it.
Real question: how many employees have a first name that starts with A and ends with R? That's SELECT COUNT(*) FROM employees WHERE first_name LIKE 'A%R'; — starts with A, the % absorbs however many characters come in the middle, and it ends with R.
Check-for-understanding: what pattern would you use to find names that are exactly 3 characters long and start with J? (Pause) Right — LIKE 'J__' — J followed by exactly two more characters, using two underscores.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BY sorts your final result set — nothing about the data itself changes, only the order you see it in. By default, sorting is ascending: smallest to largest, earliest to latest, A to Z. Add DESC to flip that to descending.
SELECT column_name, COUNT(column_name) AS "counts" FROM table_name GROUP BY column_name ORDER BY counts DESC; groups your data, counts within each group, and then sorts so the largest counts appear first — an extremely common pattern for 'show me the most common X' questions.
You can sort by more than one column at once, and each column can have its own direction. ORDER BY first_name ASC, last_name DESC sorts primarily by first name going up alphabetically, then within any tied first names, sorts by last name going down instead.
Practice question: sort employees by first name ascending and last name descending — that's literally the example above. Try it against the real employees table and see how ties get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several practice questions from earlier parts finally come together. ‘Return the top 10 employees who generated the highest salary’ needed two things we didn't have yet back in Part 4: a way to sort, and a way to cut the results down to a fixed count.
ORDER BY salary DESC handles the sorting — highest salary first. LIMIT 10, added at the very end of the query, then keeps only the first 10 rows of that sorted result and discards everything after.
The order matters conceptually even though it's just two clauses: sort first, conceptually, then limit. If you limited before sorting, you'd get an arbitrary 10 rows, not the top 10 — which is exactly why LIMIT almost always appears paired with an ORDER BY.
This combination — ORDER BY plus LIMIT — is one of the most common patterns you'll write as a working analyst, any time someone asks for a 'top N' or 'bottom 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something that surprises almost every beginner: the order you TYPE a SQL query — SELECT, FROM, WHERE, GROUP BY, HAVING, ORDER BY — is not the order the database actually RUNS it in.
The real execution order is: FROM first, picking which table (or tables) to work from. Then WHERE, filtering individual rows before any grouping happens. Then GROUP BY, collapsing matching rows together. Then HAVING, filtering entire groups. Only then does SELECT run, choosing which columns make it into your output. After that, ORDER BY sorts the final result set. And finally, LIMIT trims it down to a fixed number of rows.
This explains several rules we've already hit. It's why WHERE can't reference an aggregate function — WHERE runs before GROUP BY has created any groups to aggregate. It's why HAVING can — HAVING runs after grouping. And it's why you can ORDER BY an alias you defined in SELECT, even though SELECT looks like it comes 'before' ORDER BY in the way you type the query — SELECT has already run by the time ORDER BY executes.
Keep this sequence in your head as a mental model whenever a query behaves in a way you don't expect — nine times out of ten, the answer is hiding in this execution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introduce Part 7: Combining Tables. This is the payoff for everything learned about primary/foreign keys back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primary and foreign keys from Part 2? This is where that concept finally pays off directly — combining data that lives in two separate tables, linked by a shared key.
SELECT s.*, CONCAT(first_name, ' ', last_name) AS "name" FROM employees.employees AS e, employees.salaries AS s WHERE e.emp_no = s.emp_no; pulls every salary column plus each employee's full name, by listing both the employees and salaries tables in FROM — aliased as e and s for brevity — and then matching rows where the emp_no in one table equals the emp_no in the other.
That WHERE condition is doing critical work: it's the link connecting each salary record back to the correct employee. Forget it, and MySQL doesn't complain — it just pairs every row in employees with every row in salaries, producing a massive, meaningless result called a cross join.
This comma-based syntax is genuinely old-school, and you'll still see it in older codebases, but it's risky precisely because that crucial matching condition is easy to forget. The modern, safer way to express the exact same idea is the JOIN keyword, which we turn to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does exactly the same job as the comma-and-WHERE approach from the last slide, but it makes the matching condition a required, built-in part of the syntax — you structurally cannot forget it.
SELECT e.first_name, e.last_name, s.salary FROM employees AS e JOIN salaries AS s ON e.emp_no = s.emp_no; reads almost like a sentence: from employees, join salaries, matching on emp_no.
There's a shortcut worth knowing: when both tables happen to use the exact same column name for the key you're matching on — both called emp_no, for instance — you can write USING (emp_no) instead of ON e.emp_no = s.emp_no. Same result, less typing, but it only works when the column names match exactly on both sides.
From this point forward, JOIN is what you'll reach for by default — it's clearer to read, safer to write, and it's what you'll see in essentially every modern SQL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JOIN, which we just learned, is actually shorthand for INNER JOIN — but there are three other variants, and the difference between them all comes down to one question: what happens to a row that doesn't have a match on the other side?
INNER JOIN, shown by the overlapping section of the two circles, keeps only rows that have a match in BOTH tables — anything unmatched on either side simply disappears from the results.
LEFT JOIN keeps every row from the left (first-listed) table no matter what, and attaches matching data from the right table wherever a match exists. If Employee X has no salary record, a LEFT JOIN still shows Employee X, just with NULL in the salary columns.
RIGHT JOIN is the mirror image — every row from the right table is kept, matched against the left where possible.
FULL OUTER JOIN keeps every row from both tables, matched where possible, with NULLs filling in wherever there's no counterpart on the other side. Note MySQL doesn't support FULL OUTER JOIN directly — it's typically simulated by combining a LEFT JOIN and a RIGHT JOIN with UNION, but the concept and the diagram are exactly the same.
Notice that NULL from Part 5 shows up again here — it's exactly what fills in the gaps whenever a JOIN can't find a match on one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close out with one query that pulls together nearly everything from every part of this course, because this is genuinely what a real analyst's query looks like once you're comfortable.
The question: for each department, what's the average current salary of employees hired in the last 30 years, showing only departments with more than 50 such employees, sorted highest average first.
Walk through it with the class, piece by piece: three JOINs chain employees to dept_emp to departments to salaries, following the foreign keys the whole way. WHERE with DATE_SUB filters to recent hires, exactly like our tenure calculation from Part 5. GROUP BY collapses everything down to one row per department. HAVING filters out small departments, using the aggregate COUNT we couldn't have used in WHERE. AVG and COUNT, aliased for readability, are straight out of Part 3. And ORDER BY DESC, from Part 6, puts the highest-paying departments on top.
If a query like this feels overwhelming right now, that's completely normal — but notice every single piece is something you've already learned individually. Real SQL fluency isn't about knowing any single trick; it's about comfortably combining all of these small pieces into one query that answers a genuinely complex business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course — let's look back at the ground we covered. We started with the relational model itself: what data and databases are, and why tables-linked-by-keys became the industry standard. From there we set up a real MySQL environment and learned the vocabulary — records, fields, primary and foreign keys.
Then the querying itself: SELECT and alias and CONCAT to shape results, aggregate functions to summarize them, WHERE and its relatives to filter them down, date functions and NULL-handling to deal with messy real-world data, GROUP BY and HAVING and ORDER BY to organize and sort, and finally JOIN to combine multiple tables — the skill that makes a relational database actually worth using.
Every single example ran against Evolve Corp's employees database, the same dataset you'd meet in real practice materials outside this course. That's deliberate — the goal was never to memorize syntax in isolation, but to build the instinct for translating a business question into a working query, which is exactly what the job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slide before you go off on your own. SQL, more than most technical skills, rewards sheer repetition — the patterns we covered only truly stick once you've typed them dozens of times against real, sometimes frustrating data.
Keep the employees database around — it's the exact dataset we used throughout this course, and there's no shortage of new business questions you can invent to ask of it. db-fiddle.com is a fantastic zero-install way to practice SQL directly in a browser, and it's great for quickly sharing a query with someone else for a second opinion. Keep the official MySQL documentation bookmarked — you'll be back in it constantly, even as an experienced analyst.
But the single best thing you can do: find data you actually care about — your own finances, a hobby, a sports league you follow — and start asking it real questions in SQL. That's the fastest path from 'I finished a crash course' to 'I think in SQL now.' Go break some queries, and enjoy fixing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jp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C2C"/>
        </a:solidFill>
      </p:bgPr>
    </p:bg>
    <p:spTree>
      <p:nvGrpSpPr>
        <p:cNvPr id="1" name=""/>
        <p:cNvGrpSpPr/>
        <p:nvPr/>
      </p:nvGrpSpPr>
      <p:grpSpPr>
        <a:xfrm>
          <a:off x="0" y="0"/>
          <a:ext cx="0" cy="0"/>
          <a:chOff x="0" y="0"/>
          <a:chExt cx="0" cy="0"/>
        </a:xfrm>
      </p:grpSpPr>
      <p:sp>
        <p:nvSpPr>
          <p:cNvPr id="2" name="Shape 0"/>
          <p:cNvSpPr/>
          <p:nvPr/>
        </p:nvSpPr>
        <p:spPr>
          <a:xfrm>
            <a:off x="9692640" y="731520"/>
            <a:ext cx="164592" cy="164592"/>
          </a:xfrm>
          <a:prstGeom prst="ellipse">
            <a:avLst/>
          </a:prstGeom>
          <a:solidFill>
            <a:srgbClr val="0FA3B1"/>
          </a:solidFill>
          <a:ln/>
        </p:spPr>
      </p:sp>
      <p:sp>
        <p:nvSpPr>
          <p:cNvPr id="3" name="Shape 1"/>
          <p:cNvSpPr/>
          <p:nvPr/>
        </p:nvSpPr>
        <p:spPr>
          <a:xfrm>
            <a:off x="10424160" y="1188720"/>
            <a:ext cx="164592" cy="164592"/>
          </a:xfrm>
          <a:prstGeom prst="ellipse">
            <a:avLst/>
          </a:prstGeom>
          <a:solidFill>
            <a:srgbClr val="0FA3B1"/>
          </a:solidFill>
          <a:ln/>
        </p:spPr>
      </p:sp>
      <p:sp>
        <p:nvSpPr>
          <p:cNvPr id="4" name="Shape 2"/>
          <p:cNvSpPr/>
          <p:nvPr/>
        </p:nvSpPr>
        <p:spPr>
          <a:xfrm>
            <a:off x="9326880" y="1645920"/>
            <a:ext cx="164592" cy="164592"/>
          </a:xfrm>
          <a:prstGeom prst="ellipse">
            <a:avLst/>
          </a:prstGeom>
          <a:solidFill>
            <a:srgbClr val="0FA3B1"/>
          </a:solidFill>
          <a:ln/>
        </p:spPr>
      </p:sp>
      <p:sp>
        <p:nvSpPr>
          <p:cNvPr id="5" name="Shape 3"/>
          <p:cNvSpPr/>
          <p:nvPr/>
        </p:nvSpPr>
        <p:spPr>
          <a:xfrm>
            <a:off x="11064240" y="822960"/>
            <a:ext cx="164592" cy="164592"/>
          </a:xfrm>
          <a:prstGeom prst="ellipse">
            <a:avLst/>
          </a:prstGeom>
          <a:solidFill>
            <a:srgbClr val="0FA3B1"/>
          </a:solidFill>
          <a:ln/>
        </p:spPr>
      </p:sp>
      <p:sp>
        <p:nvSpPr>
          <p:cNvPr id="6" name="Shape 4"/>
          <p:cNvSpPr/>
          <p:nvPr/>
        </p:nvSpPr>
        <p:spPr>
          <a:xfrm>
            <a:off x="10881360" y="2011680"/>
            <a:ext cx="164592" cy="164592"/>
          </a:xfrm>
          <a:prstGeom prst="ellipse">
            <a:avLst/>
          </a:prstGeom>
          <a:solidFill>
            <a:srgbClr val="0FA3B1"/>
          </a:solidFill>
          <a:ln/>
        </p:spPr>
      </p:sp>
      <p:sp>
        <p:nvSpPr>
          <p:cNvPr id="7" name="Shape 5"/>
          <p:cNvSpPr/>
          <p:nvPr/>
        </p:nvSpPr>
        <p:spPr>
          <a:xfrm>
            <a:off x="9875520" y="2377440"/>
            <a:ext cx="164592" cy="164592"/>
          </a:xfrm>
          <a:prstGeom prst="ellipse">
            <a:avLst/>
          </a:prstGeom>
          <a:solidFill>
            <a:srgbClr val="0FA3B1"/>
          </a:solidFill>
          <a:ln/>
        </p:spPr>
      </p:sp>
      <p:sp>
        <p:nvSpPr>
          <p:cNvPr id="8" name="Shape 6"/>
          <p:cNvSpPr/>
          <p:nvPr/>
        </p:nvSpPr>
        <p:spPr>
          <a:xfrm>
            <a:off x="11247120" y="1463040"/>
            <a:ext cx="164592" cy="164592"/>
          </a:xfrm>
          <a:prstGeom prst="ellipse">
            <a:avLst/>
          </a:prstGeom>
          <a:solidFill>
            <a:srgbClr val="0FA3B1"/>
          </a:solidFill>
          <a:ln/>
        </p:spPr>
      </p:sp>
      <p:sp>
        <p:nvSpPr>
          <p:cNvPr id="9" name="Text 7"/>
          <p:cNvSpPr/>
          <p:nvPr/>
        </p:nvSpPr>
        <p:spPr>
          <a:xfrm>
            <a:off x="822960" y="1828800"/>
            <a:ext cx="7315200" cy="457200"/>
          </a:xfrm>
          <a:prstGeom prst="rect">
            <a:avLst/>
          </a:prstGeom>
          <a:noFill/>
          <a:ln/>
        </p:spPr>
        <p:txBody>
          <a:bodyPr wrap="square" lIns="0" tIns="0" rIns="0" bIns="0" rtlCol="0" anchor="ctr"/>
          <a:lstStyle/>
          <a:p>
            <a:pPr indent="0" marL="0">
              <a:buNone/>
            </a:pPr>
            <a:r>
              <a:rPr lang="en-US" sz="1500" b="1" spc="300" kern="0" dirty="0">
                <a:solidFill>
                  <a:srgbClr val="2FBF8F"/>
                </a:solidFill>
                <a:latin typeface="Calibri" pitchFamily="34" charset="0"/>
                <a:ea typeface="Calibri" pitchFamily="34" charset="-122"/>
                <a:cs typeface="Calibri" pitchFamily="34" charset="-120"/>
              </a:rPr>
              <a:t>EVOLVE DATA ANALYST PATH</a:t>
            </a:r>
            <a:endParaRPr lang="en-US" sz="1500" dirty="0"/>
          </a:p>
        </p:txBody>
      </p:sp>
      <p:sp>
        <p:nvSpPr>
          <p:cNvPr id="10" name="Text 8"/>
          <p:cNvSpPr/>
          <p:nvPr/>
        </p:nvSpPr>
        <p:spPr>
          <a:xfrm>
            <a:off x="822960" y="2286000"/>
            <a:ext cx="9601200" cy="118872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SQL Crash Course</a:t>
            </a:r>
            <a:endParaRPr lang="en-US" sz="5000" dirty="0"/>
          </a:p>
        </p:txBody>
      </p:sp>
      <p:sp>
        <p:nvSpPr>
          <p:cNvPr id="11" name="Text 9"/>
          <p:cNvSpPr/>
          <p:nvPr/>
        </p:nvSpPr>
        <p:spPr>
          <a:xfrm>
            <a:off x="822960" y="3520440"/>
            <a:ext cx="8961120" cy="548640"/>
          </a:xfrm>
          <a:prstGeom prst="rect">
            <a:avLst/>
          </a:prstGeom>
          <a:noFill/>
          <a:ln/>
        </p:spPr>
        <p:txBody>
          <a:bodyPr wrap="square" lIns="0" tIns="0" rIns="0" bIns="0" rtlCol="0" anchor="ctr"/>
          <a:lstStyle/>
          <a:p>
            <a:pPr indent="0" marL="0">
              <a:buNone/>
            </a:pPr>
            <a:r>
              <a:rPr lang="en-US" sz="1700" i="1" dirty="0">
                <a:solidFill>
                  <a:srgbClr val="BFD6E8"/>
                </a:solidFill>
                <a:latin typeface="Calibri" pitchFamily="34" charset="0"/>
                <a:ea typeface="Calibri" pitchFamily="34" charset="-122"/>
                <a:cs typeface="Calibri" pitchFamily="34" charset="-120"/>
              </a:rPr>
              <a:t>From raw tables to real business answers — querying data like a working analyst</a:t>
            </a:r>
            <a:endParaRPr lang="en-US" sz="1700" dirty="0"/>
          </a:p>
        </p:txBody>
      </p:sp>
      <p:sp>
        <p:nvSpPr>
          <p:cNvPr id="12" name="Shape 10"/>
          <p:cNvSpPr/>
          <p:nvPr/>
        </p:nvSpPr>
        <p:spPr>
          <a:xfrm>
            <a:off x="822960" y="4206240"/>
            <a:ext cx="2011680" cy="0"/>
          </a:xfrm>
          <a:prstGeom prst="line">
            <a:avLst/>
          </a:prstGeom>
          <a:noFill/>
          <a:ln w="25400">
            <a:solidFill>
              <a:srgbClr val="0FA3B1"/>
            </a:solidFill>
            <a:prstDash val="solid"/>
          </a:ln>
        </p:spPr>
      </p:sp>
      <p:sp>
        <p:nvSpPr>
          <p:cNvPr id="13" name="Text 11"/>
          <p:cNvSpPr/>
          <p:nvPr/>
        </p:nvSpPr>
        <p:spPr>
          <a:xfrm>
            <a:off x="822960" y="6126480"/>
            <a:ext cx="7315200" cy="365760"/>
          </a:xfrm>
          <a:prstGeom prst="rect">
            <a:avLst/>
          </a:prstGeom>
          <a:noFill/>
          <a:ln/>
        </p:spPr>
        <p:txBody>
          <a:bodyPr wrap="square" lIns="0" tIns="0" rIns="0" bIns="0" rtlCol="0" anchor="ctr"/>
          <a:lstStyle/>
          <a:p>
            <a:pPr indent="0" marL="0">
              <a:buNone/>
            </a:pPr>
            <a:r>
              <a:rPr lang="en-US" sz="1200" dirty="0">
                <a:solidFill>
                  <a:srgbClr val="8FAFC4"/>
                </a:solidFill>
                <a:latin typeface="Calibri" pitchFamily="34" charset="0"/>
                <a:ea typeface="Calibri" pitchFamily="34" charset="-122"/>
                <a:cs typeface="Calibri" pitchFamily="34" charset="-120"/>
              </a:rPr>
              <a:t>Beginner-Friendly SQL &amp; Relational Database Course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WELCOME</a:t>
            </a:r>
            <a:endParaRPr lang="en-US" sz="1050" dirty="0"/>
          </a:p>
        </p:txBody>
      </p:sp>
      <p:sp>
        <p:nvSpPr>
          <p:cNvPr id="4" name="Text 2"/>
          <p:cNvSpPr/>
          <p:nvPr/>
        </p:nvSpPr>
        <p:spPr>
          <a:xfrm>
            <a:off x="548640" y="914400"/>
            <a:ext cx="7315200" cy="777240"/>
          </a:xfrm>
          <a:prstGeom prst="rect">
            <a:avLst/>
          </a:prstGeom>
          <a:noFill/>
          <a:ln/>
        </p:spPr>
        <p:txBody>
          <a:bodyPr wrap="square" lIns="0" tIns="0" rIns="0" bIns="0" rtlCol="0" anchor="t"/>
          <a:lstStyle/>
          <a:p>
            <a:pPr indent="0" marL="0">
              <a:buNone/>
            </a:pPr>
            <a:r>
              <a:rPr lang="en-US" sz="3000" b="1" dirty="0">
                <a:solidFill>
                  <a:srgbClr val="16202A"/>
                </a:solidFill>
                <a:latin typeface="Cambria" pitchFamily="34" charset="0"/>
                <a:ea typeface="Cambria" pitchFamily="34" charset="-122"/>
                <a:cs typeface="Cambria" pitchFamily="34" charset="-120"/>
              </a:rPr>
              <a:t>Meet Your Instructor</a:t>
            </a:r>
            <a:endParaRPr lang="en-US" sz="3000" dirty="0"/>
          </a:p>
        </p:txBody>
      </p:sp>
      <p:sp>
        <p:nvSpPr>
          <p:cNvPr id="5" name="Shape 3"/>
          <p:cNvSpPr/>
          <p:nvPr/>
        </p:nvSpPr>
        <p:spPr>
          <a:xfrm>
            <a:off x="548640" y="1737360"/>
            <a:ext cx="3017520" cy="3017520"/>
          </a:xfrm>
          <a:prstGeom prst="roundRect">
            <a:avLst>
              <a:gd name="adj" fmla="val 3636"/>
            </a:avLst>
          </a:prstGeom>
          <a:solidFill>
            <a:srgbClr val="F2F6FA"/>
          </a:solidFill>
          <a:ln/>
        </p:spPr>
      </p:sp>
      <p:pic>
        <p:nvPicPr>
          <p:cNvPr id="6" name="Image 0" descr="/home/claude/sqlcourse/media/instructor.png">    </p:cNvPr>
          <p:cNvPicPr>
            <a:picLocks noChangeAspect="1"/>
          </p:cNvPicPr>
          <p:nvPr/>
        </p:nvPicPr>
        <p:blipFill>
          <a:blip r:embed="rId1"/>
          <a:stretch>
            <a:fillRect/>
          </a:stretch>
        </p:blipFill>
        <p:spPr>
          <a:xfrm>
            <a:off x="685800" y="1874520"/>
            <a:ext cx="2743200" cy="2743200"/>
          </a:xfrm>
          <a:prstGeom prst="ellipse">
            <a:avLst/>
          </a:prstGeom>
        </p:spPr>
      </p:pic>
      <p:sp>
        <p:nvSpPr>
          <p:cNvPr id="7" name="Text 4"/>
          <p:cNvSpPr/>
          <p:nvPr/>
        </p:nvSpPr>
        <p:spPr>
          <a:xfrm>
            <a:off x="3840480" y="1920240"/>
            <a:ext cx="6400800" cy="502920"/>
          </a:xfrm>
          <a:prstGeom prst="rect">
            <a:avLst/>
          </a:prstGeom>
          <a:noFill/>
          <a:ln/>
        </p:spPr>
        <p:txBody>
          <a:bodyPr wrap="square" lIns="0" tIns="0" rIns="0" bIns="0" rtlCol="0" anchor="ctr"/>
          <a:lstStyle/>
          <a:p>
            <a:pPr indent="0" marL="0">
              <a:buNone/>
            </a:pPr>
            <a:r>
              <a:rPr lang="en-US" sz="2600" b="1" dirty="0">
                <a:solidFill>
                  <a:srgbClr val="16202A"/>
                </a:solidFill>
                <a:latin typeface="Cambria" pitchFamily="34" charset="0"/>
                <a:ea typeface="Cambria" pitchFamily="34" charset="-122"/>
                <a:cs typeface="Cambria" pitchFamily="34" charset="-120"/>
              </a:rPr>
              <a:t>Love</a:t>
            </a:r>
            <a:endParaRPr lang="en-US" sz="2600" dirty="0"/>
          </a:p>
        </p:txBody>
      </p:sp>
      <p:sp>
        <p:nvSpPr>
          <p:cNvPr id="8" name="Text 5"/>
          <p:cNvSpPr/>
          <p:nvPr/>
        </p:nvSpPr>
        <p:spPr>
          <a:xfrm>
            <a:off x="3840480" y="2450592"/>
            <a:ext cx="6400800" cy="365760"/>
          </a:xfrm>
          <a:prstGeom prst="rect">
            <a:avLst/>
          </a:prstGeom>
          <a:noFill/>
          <a:ln/>
        </p:spPr>
        <p:txBody>
          <a:bodyPr wrap="square" lIns="0" tIns="0" rIns="0" bIns="0" rtlCol="0" anchor="ctr"/>
          <a:lstStyle/>
          <a:p>
            <a:pPr indent="0" marL="0">
              <a:buNone/>
            </a:pPr>
            <a:r>
              <a:rPr lang="en-US" sz="1400" i="1" dirty="0">
                <a:solidFill>
                  <a:srgbClr val="1E56A0"/>
                </a:solidFill>
                <a:latin typeface="Calibri" pitchFamily="34" charset="0"/>
                <a:ea typeface="Calibri" pitchFamily="34" charset="-122"/>
                <a:cs typeface="Calibri" pitchFamily="34" charset="-120"/>
              </a:rPr>
              <a:t>Data Analyst &amp; Instructor</a:t>
            </a:r>
            <a:endParaRPr lang="en-US" sz="1400" dirty="0"/>
          </a:p>
        </p:txBody>
      </p:sp>
      <p:sp>
        <p:nvSpPr>
          <p:cNvPr id="9" name="Text 6"/>
          <p:cNvSpPr/>
          <p:nvPr/>
        </p:nvSpPr>
        <p:spPr>
          <a:xfrm>
            <a:off x="3840480" y="2971800"/>
            <a:ext cx="6766560" cy="1371600"/>
          </a:xfrm>
          <a:prstGeom prst="rect">
            <a:avLst/>
          </a:prstGeom>
          <a:noFill/>
          <a:ln/>
        </p:spPr>
        <p:txBody>
          <a:bodyPr wrap="square" lIns="0" tIns="0" rIns="0" bIns="0" rtlCol="0" anchor="ctr"/>
          <a:lstStyle/>
          <a:p>
            <a:pPr indent="0" marL="0">
              <a:lnSpc>
                <a:spcPct val="130000"/>
              </a:lnSpc>
              <a:buNone/>
            </a:pPr>
            <a:r>
              <a:rPr lang="en-US" sz="1300" dirty="0">
                <a:solidFill>
                  <a:srgbClr val="5B6B79"/>
                </a:solidFill>
                <a:latin typeface="Calibri" pitchFamily="34" charset="0"/>
                <a:ea typeface="Calibri" pitchFamily="34" charset="-122"/>
                <a:cs typeface="Calibri" pitchFamily="34" charset="-120"/>
              </a:rPr>
              <a:t>Love has spent her career turning messy company data into answers executives actually act on. This course distills that real-world experience into a hands-on path: every concept is taught through the same kind of database you'd meet on the job, using the questions a manager would really ask.</a:t>
            </a:r>
            <a:endParaRPr lang="en-US" sz="1300" dirty="0"/>
          </a:p>
        </p:txBody>
      </p:sp>
      <p:sp>
        <p:nvSpPr>
          <p:cNvPr id="10" name="Shape 7"/>
          <p:cNvSpPr/>
          <p:nvPr/>
        </p:nvSpPr>
        <p:spPr>
          <a:xfrm>
            <a:off x="3840480" y="4645152"/>
            <a:ext cx="109728" cy="109728"/>
          </a:xfrm>
          <a:prstGeom prst="ellipse">
            <a:avLst/>
          </a:prstGeom>
          <a:solidFill>
            <a:srgbClr val="0FA3B1"/>
          </a:solidFill>
          <a:ln/>
        </p:spPr>
      </p:sp>
      <p:sp>
        <p:nvSpPr>
          <p:cNvPr id="11" name="Text 8"/>
          <p:cNvSpPr/>
          <p:nvPr/>
        </p:nvSpPr>
        <p:spPr>
          <a:xfrm>
            <a:off x="4114800" y="4517136"/>
            <a:ext cx="6400800" cy="365760"/>
          </a:xfrm>
          <a:prstGeom prst="rect">
            <a:avLst/>
          </a:prstGeom>
          <a:noFill/>
          <a:ln/>
        </p:spPr>
        <p:txBody>
          <a:bodyPr wrap="square" lIns="0" tIns="0" rIns="0" bIns="0" rtlCol="0" anchor="ctr"/>
          <a:lstStyle/>
          <a:p>
            <a:pPr indent="0" marL="0">
              <a:buNone/>
            </a:pPr>
            <a:r>
              <a:rPr lang="en-US" sz="1250" dirty="0">
                <a:solidFill>
                  <a:srgbClr val="16202A"/>
                </a:solidFill>
                <a:latin typeface="Calibri" pitchFamily="34" charset="0"/>
                <a:ea typeface="Calibri" pitchFamily="34" charset="-122"/>
                <a:cs typeface="Calibri" pitchFamily="34" charset="-120"/>
              </a:rPr>
              <a:t>Taught SQL and data analysis to hundreds of career-switchers</a:t>
            </a:r>
            <a:endParaRPr lang="en-US" sz="1250" dirty="0"/>
          </a:p>
        </p:txBody>
      </p:sp>
      <p:sp>
        <p:nvSpPr>
          <p:cNvPr id="12" name="Shape 9"/>
          <p:cNvSpPr/>
          <p:nvPr/>
        </p:nvSpPr>
        <p:spPr>
          <a:xfrm>
            <a:off x="3840480" y="5056632"/>
            <a:ext cx="109728" cy="109728"/>
          </a:xfrm>
          <a:prstGeom prst="ellipse">
            <a:avLst/>
          </a:prstGeom>
          <a:solidFill>
            <a:srgbClr val="0FA3B1"/>
          </a:solidFill>
          <a:ln/>
        </p:spPr>
      </p:sp>
      <p:sp>
        <p:nvSpPr>
          <p:cNvPr id="13" name="Text 10"/>
          <p:cNvSpPr/>
          <p:nvPr/>
        </p:nvSpPr>
        <p:spPr>
          <a:xfrm>
            <a:off x="4114800" y="4928616"/>
            <a:ext cx="6400800" cy="365760"/>
          </a:xfrm>
          <a:prstGeom prst="rect">
            <a:avLst/>
          </a:prstGeom>
          <a:noFill/>
          <a:ln/>
        </p:spPr>
        <p:txBody>
          <a:bodyPr wrap="square" lIns="0" tIns="0" rIns="0" bIns="0" rtlCol="0" anchor="ctr"/>
          <a:lstStyle/>
          <a:p>
            <a:pPr indent="0" marL="0">
              <a:buNone/>
            </a:pPr>
            <a:r>
              <a:rPr lang="en-US" sz="1250" dirty="0">
                <a:solidFill>
                  <a:srgbClr val="16202A"/>
                </a:solidFill>
                <a:latin typeface="Calibri" pitchFamily="34" charset="0"/>
                <a:ea typeface="Calibri" pitchFamily="34" charset="-122"/>
                <a:cs typeface="Calibri" pitchFamily="34" charset="-120"/>
              </a:rPr>
              <a:t>Focus: practical querying over memorized theory</a:t>
            </a:r>
            <a:endParaRPr lang="en-US" sz="1250" dirty="0"/>
          </a:p>
        </p:txBody>
      </p:sp>
      <p:sp>
        <p:nvSpPr>
          <p:cNvPr id="14" name="Shape 11"/>
          <p:cNvSpPr/>
          <p:nvPr/>
        </p:nvSpPr>
        <p:spPr>
          <a:xfrm>
            <a:off x="3840480" y="5468112"/>
            <a:ext cx="109728" cy="109728"/>
          </a:xfrm>
          <a:prstGeom prst="ellipse">
            <a:avLst/>
          </a:prstGeom>
          <a:solidFill>
            <a:srgbClr val="0FA3B1"/>
          </a:solidFill>
          <a:ln/>
        </p:spPr>
      </p:sp>
      <p:sp>
        <p:nvSpPr>
          <p:cNvPr id="15" name="Text 12"/>
          <p:cNvSpPr/>
          <p:nvPr/>
        </p:nvSpPr>
        <p:spPr>
          <a:xfrm>
            <a:off x="4114800" y="5340096"/>
            <a:ext cx="6400800" cy="365760"/>
          </a:xfrm>
          <a:prstGeom prst="rect">
            <a:avLst/>
          </a:prstGeom>
          <a:noFill/>
          <a:ln/>
        </p:spPr>
        <p:txBody>
          <a:bodyPr wrap="square" lIns="0" tIns="0" rIns="0" bIns="0" rtlCol="0" anchor="ctr"/>
          <a:lstStyle/>
          <a:p>
            <a:pPr indent="0" marL="0">
              <a:buNone/>
            </a:pPr>
            <a:r>
              <a:rPr lang="en-US" sz="1250" dirty="0">
                <a:solidFill>
                  <a:srgbClr val="16202A"/>
                </a:solidFill>
                <a:latin typeface="Calibri" pitchFamily="34" charset="0"/>
                <a:ea typeface="Calibri" pitchFamily="34" charset="-122"/>
                <a:cs typeface="Calibri" pitchFamily="34" charset="-120"/>
              </a:rPr>
              <a:t>Every example uses a real relational database structure</a:t>
            </a:r>
            <a:endParaRPr lang="en-US" sz="1250" dirty="0"/>
          </a:p>
        </p:txBody>
      </p:sp>
      <p:sp>
        <p:nvSpPr>
          <p:cNvPr id="16" name="Text 1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7"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THE SCENARIO</a:t>
            </a:r>
            <a:endParaRPr lang="en-US" sz="1050" dirty="0"/>
          </a:p>
        </p:txBody>
      </p:sp>
      <p:sp>
        <p:nvSpPr>
          <p:cNvPr id="4" name="Text 2"/>
          <p:cNvSpPr/>
          <p:nvPr/>
        </p:nvSpPr>
        <p:spPr>
          <a:xfrm>
            <a:off x="548640" y="914400"/>
            <a:ext cx="91440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Welcome to Evolve Corp</a:t>
            </a:r>
            <a:endParaRPr lang="en-US" sz="2900" dirty="0"/>
          </a:p>
        </p:txBody>
      </p:sp>
      <p:sp>
        <p:nvSpPr>
          <p:cNvPr id="5" name="Text 3"/>
          <p:cNvSpPr/>
          <p:nvPr/>
        </p:nvSpPr>
        <p:spPr>
          <a:xfrm>
            <a:off x="548640" y="1508760"/>
            <a:ext cx="10607040" cy="548640"/>
          </a:xfrm>
          <a:prstGeom prst="rect">
            <a:avLst/>
          </a:prstGeom>
          <a:noFill/>
          <a:ln/>
        </p:spPr>
        <p:txBody>
          <a:bodyPr wrap="square" lIns="0" tIns="0" rIns="0" bIns="0" rtlCol="0" anchor="ctr"/>
          <a:lstStyle/>
          <a:p>
            <a:pPr indent="0" marL="0">
              <a:buNone/>
            </a:pPr>
            <a:r>
              <a:rPr lang="en-US" sz="1350" i="1" dirty="0">
                <a:solidFill>
                  <a:srgbClr val="5B6B79"/>
                </a:solidFill>
                <a:latin typeface="Calibri" pitchFamily="34" charset="0"/>
                <a:ea typeface="Calibri" pitchFamily="34" charset="-122"/>
                <a:cs typeface="Calibri" pitchFamily="34" charset="-120"/>
              </a:rPr>
              <a:t>You’ve just been hired as Evolve Corp’s newest Data Analyst. IT has given you access to the company’s employee database — and your manager already has questions.</a:t>
            </a:r>
            <a:endParaRPr lang="en-US" sz="1350" dirty="0"/>
          </a:p>
        </p:txBody>
      </p:sp>
      <p:sp>
        <p:nvSpPr>
          <p:cNvPr id="6" name="Shape 4"/>
          <p:cNvSpPr/>
          <p:nvPr/>
        </p:nvSpPr>
        <p:spPr>
          <a:xfrm>
            <a:off x="548640" y="2148840"/>
            <a:ext cx="10652760" cy="1691640"/>
          </a:xfrm>
          <a:prstGeom prst="roundRect">
            <a:avLst>
              <a:gd name="adj" fmla="val 4324"/>
            </a:avLst>
          </a:prstGeom>
          <a:solidFill>
            <a:srgbClr val="F2F6FA"/>
          </a:solidFill>
          <a:ln/>
        </p:spPr>
      </p:sp>
      <p:sp>
        <p:nvSpPr>
          <p:cNvPr id="7" name="Text 5"/>
          <p:cNvSpPr/>
          <p:nvPr/>
        </p:nvSpPr>
        <p:spPr>
          <a:xfrm>
            <a:off x="777240" y="2286000"/>
            <a:ext cx="7315200" cy="274320"/>
          </a:xfrm>
          <a:prstGeom prst="rect">
            <a:avLst/>
          </a:prstGeom>
          <a:noFill/>
          <a:ln/>
        </p:spPr>
        <p:txBody>
          <a:bodyPr wrap="square" lIns="0" tIns="0" rIns="0" bIns="0" rtlCol="0" anchor="ctr"/>
          <a:lstStyle/>
          <a:p>
            <a:pPr indent="0" marL="0">
              <a:buNone/>
            </a:pPr>
            <a:r>
              <a:rPr lang="en-US" sz="1050" b="1" spc="150" kern="0" dirty="0">
                <a:solidFill>
                  <a:srgbClr val="1E56A0"/>
                </a:solidFill>
                <a:latin typeface="Calibri" pitchFamily="34" charset="0"/>
                <a:ea typeface="Calibri" pitchFamily="34" charset="-122"/>
                <a:cs typeface="Calibri" pitchFamily="34" charset="-120"/>
              </a:rPr>
              <a:t>YOUR DATASET: THE EMPLOYEES DATABASE</a:t>
            </a:r>
            <a:endParaRPr lang="en-US" sz="1050" dirty="0"/>
          </a:p>
        </p:txBody>
      </p:sp>
      <p:sp>
        <p:nvSpPr>
          <p:cNvPr id="8" name="Text 6"/>
          <p:cNvSpPr/>
          <p:nvPr/>
        </p:nvSpPr>
        <p:spPr>
          <a:xfrm>
            <a:off x="777240" y="2633472"/>
            <a:ext cx="1014984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employees  —  </a:t>
            </a:r>
            <a:pPr indent="0" marL="0">
              <a:buNone/>
            </a:pPr>
            <a:r>
              <a:rPr lang="en-US" sz="1200" dirty="0">
                <a:solidFill>
                  <a:srgbClr val="5B6B79"/>
                </a:solidFill>
                <a:latin typeface="Calibri" pitchFamily="34" charset="0"/>
                <a:ea typeface="Calibri" pitchFamily="34" charset="-122"/>
                <a:cs typeface="Calibri" pitchFamily="34" charset="-120"/>
              </a:rPr>
              <a:t>One row per person — name, birth date, gender, hire date</a:t>
            </a:r>
            <a:endParaRPr lang="en-US" sz="1200" dirty="0"/>
          </a:p>
        </p:txBody>
      </p:sp>
      <p:sp>
        <p:nvSpPr>
          <p:cNvPr id="9" name="Text 7"/>
          <p:cNvSpPr/>
          <p:nvPr/>
        </p:nvSpPr>
        <p:spPr>
          <a:xfrm>
            <a:off x="777240" y="2962656"/>
            <a:ext cx="1014984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departments &amp; dept_emp  —  </a:t>
            </a:r>
            <a:pPr indent="0" marL="0">
              <a:buNone/>
            </a:pPr>
            <a:r>
              <a:rPr lang="en-US" sz="1200" dirty="0">
                <a:solidFill>
                  <a:srgbClr val="5B6B79"/>
                </a:solidFill>
                <a:latin typeface="Calibri" pitchFamily="34" charset="0"/>
                <a:ea typeface="Calibri" pitchFamily="34" charset="-122"/>
                <a:cs typeface="Calibri" pitchFamily="34" charset="-120"/>
              </a:rPr>
              <a:t>Which department each employee belongs to</a:t>
            </a:r>
            <a:endParaRPr lang="en-US" sz="1200" dirty="0"/>
          </a:p>
        </p:txBody>
      </p:sp>
      <p:sp>
        <p:nvSpPr>
          <p:cNvPr id="10" name="Text 8"/>
          <p:cNvSpPr/>
          <p:nvPr/>
        </p:nvSpPr>
        <p:spPr>
          <a:xfrm>
            <a:off x="777240" y="3291840"/>
            <a:ext cx="1014984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salaries  —  </a:t>
            </a:r>
            <a:pPr indent="0" marL="0">
              <a:buNone/>
            </a:pPr>
            <a:r>
              <a:rPr lang="en-US" sz="1200" dirty="0">
                <a:solidFill>
                  <a:srgbClr val="5B6B79"/>
                </a:solidFill>
                <a:latin typeface="Calibri" pitchFamily="34" charset="0"/>
                <a:ea typeface="Calibri" pitchFamily="34" charset="-122"/>
                <a:cs typeface="Calibri" pitchFamily="34" charset="-120"/>
              </a:rPr>
              <a:t>Salary history over time, linked by employee number</a:t>
            </a:r>
            <a:endParaRPr lang="en-US" sz="1200" dirty="0"/>
          </a:p>
        </p:txBody>
      </p:sp>
      <p:sp>
        <p:nvSpPr>
          <p:cNvPr id="11" name="Text 9"/>
          <p:cNvSpPr/>
          <p:nvPr/>
        </p:nvSpPr>
        <p:spPr>
          <a:xfrm>
            <a:off x="777240" y="3621024"/>
            <a:ext cx="1014984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titles  —  </a:t>
            </a:r>
            <a:pPr indent="0" marL="0">
              <a:buNone/>
            </a:pPr>
            <a:r>
              <a:rPr lang="en-US" sz="1200" dirty="0">
                <a:solidFill>
                  <a:srgbClr val="5B6B79"/>
                </a:solidFill>
                <a:latin typeface="Calibri" pitchFamily="34" charset="0"/>
                <a:ea typeface="Calibri" pitchFamily="34" charset="-122"/>
                <a:cs typeface="Calibri" pitchFamily="34" charset="-120"/>
              </a:rPr>
              <a:t>Job title history, linked by employee number</a:t>
            </a:r>
            <a:endParaRPr lang="en-US" sz="1200" dirty="0"/>
          </a:p>
        </p:txBody>
      </p:sp>
      <p:sp>
        <p:nvSpPr>
          <p:cNvPr id="12" name="Shape 10"/>
          <p:cNvSpPr/>
          <p:nvPr/>
        </p:nvSpPr>
        <p:spPr>
          <a:xfrm>
            <a:off x="548640" y="4023360"/>
            <a:ext cx="10652760" cy="914400"/>
          </a:xfrm>
          <a:prstGeom prst="roundRect">
            <a:avLst>
              <a:gd name="adj" fmla="val 7000"/>
            </a:avLst>
          </a:prstGeom>
          <a:solidFill>
            <a:srgbClr val="E3F8F1"/>
          </a:solidFill>
          <a:ln/>
        </p:spPr>
      </p:sp>
      <p:sp>
        <p:nvSpPr>
          <p:cNvPr id="13" name="Text 11"/>
          <p:cNvSpPr/>
          <p:nvPr/>
        </p:nvSpPr>
        <p:spPr>
          <a:xfrm>
            <a:off x="777240" y="4023360"/>
            <a:ext cx="10241280" cy="914400"/>
          </a:xfrm>
          <a:prstGeom prst="rect">
            <a:avLst/>
          </a:prstGeom>
          <a:noFill/>
          <a:ln/>
        </p:spPr>
        <p:txBody>
          <a:bodyPr wrap="square" lIns="0" tIns="0" rIns="0" bIns="0" rtlCol="0" anchor="ctr"/>
          <a:lstStyle/>
          <a:p>
            <a:pPr indent="0" marL="0">
              <a:buNone/>
            </a:pPr>
            <a:r>
              <a:rPr lang="en-US" sz="1250" b="1" dirty="0">
                <a:solidFill>
                  <a:srgbClr val="106A56"/>
                </a:solidFill>
                <a:latin typeface="Calibri" pitchFamily="34" charset="0"/>
                <a:ea typeface="Calibri" pitchFamily="34" charset="-122"/>
                <a:cs typeface="Calibri" pitchFamily="34" charset="-120"/>
              </a:rPr>
              <a:t>Your job:  </a:t>
            </a:r>
            <a:pPr indent="0" marL="0">
              <a:buNone/>
            </a:pPr>
            <a:r>
              <a:rPr lang="en-US" sz="1250" dirty="0">
                <a:solidFill>
                  <a:srgbClr val="106A56"/>
                </a:solidFill>
                <a:latin typeface="Calibri" pitchFamily="34" charset="0"/>
                <a:ea typeface="Calibri" pitchFamily="34" charset="-122"/>
                <a:cs typeface="Calibri" pitchFamily="34" charset="-120"/>
              </a:rPr>
              <a:t>translate plain-English business questions — “How many employees do we have?”, “Who’s earning the most?”, “Which department is growing?” — into SQL queries that answer them directly from the database.</a:t>
            </a:r>
            <a:endParaRPr lang="en-US" sz="1250" dirty="0"/>
          </a:p>
        </p:txBody>
      </p:sp>
      <p:sp>
        <p:nvSpPr>
          <p:cNvPr id="14" name="Shape 12"/>
          <p:cNvSpPr/>
          <p:nvPr/>
        </p:nvSpPr>
        <p:spPr>
          <a:xfrm>
            <a:off x="548640" y="5120640"/>
            <a:ext cx="10652760" cy="685800"/>
          </a:xfrm>
          <a:prstGeom prst="roundRect">
            <a:avLst>
              <a:gd name="adj" fmla="val 9333"/>
            </a:avLst>
          </a:prstGeom>
          <a:solidFill>
            <a:srgbClr val="FFF4E8"/>
          </a:solidFill>
          <a:ln/>
        </p:spPr>
      </p:sp>
      <p:sp>
        <p:nvSpPr>
          <p:cNvPr id="15" name="Text 13"/>
          <p:cNvSpPr/>
          <p:nvPr/>
        </p:nvSpPr>
        <p:spPr>
          <a:xfrm>
            <a:off x="777240" y="5120640"/>
            <a:ext cx="10241280" cy="685800"/>
          </a:xfrm>
          <a:prstGeom prst="rect">
            <a:avLst/>
          </a:prstGeom>
          <a:noFill/>
          <a:ln/>
        </p:spPr>
        <p:txBody>
          <a:bodyPr wrap="square" lIns="0" tIns="0" rIns="0" bIns="0" rtlCol="0" anchor="ctr"/>
          <a:lstStyle/>
          <a:p>
            <a:pPr indent="0" marL="0">
              <a:buNone/>
            </a:pPr>
            <a:r>
              <a:rPr lang="en-US" sz="1200" b="1" dirty="0">
                <a:solidFill>
                  <a:srgbClr val="8A5A1E"/>
                </a:solidFill>
                <a:latin typeface="Calibri" pitchFamily="34" charset="0"/>
                <a:ea typeface="Calibri" pitchFamily="34" charset="-122"/>
                <a:cs typeface="Calibri" pitchFamily="34" charset="-120"/>
              </a:rPr>
              <a:t>Why this matters:  </a:t>
            </a:r>
            <a:pPr indent="0" marL="0">
              <a:buNone/>
            </a:pPr>
            <a:r>
              <a:rPr lang="en-US" sz="1200" dirty="0">
                <a:solidFill>
                  <a:srgbClr val="8A5A1E"/>
                </a:solidFill>
                <a:latin typeface="Calibri" pitchFamily="34" charset="0"/>
                <a:ea typeface="Calibri" pitchFamily="34" charset="-122"/>
                <a:cs typeface="Calibri" pitchFamily="34" charset="-120"/>
              </a:rPr>
              <a:t>every example, every practice question in this course uses this same database — so each new SQL skill builds directly on the last.</a:t>
            </a:r>
            <a:endParaRPr lang="en-US" sz="120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OVERVIEW</a:t>
            </a:r>
            <a:endParaRPr lang="en-US" sz="1050" dirty="0"/>
          </a:p>
        </p:txBody>
      </p:sp>
      <p:sp>
        <p:nvSpPr>
          <p:cNvPr id="4" name="Text 2"/>
          <p:cNvSpPr/>
          <p:nvPr/>
        </p:nvSpPr>
        <p:spPr>
          <a:xfrm>
            <a:off x="548640" y="822960"/>
            <a:ext cx="9144000" cy="777240"/>
          </a:xfrm>
          <a:prstGeom prst="rect">
            <a:avLst/>
          </a:prstGeom>
          <a:noFill/>
          <a:ln/>
        </p:spPr>
        <p:txBody>
          <a:bodyPr wrap="square" lIns="0" tIns="0" rIns="0" bIns="0" rtlCol="0" anchor="t"/>
          <a:lstStyle/>
          <a:p>
            <a:pPr indent="0" marL="0">
              <a:buNone/>
            </a:pPr>
            <a:r>
              <a:rPr lang="en-US" sz="2800" b="1" dirty="0">
                <a:solidFill>
                  <a:srgbClr val="16202A"/>
                </a:solidFill>
                <a:latin typeface="Cambria" pitchFamily="34" charset="0"/>
                <a:ea typeface="Cambria" pitchFamily="34" charset="-122"/>
                <a:cs typeface="Cambria" pitchFamily="34" charset="-120"/>
              </a:rPr>
              <a:t>Course Roadmap</a:t>
            </a:r>
            <a:endParaRPr lang="en-US" sz="2800" dirty="0"/>
          </a:p>
        </p:txBody>
      </p:sp>
      <p:sp>
        <p:nvSpPr>
          <p:cNvPr id="5" name="Text 3"/>
          <p:cNvSpPr/>
          <p:nvPr/>
        </p:nvSpPr>
        <p:spPr>
          <a:xfrm>
            <a:off x="548640" y="1371600"/>
            <a:ext cx="10058400" cy="320040"/>
          </a:xfrm>
          <a:prstGeom prst="rect">
            <a:avLst/>
          </a:prstGeom>
          <a:noFill/>
          <a:ln/>
        </p:spPr>
        <p:txBody>
          <a:bodyPr wrap="square" lIns="0" tIns="0" rIns="0" bIns="0" rtlCol="0" anchor="ctr"/>
          <a:lstStyle/>
          <a:p>
            <a:pPr indent="0" marL="0">
              <a:buNone/>
            </a:pPr>
            <a:r>
              <a:rPr lang="en-US" sz="1300" dirty="0">
                <a:solidFill>
                  <a:srgbClr val="5B6B79"/>
                </a:solidFill>
                <a:latin typeface="Calibri" pitchFamily="34" charset="0"/>
                <a:ea typeface="Calibri" pitchFamily="34" charset="-122"/>
                <a:cs typeface="Calibri" pitchFamily="34" charset="-120"/>
              </a:rPr>
              <a:t>Seven parts, from what a database even is to combining multiple tables like a pro</a:t>
            </a:r>
            <a:endParaRPr lang="en-US" sz="1300" dirty="0"/>
          </a:p>
        </p:txBody>
      </p:sp>
      <p:sp>
        <p:nvSpPr>
          <p:cNvPr id="6" name="Shape 4"/>
          <p:cNvSpPr/>
          <p:nvPr/>
        </p:nvSpPr>
        <p:spPr>
          <a:xfrm>
            <a:off x="548640" y="1755648"/>
            <a:ext cx="11064240" cy="539496"/>
          </a:xfrm>
          <a:prstGeom prst="roundRect">
            <a:avLst>
              <a:gd name="adj" fmla="val 13559"/>
            </a:avLst>
          </a:prstGeom>
          <a:solidFill>
            <a:srgbClr val="F2F6FA"/>
          </a:solidFill>
          <a:ln/>
        </p:spPr>
      </p:sp>
      <p:sp>
        <p:nvSpPr>
          <p:cNvPr id="7" name="Shape 5"/>
          <p:cNvSpPr/>
          <p:nvPr/>
        </p:nvSpPr>
        <p:spPr>
          <a:xfrm>
            <a:off x="731520" y="1851660"/>
            <a:ext cx="347472" cy="347472"/>
          </a:xfrm>
          <a:prstGeom prst="ellipse">
            <a:avLst/>
          </a:prstGeom>
          <a:solidFill>
            <a:srgbClr val="1E56A0"/>
          </a:solidFill>
          <a:ln/>
        </p:spPr>
      </p:sp>
      <p:sp>
        <p:nvSpPr>
          <p:cNvPr id="8" name="Text 6"/>
          <p:cNvSpPr/>
          <p:nvPr/>
        </p:nvSpPr>
        <p:spPr>
          <a:xfrm>
            <a:off x="731520" y="185166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9" name="Text 7"/>
          <p:cNvSpPr/>
          <p:nvPr/>
        </p:nvSpPr>
        <p:spPr>
          <a:xfrm>
            <a:off x="1280160" y="1801368"/>
            <a:ext cx="8869680" cy="27432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Data, Databases &amp; DBMS Foundations</a:t>
            </a:r>
            <a:endParaRPr lang="en-US" sz="1300" dirty="0"/>
          </a:p>
        </p:txBody>
      </p:sp>
      <p:sp>
        <p:nvSpPr>
          <p:cNvPr id="10" name="Text 8"/>
          <p:cNvSpPr/>
          <p:nvPr/>
        </p:nvSpPr>
        <p:spPr>
          <a:xfrm>
            <a:off x="1280160" y="2057400"/>
            <a:ext cx="9052560" cy="237744"/>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What data and databases actually are, and how the relational model works</a:t>
            </a:r>
            <a:endParaRPr lang="en-US" sz="1000" dirty="0"/>
          </a:p>
        </p:txBody>
      </p:sp>
      <p:sp>
        <p:nvSpPr>
          <p:cNvPr id="11" name="Text 9"/>
          <p:cNvSpPr/>
          <p:nvPr/>
        </p:nvSpPr>
        <p:spPr>
          <a:xfrm>
            <a:off x="10149840" y="1755648"/>
            <a:ext cx="1280160" cy="539496"/>
          </a:xfrm>
          <a:prstGeom prst="rect">
            <a:avLst/>
          </a:prstGeom>
          <a:noFill/>
          <a:ln/>
        </p:spPr>
        <p:txBody>
          <a:bodyPr wrap="square" lIns="0" tIns="0" rIns="0" bIns="0" rtlCol="0" anchor="ctr"/>
          <a:lstStyle/>
          <a:p>
            <a:pPr algn="r" indent="0" marL="0">
              <a:buNone/>
            </a:pPr>
            <a:r>
              <a:rPr lang="en-US" sz="1150" b="1" dirty="0">
                <a:solidFill>
                  <a:srgbClr val="1E56A0"/>
                </a:solidFill>
                <a:latin typeface="Cambria" pitchFamily="34" charset="0"/>
                <a:ea typeface="Cambria" pitchFamily="34" charset="-122"/>
                <a:cs typeface="Cambria" pitchFamily="34" charset="-120"/>
              </a:rPr>
              <a:t>Part 1</a:t>
            </a:r>
            <a:endParaRPr lang="en-US" sz="1150" dirty="0"/>
          </a:p>
        </p:txBody>
      </p:sp>
      <p:sp>
        <p:nvSpPr>
          <p:cNvPr id="12" name="Shape 10"/>
          <p:cNvSpPr/>
          <p:nvPr/>
        </p:nvSpPr>
        <p:spPr>
          <a:xfrm>
            <a:off x="548640" y="2359152"/>
            <a:ext cx="11064240" cy="539496"/>
          </a:xfrm>
          <a:prstGeom prst="roundRect">
            <a:avLst>
              <a:gd name="adj" fmla="val 13559"/>
            </a:avLst>
          </a:prstGeom>
          <a:solidFill>
            <a:srgbClr val="F2F6FA"/>
          </a:solidFill>
          <a:ln/>
        </p:spPr>
      </p:sp>
      <p:sp>
        <p:nvSpPr>
          <p:cNvPr id="13" name="Shape 11"/>
          <p:cNvSpPr/>
          <p:nvPr/>
        </p:nvSpPr>
        <p:spPr>
          <a:xfrm>
            <a:off x="731520" y="2455164"/>
            <a:ext cx="347472" cy="347472"/>
          </a:xfrm>
          <a:prstGeom prst="ellipse">
            <a:avLst/>
          </a:prstGeom>
          <a:solidFill>
            <a:srgbClr val="0FA3B1"/>
          </a:solidFill>
          <a:ln/>
        </p:spPr>
      </p:sp>
      <p:sp>
        <p:nvSpPr>
          <p:cNvPr id="14" name="Text 12"/>
          <p:cNvSpPr/>
          <p:nvPr/>
        </p:nvSpPr>
        <p:spPr>
          <a:xfrm>
            <a:off x="731520" y="24551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5" name="Text 13"/>
          <p:cNvSpPr/>
          <p:nvPr/>
        </p:nvSpPr>
        <p:spPr>
          <a:xfrm>
            <a:off x="1280160" y="2404872"/>
            <a:ext cx="8869680" cy="27432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Meet SQL &amp; Your Toolkit</a:t>
            </a:r>
            <a:endParaRPr lang="en-US" sz="1300" dirty="0"/>
          </a:p>
        </p:txBody>
      </p:sp>
      <p:sp>
        <p:nvSpPr>
          <p:cNvPr id="16" name="Text 14"/>
          <p:cNvSpPr/>
          <p:nvPr/>
        </p:nvSpPr>
        <p:spPr>
          <a:xfrm>
            <a:off x="1280160" y="2660904"/>
            <a:ext cx="9052560" cy="237744"/>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Records, fields, keys, GUI clients, and getting a database installed</a:t>
            </a:r>
            <a:endParaRPr lang="en-US" sz="1000" dirty="0"/>
          </a:p>
        </p:txBody>
      </p:sp>
      <p:sp>
        <p:nvSpPr>
          <p:cNvPr id="17" name="Text 15"/>
          <p:cNvSpPr/>
          <p:nvPr/>
        </p:nvSpPr>
        <p:spPr>
          <a:xfrm>
            <a:off x="10149840" y="2359152"/>
            <a:ext cx="1280160" cy="539496"/>
          </a:xfrm>
          <a:prstGeom prst="rect">
            <a:avLst/>
          </a:prstGeom>
          <a:noFill/>
          <a:ln/>
        </p:spPr>
        <p:txBody>
          <a:bodyPr wrap="square" lIns="0" tIns="0" rIns="0" bIns="0" rtlCol="0" anchor="ctr"/>
          <a:lstStyle/>
          <a:p>
            <a:pPr algn="r" indent="0" marL="0">
              <a:buNone/>
            </a:pPr>
            <a:r>
              <a:rPr lang="en-US" sz="1150" b="1" dirty="0">
                <a:solidFill>
                  <a:srgbClr val="0FA3B1"/>
                </a:solidFill>
                <a:latin typeface="Cambria" pitchFamily="34" charset="0"/>
                <a:ea typeface="Cambria" pitchFamily="34" charset="-122"/>
                <a:cs typeface="Cambria" pitchFamily="34" charset="-120"/>
              </a:rPr>
              <a:t>Part 2</a:t>
            </a:r>
            <a:endParaRPr lang="en-US" sz="1150" dirty="0"/>
          </a:p>
        </p:txBody>
      </p:sp>
      <p:sp>
        <p:nvSpPr>
          <p:cNvPr id="18" name="Shape 16"/>
          <p:cNvSpPr/>
          <p:nvPr/>
        </p:nvSpPr>
        <p:spPr>
          <a:xfrm>
            <a:off x="548640" y="2962656"/>
            <a:ext cx="11064240" cy="539496"/>
          </a:xfrm>
          <a:prstGeom prst="roundRect">
            <a:avLst>
              <a:gd name="adj" fmla="val 13559"/>
            </a:avLst>
          </a:prstGeom>
          <a:solidFill>
            <a:srgbClr val="F2F6FA"/>
          </a:solidFill>
          <a:ln/>
        </p:spPr>
      </p:sp>
      <p:sp>
        <p:nvSpPr>
          <p:cNvPr id="19" name="Shape 17"/>
          <p:cNvSpPr/>
          <p:nvPr/>
        </p:nvSpPr>
        <p:spPr>
          <a:xfrm>
            <a:off x="731520" y="3058668"/>
            <a:ext cx="347472" cy="347472"/>
          </a:xfrm>
          <a:prstGeom prst="ellipse">
            <a:avLst/>
          </a:prstGeom>
          <a:solidFill>
            <a:srgbClr val="2FBF8F"/>
          </a:solidFill>
          <a:ln/>
        </p:spPr>
      </p:sp>
      <p:sp>
        <p:nvSpPr>
          <p:cNvPr id="20" name="Text 18"/>
          <p:cNvSpPr/>
          <p:nvPr/>
        </p:nvSpPr>
        <p:spPr>
          <a:xfrm>
            <a:off x="731520" y="30586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21" name="Text 19"/>
          <p:cNvSpPr/>
          <p:nvPr/>
        </p:nvSpPr>
        <p:spPr>
          <a:xfrm>
            <a:off x="1280160" y="3008376"/>
            <a:ext cx="8869680" cy="27432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Your First Queries</a:t>
            </a:r>
            <a:endParaRPr lang="en-US" sz="1300" dirty="0"/>
          </a:p>
        </p:txBody>
      </p:sp>
      <p:sp>
        <p:nvSpPr>
          <p:cNvPr id="22" name="Text 20"/>
          <p:cNvSpPr/>
          <p:nvPr/>
        </p:nvSpPr>
        <p:spPr>
          <a:xfrm>
            <a:off x="1280160" y="3264408"/>
            <a:ext cx="9052560" cy="237744"/>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SELECT, aliases, concatenation, and aggregate functions</a:t>
            </a:r>
            <a:endParaRPr lang="en-US" sz="1000" dirty="0"/>
          </a:p>
        </p:txBody>
      </p:sp>
      <p:sp>
        <p:nvSpPr>
          <p:cNvPr id="23" name="Text 21"/>
          <p:cNvSpPr/>
          <p:nvPr/>
        </p:nvSpPr>
        <p:spPr>
          <a:xfrm>
            <a:off x="10149840" y="2962656"/>
            <a:ext cx="1280160" cy="539496"/>
          </a:xfrm>
          <a:prstGeom prst="rect">
            <a:avLst/>
          </a:prstGeom>
          <a:noFill/>
          <a:ln/>
        </p:spPr>
        <p:txBody>
          <a:bodyPr wrap="square" lIns="0" tIns="0" rIns="0" bIns="0" rtlCol="0" anchor="ctr"/>
          <a:lstStyle/>
          <a:p>
            <a:pPr algn="r" indent="0" marL="0">
              <a:buNone/>
            </a:pPr>
            <a:r>
              <a:rPr lang="en-US" sz="1150" b="1" dirty="0">
                <a:solidFill>
                  <a:srgbClr val="2FBF8F"/>
                </a:solidFill>
                <a:latin typeface="Cambria" pitchFamily="34" charset="0"/>
                <a:ea typeface="Cambria" pitchFamily="34" charset="-122"/>
                <a:cs typeface="Cambria" pitchFamily="34" charset="-120"/>
              </a:rPr>
              <a:t>Part 3</a:t>
            </a:r>
            <a:endParaRPr lang="en-US" sz="1150" dirty="0"/>
          </a:p>
        </p:txBody>
      </p:sp>
      <p:sp>
        <p:nvSpPr>
          <p:cNvPr id="24" name="Shape 22"/>
          <p:cNvSpPr/>
          <p:nvPr/>
        </p:nvSpPr>
        <p:spPr>
          <a:xfrm>
            <a:off x="548640" y="3566160"/>
            <a:ext cx="11064240" cy="539496"/>
          </a:xfrm>
          <a:prstGeom prst="roundRect">
            <a:avLst>
              <a:gd name="adj" fmla="val 13559"/>
            </a:avLst>
          </a:prstGeom>
          <a:solidFill>
            <a:srgbClr val="F2F6FA"/>
          </a:solidFill>
          <a:ln/>
        </p:spPr>
      </p:sp>
      <p:sp>
        <p:nvSpPr>
          <p:cNvPr id="25" name="Shape 23"/>
          <p:cNvSpPr/>
          <p:nvPr/>
        </p:nvSpPr>
        <p:spPr>
          <a:xfrm>
            <a:off x="731520" y="3662172"/>
            <a:ext cx="347472" cy="347472"/>
          </a:xfrm>
          <a:prstGeom prst="ellipse">
            <a:avLst/>
          </a:prstGeom>
          <a:solidFill>
            <a:srgbClr val="1E56A0"/>
          </a:solidFill>
          <a:ln/>
        </p:spPr>
      </p:sp>
      <p:sp>
        <p:nvSpPr>
          <p:cNvPr id="26" name="Text 24"/>
          <p:cNvSpPr/>
          <p:nvPr/>
        </p:nvSpPr>
        <p:spPr>
          <a:xfrm>
            <a:off x="731520" y="366217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27" name="Text 25"/>
          <p:cNvSpPr/>
          <p:nvPr/>
        </p:nvSpPr>
        <p:spPr>
          <a:xfrm>
            <a:off x="1280160" y="3611880"/>
            <a:ext cx="8869680" cy="27432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Filtering Your Data</a:t>
            </a:r>
            <a:endParaRPr lang="en-US" sz="1300" dirty="0"/>
          </a:p>
        </p:txBody>
      </p:sp>
      <p:sp>
        <p:nvSpPr>
          <p:cNvPr id="28" name="Text 26"/>
          <p:cNvSpPr/>
          <p:nvPr/>
        </p:nvSpPr>
        <p:spPr>
          <a:xfrm>
            <a:off x="1280160" y="3867912"/>
            <a:ext cx="9052560" cy="237744"/>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WHERE, AND/OR/IN/NOT, comparison operators, BETWEEN</a:t>
            </a:r>
            <a:endParaRPr lang="en-US" sz="1000" dirty="0"/>
          </a:p>
        </p:txBody>
      </p:sp>
      <p:sp>
        <p:nvSpPr>
          <p:cNvPr id="29" name="Text 27"/>
          <p:cNvSpPr/>
          <p:nvPr/>
        </p:nvSpPr>
        <p:spPr>
          <a:xfrm>
            <a:off x="10149840" y="3566160"/>
            <a:ext cx="1280160" cy="539496"/>
          </a:xfrm>
          <a:prstGeom prst="rect">
            <a:avLst/>
          </a:prstGeom>
          <a:noFill/>
          <a:ln/>
        </p:spPr>
        <p:txBody>
          <a:bodyPr wrap="square" lIns="0" tIns="0" rIns="0" bIns="0" rtlCol="0" anchor="ctr"/>
          <a:lstStyle/>
          <a:p>
            <a:pPr algn="r" indent="0" marL="0">
              <a:buNone/>
            </a:pPr>
            <a:r>
              <a:rPr lang="en-US" sz="1150" b="1" dirty="0">
                <a:solidFill>
                  <a:srgbClr val="1E56A0"/>
                </a:solidFill>
                <a:latin typeface="Cambria" pitchFamily="34" charset="0"/>
                <a:ea typeface="Cambria" pitchFamily="34" charset="-122"/>
                <a:cs typeface="Cambria" pitchFamily="34" charset="-120"/>
              </a:rPr>
              <a:t>Part 4</a:t>
            </a:r>
            <a:endParaRPr lang="en-US" sz="1150" dirty="0"/>
          </a:p>
        </p:txBody>
      </p:sp>
      <p:sp>
        <p:nvSpPr>
          <p:cNvPr id="30" name="Shape 28"/>
          <p:cNvSpPr/>
          <p:nvPr/>
        </p:nvSpPr>
        <p:spPr>
          <a:xfrm>
            <a:off x="548640" y="4169664"/>
            <a:ext cx="11064240" cy="539496"/>
          </a:xfrm>
          <a:prstGeom prst="roundRect">
            <a:avLst>
              <a:gd name="adj" fmla="val 13559"/>
            </a:avLst>
          </a:prstGeom>
          <a:solidFill>
            <a:srgbClr val="F2F6FA"/>
          </a:solidFill>
          <a:ln/>
        </p:spPr>
      </p:sp>
      <p:sp>
        <p:nvSpPr>
          <p:cNvPr id="31" name="Shape 29"/>
          <p:cNvSpPr/>
          <p:nvPr/>
        </p:nvSpPr>
        <p:spPr>
          <a:xfrm>
            <a:off x="731520" y="4265676"/>
            <a:ext cx="347472" cy="347472"/>
          </a:xfrm>
          <a:prstGeom prst="ellipse">
            <a:avLst/>
          </a:prstGeom>
          <a:solidFill>
            <a:srgbClr val="0FA3B1"/>
          </a:solidFill>
          <a:ln/>
        </p:spPr>
      </p:sp>
      <p:sp>
        <p:nvSpPr>
          <p:cNvPr id="32" name="Text 30"/>
          <p:cNvSpPr/>
          <p:nvPr/>
        </p:nvSpPr>
        <p:spPr>
          <a:xfrm>
            <a:off x="731520" y="42656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33" name="Text 31"/>
          <p:cNvSpPr/>
          <p:nvPr/>
        </p:nvSpPr>
        <p:spPr>
          <a:xfrm>
            <a:off x="1280160" y="4215384"/>
            <a:ext cx="8869680" cy="27432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Dates, Time &amp; Missing Data</a:t>
            </a:r>
            <a:endParaRPr lang="en-US" sz="1300" dirty="0"/>
          </a:p>
        </p:txBody>
      </p:sp>
      <p:sp>
        <p:nvSpPr>
          <p:cNvPr id="34" name="Text 32"/>
          <p:cNvSpPr/>
          <p:nvPr/>
        </p:nvSpPr>
        <p:spPr>
          <a:xfrm>
            <a:off x="1280160" y="4471416"/>
            <a:ext cx="9052560" cy="237744"/>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Date functions, age calculations, NULL and COALESCE</a:t>
            </a:r>
            <a:endParaRPr lang="en-US" sz="1000" dirty="0"/>
          </a:p>
        </p:txBody>
      </p:sp>
      <p:sp>
        <p:nvSpPr>
          <p:cNvPr id="35" name="Text 33"/>
          <p:cNvSpPr/>
          <p:nvPr/>
        </p:nvSpPr>
        <p:spPr>
          <a:xfrm>
            <a:off x="10149840" y="4169664"/>
            <a:ext cx="1280160" cy="539496"/>
          </a:xfrm>
          <a:prstGeom prst="rect">
            <a:avLst/>
          </a:prstGeom>
          <a:noFill/>
          <a:ln/>
        </p:spPr>
        <p:txBody>
          <a:bodyPr wrap="square" lIns="0" tIns="0" rIns="0" bIns="0" rtlCol="0" anchor="ctr"/>
          <a:lstStyle/>
          <a:p>
            <a:pPr algn="r" indent="0" marL="0">
              <a:buNone/>
            </a:pPr>
            <a:r>
              <a:rPr lang="en-US" sz="1150" b="1" dirty="0">
                <a:solidFill>
                  <a:srgbClr val="0FA3B1"/>
                </a:solidFill>
                <a:latin typeface="Cambria" pitchFamily="34" charset="0"/>
                <a:ea typeface="Cambria" pitchFamily="34" charset="-122"/>
                <a:cs typeface="Cambria" pitchFamily="34" charset="-120"/>
              </a:rPr>
              <a:t>Part 5</a:t>
            </a:r>
            <a:endParaRPr lang="en-US" sz="1150" dirty="0"/>
          </a:p>
        </p:txBody>
      </p:sp>
      <p:sp>
        <p:nvSpPr>
          <p:cNvPr id="36" name="Shape 34"/>
          <p:cNvSpPr/>
          <p:nvPr/>
        </p:nvSpPr>
        <p:spPr>
          <a:xfrm>
            <a:off x="548640" y="4773168"/>
            <a:ext cx="11064240" cy="539496"/>
          </a:xfrm>
          <a:prstGeom prst="roundRect">
            <a:avLst>
              <a:gd name="adj" fmla="val 13559"/>
            </a:avLst>
          </a:prstGeom>
          <a:solidFill>
            <a:srgbClr val="F2F6FA"/>
          </a:solidFill>
          <a:ln/>
        </p:spPr>
      </p:sp>
      <p:sp>
        <p:nvSpPr>
          <p:cNvPr id="37" name="Shape 35"/>
          <p:cNvSpPr/>
          <p:nvPr/>
        </p:nvSpPr>
        <p:spPr>
          <a:xfrm>
            <a:off x="731520" y="4869180"/>
            <a:ext cx="347472" cy="347472"/>
          </a:xfrm>
          <a:prstGeom prst="ellipse">
            <a:avLst/>
          </a:prstGeom>
          <a:solidFill>
            <a:srgbClr val="2FBF8F"/>
          </a:solidFill>
          <a:ln/>
        </p:spPr>
      </p:sp>
      <p:sp>
        <p:nvSpPr>
          <p:cNvPr id="38" name="Text 36"/>
          <p:cNvSpPr/>
          <p:nvPr/>
        </p:nvSpPr>
        <p:spPr>
          <a:xfrm>
            <a:off x="731520" y="486918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39" name="Text 37"/>
          <p:cNvSpPr/>
          <p:nvPr/>
        </p:nvSpPr>
        <p:spPr>
          <a:xfrm>
            <a:off x="1280160" y="4818888"/>
            <a:ext cx="8869680" cy="27432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Grouping, Pattern Matching &amp; Sorting</a:t>
            </a:r>
            <a:endParaRPr lang="en-US" sz="1300" dirty="0"/>
          </a:p>
        </p:txBody>
      </p:sp>
      <p:sp>
        <p:nvSpPr>
          <p:cNvPr id="40" name="Text 38"/>
          <p:cNvSpPr/>
          <p:nvPr/>
        </p:nvSpPr>
        <p:spPr>
          <a:xfrm>
            <a:off x="1280160" y="5074920"/>
            <a:ext cx="9052560" cy="237744"/>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GROUP BY, HAVING, LIKE wildcards, ORDER BY, and query order of operations</a:t>
            </a:r>
            <a:endParaRPr lang="en-US" sz="1000" dirty="0"/>
          </a:p>
        </p:txBody>
      </p:sp>
      <p:sp>
        <p:nvSpPr>
          <p:cNvPr id="41" name="Text 39"/>
          <p:cNvSpPr/>
          <p:nvPr/>
        </p:nvSpPr>
        <p:spPr>
          <a:xfrm>
            <a:off x="10149840" y="4773168"/>
            <a:ext cx="1280160" cy="539496"/>
          </a:xfrm>
          <a:prstGeom prst="rect">
            <a:avLst/>
          </a:prstGeom>
          <a:noFill/>
          <a:ln/>
        </p:spPr>
        <p:txBody>
          <a:bodyPr wrap="square" lIns="0" tIns="0" rIns="0" bIns="0" rtlCol="0" anchor="ctr"/>
          <a:lstStyle/>
          <a:p>
            <a:pPr algn="r" indent="0" marL="0">
              <a:buNone/>
            </a:pPr>
            <a:r>
              <a:rPr lang="en-US" sz="1150" b="1" dirty="0">
                <a:solidFill>
                  <a:srgbClr val="2FBF8F"/>
                </a:solidFill>
                <a:latin typeface="Cambria" pitchFamily="34" charset="0"/>
                <a:ea typeface="Cambria" pitchFamily="34" charset="-122"/>
                <a:cs typeface="Cambria" pitchFamily="34" charset="-120"/>
              </a:rPr>
              <a:t>Part 6</a:t>
            </a:r>
            <a:endParaRPr lang="en-US" sz="1150" dirty="0"/>
          </a:p>
        </p:txBody>
      </p:sp>
      <p:sp>
        <p:nvSpPr>
          <p:cNvPr id="42" name="Shape 40"/>
          <p:cNvSpPr/>
          <p:nvPr/>
        </p:nvSpPr>
        <p:spPr>
          <a:xfrm>
            <a:off x="548640" y="5376672"/>
            <a:ext cx="11064240" cy="539496"/>
          </a:xfrm>
          <a:prstGeom prst="roundRect">
            <a:avLst>
              <a:gd name="adj" fmla="val 13559"/>
            </a:avLst>
          </a:prstGeom>
          <a:solidFill>
            <a:srgbClr val="F2F6FA"/>
          </a:solidFill>
          <a:ln/>
        </p:spPr>
      </p:sp>
      <p:sp>
        <p:nvSpPr>
          <p:cNvPr id="43" name="Shape 41"/>
          <p:cNvSpPr/>
          <p:nvPr/>
        </p:nvSpPr>
        <p:spPr>
          <a:xfrm>
            <a:off x="731520" y="5472684"/>
            <a:ext cx="347472" cy="347472"/>
          </a:xfrm>
          <a:prstGeom prst="ellipse">
            <a:avLst/>
          </a:prstGeom>
          <a:solidFill>
            <a:srgbClr val="1E56A0"/>
          </a:solidFill>
          <a:ln/>
        </p:spPr>
      </p:sp>
      <p:sp>
        <p:nvSpPr>
          <p:cNvPr id="44" name="Text 42"/>
          <p:cNvSpPr/>
          <p:nvPr/>
        </p:nvSpPr>
        <p:spPr>
          <a:xfrm>
            <a:off x="731520" y="547268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45" name="Text 43"/>
          <p:cNvSpPr/>
          <p:nvPr/>
        </p:nvSpPr>
        <p:spPr>
          <a:xfrm>
            <a:off x="1280160" y="5422392"/>
            <a:ext cx="8869680" cy="27432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Combining Tables</a:t>
            </a:r>
            <a:endParaRPr lang="en-US" sz="1300" dirty="0"/>
          </a:p>
        </p:txBody>
      </p:sp>
      <p:sp>
        <p:nvSpPr>
          <p:cNvPr id="46" name="Text 44"/>
          <p:cNvSpPr/>
          <p:nvPr/>
        </p:nvSpPr>
        <p:spPr>
          <a:xfrm>
            <a:off x="1280160" y="5678424"/>
            <a:ext cx="9052560" cy="237744"/>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Multi-table SELECT and every type of JOIN</a:t>
            </a:r>
            <a:endParaRPr lang="en-US" sz="1000" dirty="0"/>
          </a:p>
        </p:txBody>
      </p:sp>
      <p:sp>
        <p:nvSpPr>
          <p:cNvPr id="47" name="Text 45"/>
          <p:cNvSpPr/>
          <p:nvPr/>
        </p:nvSpPr>
        <p:spPr>
          <a:xfrm>
            <a:off x="10149840" y="5376672"/>
            <a:ext cx="1280160" cy="539496"/>
          </a:xfrm>
          <a:prstGeom prst="rect">
            <a:avLst/>
          </a:prstGeom>
          <a:noFill/>
          <a:ln/>
        </p:spPr>
        <p:txBody>
          <a:bodyPr wrap="square" lIns="0" tIns="0" rIns="0" bIns="0" rtlCol="0" anchor="ctr"/>
          <a:lstStyle/>
          <a:p>
            <a:pPr algn="r" indent="0" marL="0">
              <a:buNone/>
            </a:pPr>
            <a:r>
              <a:rPr lang="en-US" sz="1150" b="1" dirty="0">
                <a:solidFill>
                  <a:srgbClr val="1E56A0"/>
                </a:solidFill>
                <a:latin typeface="Cambria" pitchFamily="34" charset="0"/>
                <a:ea typeface="Cambria" pitchFamily="34" charset="-122"/>
                <a:cs typeface="Cambria" pitchFamily="34" charset="-120"/>
              </a:rPr>
              <a:t>Part 7</a:t>
            </a:r>
            <a:endParaRPr lang="en-US" sz="1150" dirty="0"/>
          </a:p>
        </p:txBody>
      </p:sp>
      <p:sp>
        <p:nvSpPr>
          <p:cNvPr id="48" name="Text 46"/>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49" name="Text 4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C2C"/>
        </a:solidFill>
      </p:bgPr>
    </p:bg>
    <p:spTree>
      <p:nvGrpSpPr>
        <p:cNvPr id="1" name=""/>
        <p:cNvGrpSpPr/>
        <p:nvPr/>
      </p:nvGrpSpPr>
      <p:grpSpPr>
        <a:xfrm>
          <a:off x="0" y="0"/>
          <a:ext cx="0" cy="0"/>
          <a:chOff x="0" y="0"/>
          <a:chExt cx="0" cy="0"/>
        </a:xfrm>
      </p:grpSpPr>
      <p:sp>
        <p:nvSpPr>
          <p:cNvPr id="2" name="Shape 0"/>
          <p:cNvSpPr/>
          <p:nvPr/>
        </p:nvSpPr>
        <p:spPr>
          <a:xfrm>
            <a:off x="9692640" y="731520"/>
            <a:ext cx="146304" cy="146304"/>
          </a:xfrm>
          <a:prstGeom prst="ellipse">
            <a:avLst/>
          </a:prstGeom>
          <a:solidFill>
            <a:srgbClr val="0FA3B1"/>
          </a:solidFill>
          <a:ln/>
        </p:spPr>
      </p:sp>
      <p:sp>
        <p:nvSpPr>
          <p:cNvPr id="3" name="Shape 1"/>
          <p:cNvSpPr/>
          <p:nvPr/>
        </p:nvSpPr>
        <p:spPr>
          <a:xfrm>
            <a:off x="10424160" y="1188720"/>
            <a:ext cx="146304" cy="146304"/>
          </a:xfrm>
          <a:prstGeom prst="ellipse">
            <a:avLst/>
          </a:prstGeom>
          <a:solidFill>
            <a:srgbClr val="0FA3B1"/>
          </a:solidFill>
          <a:ln/>
        </p:spPr>
      </p:sp>
      <p:sp>
        <p:nvSpPr>
          <p:cNvPr id="4" name="Shape 2"/>
          <p:cNvSpPr/>
          <p:nvPr/>
        </p:nvSpPr>
        <p:spPr>
          <a:xfrm>
            <a:off x="9326880" y="1645920"/>
            <a:ext cx="146304" cy="146304"/>
          </a:xfrm>
          <a:prstGeom prst="ellipse">
            <a:avLst/>
          </a:prstGeom>
          <a:solidFill>
            <a:srgbClr val="0FA3B1"/>
          </a:solidFill>
          <a:ln/>
        </p:spPr>
      </p:sp>
      <p:sp>
        <p:nvSpPr>
          <p:cNvPr id="5" name="Shape 3"/>
          <p:cNvSpPr/>
          <p:nvPr/>
        </p:nvSpPr>
        <p:spPr>
          <a:xfrm>
            <a:off x="11064240" y="822960"/>
            <a:ext cx="146304" cy="146304"/>
          </a:xfrm>
          <a:prstGeom prst="ellipse">
            <a:avLst/>
          </a:prstGeom>
          <a:solidFill>
            <a:srgbClr val="0FA3B1"/>
          </a:solidFill>
          <a:ln/>
        </p:spPr>
      </p:sp>
      <p:sp>
        <p:nvSpPr>
          <p:cNvPr id="6" name="Shape 4"/>
          <p:cNvSpPr/>
          <p:nvPr/>
        </p:nvSpPr>
        <p:spPr>
          <a:xfrm>
            <a:off x="10881360" y="2011680"/>
            <a:ext cx="146304" cy="146304"/>
          </a:xfrm>
          <a:prstGeom prst="ellipse">
            <a:avLst/>
          </a:prstGeom>
          <a:solidFill>
            <a:srgbClr val="0FA3B1"/>
          </a:solidFill>
          <a:ln/>
        </p:spPr>
      </p:sp>
      <p:sp>
        <p:nvSpPr>
          <p:cNvPr id="7" name="Shape 5"/>
          <p:cNvSpPr/>
          <p:nvPr/>
        </p:nvSpPr>
        <p:spPr>
          <a:xfrm>
            <a:off x="9875520" y="2377440"/>
            <a:ext cx="146304" cy="146304"/>
          </a:xfrm>
          <a:prstGeom prst="ellipse">
            <a:avLst/>
          </a:prstGeom>
          <a:solidFill>
            <a:srgbClr val="0FA3B1"/>
          </a:solidFill>
          <a:ln/>
        </p:spPr>
      </p:sp>
      <p:sp>
        <p:nvSpPr>
          <p:cNvPr id="8" name="Text 6"/>
          <p:cNvSpPr/>
          <p:nvPr/>
        </p:nvSpPr>
        <p:spPr>
          <a:xfrm>
            <a:off x="822960" y="2651760"/>
            <a:ext cx="7315200" cy="457200"/>
          </a:xfrm>
          <a:prstGeom prst="rect">
            <a:avLst/>
          </a:prstGeom>
          <a:noFill/>
          <a:ln/>
        </p:spPr>
        <p:txBody>
          <a:bodyPr wrap="square" lIns="0" tIns="0" rIns="0" bIns="0" rtlCol="0" anchor="ctr"/>
          <a:lstStyle/>
          <a:p>
            <a:pPr indent="0" marL="0">
              <a:buNone/>
            </a:pPr>
            <a:r>
              <a:rPr lang="en-US" sz="1400" b="1" spc="300" kern="0" dirty="0">
                <a:solidFill>
                  <a:srgbClr val="2FBF8F"/>
                </a:solidFill>
                <a:latin typeface="Calibri" pitchFamily="34" charset="0"/>
                <a:ea typeface="Calibri" pitchFamily="34" charset="-122"/>
                <a:cs typeface="Calibri" pitchFamily="34" charset="-120"/>
              </a:rPr>
              <a:t>PART 1</a:t>
            </a:r>
            <a:endParaRPr lang="en-US" sz="1400" dirty="0"/>
          </a:p>
        </p:txBody>
      </p:sp>
      <p:sp>
        <p:nvSpPr>
          <p:cNvPr id="9" name="Text 7"/>
          <p:cNvSpPr/>
          <p:nvPr/>
        </p:nvSpPr>
        <p:spPr>
          <a:xfrm>
            <a:off x="822960" y="3063240"/>
            <a:ext cx="10058400" cy="10972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Data, Databases &amp; DBMS Foundations</a:t>
            </a:r>
            <a:endParaRPr lang="en-US" sz="3800" dirty="0"/>
          </a:p>
        </p:txBody>
      </p:sp>
      <p:sp>
        <p:nvSpPr>
          <p:cNvPr id="10" name="Shape 8"/>
          <p:cNvSpPr/>
          <p:nvPr/>
        </p:nvSpPr>
        <p:spPr>
          <a:xfrm>
            <a:off x="822960" y="3977640"/>
            <a:ext cx="2011680" cy="0"/>
          </a:xfrm>
          <a:prstGeom prst="line">
            <a:avLst/>
          </a:prstGeom>
          <a:noFill/>
          <a:ln w="25400">
            <a:solidFill>
              <a:srgbClr val="1E56A0"/>
            </a:solidFill>
            <a:prstDash val="solid"/>
          </a:ln>
        </p:spPr>
      </p:sp>
      <p:sp>
        <p:nvSpPr>
          <p:cNvPr id="11" name="Text 9"/>
          <p:cNvSpPr/>
          <p:nvPr/>
        </p:nvSpPr>
        <p:spPr>
          <a:xfrm>
            <a:off x="822960" y="4160520"/>
            <a:ext cx="9144000" cy="548640"/>
          </a:xfrm>
          <a:prstGeom prst="rect">
            <a:avLst/>
          </a:prstGeom>
          <a:noFill/>
          <a:ln/>
        </p:spPr>
        <p:txBody>
          <a:bodyPr wrap="square" lIns="0" tIns="0" rIns="0" bIns="0" rtlCol="0" anchor="ctr"/>
          <a:lstStyle/>
          <a:p>
            <a:pPr indent="0" marL="0">
              <a:buNone/>
            </a:pPr>
            <a:r>
              <a:rPr lang="en-US" sz="1500" i="1" dirty="0">
                <a:solidFill>
                  <a:srgbClr val="BFD6E8"/>
                </a:solidFill>
                <a:latin typeface="Calibri" pitchFamily="34" charset="0"/>
                <a:ea typeface="Calibri" pitchFamily="34" charset="-122"/>
                <a:cs typeface="Calibri" pitchFamily="34" charset="-120"/>
              </a:rPr>
              <a:t>What data and databases actually are, and how the relational model came to be</a:t>
            </a:r>
            <a:endParaRPr lang="en-US" sz="15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3"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a:t>
            </a:r>
            <a:endParaRPr lang="en-US" sz="1050" dirty="0"/>
          </a:p>
        </p:txBody>
      </p:sp>
      <p:sp>
        <p:nvSpPr>
          <p:cNvPr id="4" name="Text 2"/>
          <p:cNvSpPr/>
          <p:nvPr/>
        </p:nvSpPr>
        <p:spPr>
          <a:xfrm>
            <a:off x="548640" y="914400"/>
            <a:ext cx="82296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What Is Data?</a:t>
            </a:r>
            <a:endParaRPr lang="en-US" sz="2900" dirty="0"/>
          </a:p>
        </p:txBody>
      </p:sp>
      <p:sp>
        <p:nvSpPr>
          <p:cNvPr id="5" name="Text 3"/>
          <p:cNvSpPr/>
          <p:nvPr/>
        </p:nvSpPr>
        <p:spPr>
          <a:xfrm>
            <a:off x="548640" y="1508760"/>
            <a:ext cx="10607040" cy="502920"/>
          </a:xfrm>
          <a:prstGeom prst="rect">
            <a:avLst/>
          </a:prstGeom>
          <a:noFill/>
          <a:ln/>
        </p:spPr>
        <p:txBody>
          <a:bodyPr wrap="square" lIns="0" tIns="0" rIns="0" bIns="0" rtlCol="0" anchor="ctr"/>
          <a:lstStyle/>
          <a:p>
            <a:pPr indent="0" marL="0">
              <a:buNone/>
            </a:pPr>
            <a:r>
              <a:rPr lang="en-US" sz="1350" i="1" dirty="0">
                <a:solidFill>
                  <a:srgbClr val="5B6B79"/>
                </a:solidFill>
                <a:latin typeface="Calibri" pitchFamily="34" charset="0"/>
                <a:ea typeface="Calibri" pitchFamily="34" charset="-122"/>
                <a:cs typeface="Calibri" pitchFamily="34" charset="-120"/>
              </a:rPr>
              <a:t>Data is a collection of facts, statistics, or information stored and processed by a computer — text, numbers, images, audio, or video.</a:t>
            </a:r>
            <a:endParaRPr lang="en-US" sz="1350" dirty="0"/>
          </a:p>
        </p:txBody>
      </p:sp>
      <p:sp>
        <p:nvSpPr>
          <p:cNvPr id="6" name="Text 4"/>
          <p:cNvSpPr/>
          <p:nvPr/>
        </p:nvSpPr>
        <p:spPr>
          <a:xfrm>
            <a:off x="548640" y="2148840"/>
            <a:ext cx="5486400" cy="320040"/>
          </a:xfrm>
          <a:prstGeom prst="rect">
            <a:avLst/>
          </a:prstGeom>
          <a:noFill/>
          <a:ln/>
        </p:spPr>
        <p:txBody>
          <a:bodyPr wrap="square" lIns="0" tIns="0" rIns="0" bIns="0" rtlCol="0" anchor="ctr"/>
          <a:lstStyle/>
          <a:p>
            <a:pPr indent="0" marL="0">
              <a:buNone/>
            </a:pPr>
            <a:r>
              <a:rPr lang="en-US" sz="1100" b="1" spc="150" kern="0" dirty="0">
                <a:solidFill>
                  <a:srgbClr val="1E56A0"/>
                </a:solidFill>
                <a:latin typeface="Calibri" pitchFamily="34" charset="0"/>
                <a:ea typeface="Calibri" pitchFamily="34" charset="-122"/>
                <a:cs typeface="Calibri" pitchFamily="34" charset="-120"/>
              </a:rPr>
              <a:t>THE EVOLUTION OF DATA STORAGE</a:t>
            </a:r>
            <a:endParaRPr lang="en-US" sz="1100" dirty="0"/>
          </a:p>
        </p:txBody>
      </p:sp>
      <p:sp>
        <p:nvSpPr>
          <p:cNvPr id="7" name="Shape 5"/>
          <p:cNvSpPr/>
          <p:nvPr/>
        </p:nvSpPr>
        <p:spPr>
          <a:xfrm>
            <a:off x="548640" y="2514600"/>
            <a:ext cx="2606040" cy="1737360"/>
          </a:xfrm>
          <a:prstGeom prst="roundRect">
            <a:avLst>
              <a:gd name="adj" fmla="val 4211"/>
            </a:avLst>
          </a:prstGeom>
          <a:solidFill>
            <a:srgbClr val="F2F6FA"/>
          </a:solidFill>
          <a:ln/>
        </p:spPr>
      </p:sp>
      <p:sp>
        <p:nvSpPr>
          <p:cNvPr id="8" name="Shape 6"/>
          <p:cNvSpPr/>
          <p:nvPr/>
        </p:nvSpPr>
        <p:spPr>
          <a:xfrm>
            <a:off x="731520" y="2697480"/>
            <a:ext cx="457200" cy="457200"/>
          </a:xfrm>
          <a:prstGeom prst="ellipse">
            <a:avLst/>
          </a:prstGeom>
          <a:solidFill>
            <a:srgbClr val="1E56A0"/>
          </a:solidFill>
          <a:ln/>
        </p:spPr>
      </p:sp>
      <p:sp>
        <p:nvSpPr>
          <p:cNvPr id="9" name="Text 7"/>
          <p:cNvSpPr/>
          <p:nvPr/>
        </p:nvSpPr>
        <p:spPr>
          <a:xfrm>
            <a:off x="73152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731520" y="3246120"/>
            <a:ext cx="2240280" cy="502920"/>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Paper &amp; Punch Cards</a:t>
            </a:r>
            <a:endParaRPr lang="en-US" sz="1200" dirty="0"/>
          </a:p>
        </p:txBody>
      </p:sp>
      <p:sp>
        <p:nvSpPr>
          <p:cNvPr id="11" name="Text 9"/>
          <p:cNvSpPr/>
          <p:nvPr/>
        </p:nvSpPr>
        <p:spPr>
          <a:xfrm>
            <a:off x="731520" y="3749040"/>
            <a:ext cx="2240280" cy="45720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Physical records, one card per unit of data — slow to search, easy to lose</a:t>
            </a:r>
            <a:endParaRPr lang="en-US" sz="950" dirty="0"/>
          </a:p>
        </p:txBody>
      </p:sp>
      <p:sp>
        <p:nvSpPr>
          <p:cNvPr id="12" name="Shape 10"/>
          <p:cNvSpPr/>
          <p:nvPr/>
        </p:nvSpPr>
        <p:spPr>
          <a:xfrm>
            <a:off x="3273552" y="2514600"/>
            <a:ext cx="2606040" cy="1737360"/>
          </a:xfrm>
          <a:prstGeom prst="roundRect">
            <a:avLst>
              <a:gd name="adj" fmla="val 4211"/>
            </a:avLst>
          </a:prstGeom>
          <a:solidFill>
            <a:srgbClr val="F2F6FA"/>
          </a:solidFill>
          <a:ln/>
        </p:spPr>
      </p:sp>
      <p:sp>
        <p:nvSpPr>
          <p:cNvPr id="13" name="Shape 11"/>
          <p:cNvSpPr/>
          <p:nvPr/>
        </p:nvSpPr>
        <p:spPr>
          <a:xfrm>
            <a:off x="3456432" y="2697480"/>
            <a:ext cx="457200" cy="457200"/>
          </a:xfrm>
          <a:prstGeom prst="ellipse">
            <a:avLst/>
          </a:prstGeom>
          <a:solidFill>
            <a:srgbClr val="1E56A0"/>
          </a:solidFill>
          <a:ln/>
        </p:spPr>
      </p:sp>
      <p:sp>
        <p:nvSpPr>
          <p:cNvPr id="14" name="Text 12"/>
          <p:cNvSpPr/>
          <p:nvPr/>
        </p:nvSpPr>
        <p:spPr>
          <a:xfrm>
            <a:off x="3456432"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p:nvPr/>
        </p:nvSpPr>
        <p:spPr>
          <a:xfrm>
            <a:off x="3456432" y="3246120"/>
            <a:ext cx="2240280" cy="502920"/>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Magnetic Tape &amp; Disks</a:t>
            </a:r>
            <a:endParaRPr lang="en-US" sz="1200" dirty="0"/>
          </a:p>
        </p:txBody>
      </p:sp>
      <p:sp>
        <p:nvSpPr>
          <p:cNvPr id="16" name="Text 14"/>
          <p:cNvSpPr/>
          <p:nvPr/>
        </p:nvSpPr>
        <p:spPr>
          <a:xfrm>
            <a:off x="3456432" y="3749040"/>
            <a:ext cx="2240280" cy="45720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Digital storage arrives — faster, but still mostly sequential access</a:t>
            </a:r>
            <a:endParaRPr lang="en-US" sz="950" dirty="0"/>
          </a:p>
        </p:txBody>
      </p:sp>
      <p:sp>
        <p:nvSpPr>
          <p:cNvPr id="17" name="Shape 15"/>
          <p:cNvSpPr/>
          <p:nvPr/>
        </p:nvSpPr>
        <p:spPr>
          <a:xfrm>
            <a:off x="5998464" y="2514600"/>
            <a:ext cx="2606040" cy="1737360"/>
          </a:xfrm>
          <a:prstGeom prst="roundRect">
            <a:avLst>
              <a:gd name="adj" fmla="val 4211"/>
            </a:avLst>
          </a:prstGeom>
          <a:solidFill>
            <a:srgbClr val="F2F6FA"/>
          </a:solidFill>
          <a:ln/>
        </p:spPr>
      </p:sp>
      <p:sp>
        <p:nvSpPr>
          <p:cNvPr id="18" name="Shape 16"/>
          <p:cNvSpPr/>
          <p:nvPr/>
        </p:nvSpPr>
        <p:spPr>
          <a:xfrm>
            <a:off x="6181344" y="2697480"/>
            <a:ext cx="457200" cy="457200"/>
          </a:xfrm>
          <a:prstGeom prst="ellipse">
            <a:avLst/>
          </a:prstGeom>
          <a:solidFill>
            <a:srgbClr val="1E56A0"/>
          </a:solidFill>
          <a:ln/>
        </p:spPr>
      </p:sp>
      <p:sp>
        <p:nvSpPr>
          <p:cNvPr id="19" name="Text 17"/>
          <p:cNvSpPr/>
          <p:nvPr/>
        </p:nvSpPr>
        <p:spPr>
          <a:xfrm>
            <a:off x="6181344"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p:nvPr/>
        </p:nvSpPr>
        <p:spPr>
          <a:xfrm>
            <a:off x="6181344" y="3246120"/>
            <a:ext cx="2240280" cy="502920"/>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Databases</a:t>
            </a:r>
            <a:endParaRPr lang="en-US" sz="1200" dirty="0"/>
          </a:p>
        </p:txBody>
      </p:sp>
      <p:sp>
        <p:nvSpPr>
          <p:cNvPr id="21" name="Text 19"/>
          <p:cNvSpPr/>
          <p:nvPr/>
        </p:nvSpPr>
        <p:spPr>
          <a:xfrm>
            <a:off x="6181344" y="3749040"/>
            <a:ext cx="2240280" cy="45720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Structured, searchable storage designed for fast retrieval and updates</a:t>
            </a:r>
            <a:endParaRPr lang="en-US" sz="950" dirty="0"/>
          </a:p>
        </p:txBody>
      </p:sp>
      <p:sp>
        <p:nvSpPr>
          <p:cNvPr id="22" name="Shape 20"/>
          <p:cNvSpPr/>
          <p:nvPr/>
        </p:nvSpPr>
        <p:spPr>
          <a:xfrm>
            <a:off x="8723376" y="2514600"/>
            <a:ext cx="2606040" cy="1737360"/>
          </a:xfrm>
          <a:prstGeom prst="roundRect">
            <a:avLst>
              <a:gd name="adj" fmla="val 4211"/>
            </a:avLst>
          </a:prstGeom>
          <a:solidFill>
            <a:srgbClr val="F2F6FA"/>
          </a:solidFill>
          <a:ln/>
        </p:spPr>
      </p:sp>
      <p:sp>
        <p:nvSpPr>
          <p:cNvPr id="23" name="Shape 21"/>
          <p:cNvSpPr/>
          <p:nvPr/>
        </p:nvSpPr>
        <p:spPr>
          <a:xfrm>
            <a:off x="8906256" y="2697480"/>
            <a:ext cx="457200" cy="457200"/>
          </a:xfrm>
          <a:prstGeom prst="ellipse">
            <a:avLst/>
          </a:prstGeom>
          <a:solidFill>
            <a:srgbClr val="1E56A0"/>
          </a:solidFill>
          <a:ln/>
        </p:spPr>
      </p:sp>
      <p:sp>
        <p:nvSpPr>
          <p:cNvPr id="24" name="Text 22"/>
          <p:cNvSpPr/>
          <p:nvPr/>
        </p:nvSpPr>
        <p:spPr>
          <a:xfrm>
            <a:off x="8906256"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3"/>
          <p:cNvSpPr/>
          <p:nvPr/>
        </p:nvSpPr>
        <p:spPr>
          <a:xfrm>
            <a:off x="8906256" y="3246120"/>
            <a:ext cx="2240280" cy="502920"/>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Cloud &amp; Distributed Storage</a:t>
            </a:r>
            <a:endParaRPr lang="en-US" sz="1200" dirty="0"/>
          </a:p>
        </p:txBody>
      </p:sp>
      <p:sp>
        <p:nvSpPr>
          <p:cNvPr id="26" name="Text 24"/>
          <p:cNvSpPr/>
          <p:nvPr/>
        </p:nvSpPr>
        <p:spPr>
          <a:xfrm>
            <a:off x="8906256" y="3749040"/>
            <a:ext cx="2240280" cy="45720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Data spread across many machines, accessible from anywhere</a:t>
            </a:r>
            <a:endParaRPr lang="en-US" sz="950" dirty="0"/>
          </a:p>
        </p:txBody>
      </p:sp>
      <p:sp>
        <p:nvSpPr>
          <p:cNvPr id="27" name="Shape 25"/>
          <p:cNvSpPr/>
          <p:nvPr/>
        </p:nvSpPr>
        <p:spPr>
          <a:xfrm>
            <a:off x="548640" y="4526280"/>
            <a:ext cx="10652760" cy="777240"/>
          </a:xfrm>
          <a:prstGeom prst="roundRect">
            <a:avLst>
              <a:gd name="adj" fmla="val 8235"/>
            </a:avLst>
          </a:prstGeom>
          <a:solidFill>
            <a:srgbClr val="FFF4E8"/>
          </a:solidFill>
          <a:ln/>
        </p:spPr>
      </p:sp>
      <p:sp>
        <p:nvSpPr>
          <p:cNvPr id="28" name="Text 26"/>
          <p:cNvSpPr/>
          <p:nvPr/>
        </p:nvSpPr>
        <p:spPr>
          <a:xfrm>
            <a:off x="777240" y="4526280"/>
            <a:ext cx="10241280" cy="777240"/>
          </a:xfrm>
          <a:prstGeom prst="rect">
            <a:avLst/>
          </a:prstGeom>
          <a:noFill/>
          <a:ln/>
        </p:spPr>
        <p:txBody>
          <a:bodyPr wrap="square" lIns="0" tIns="0" rIns="0" bIns="0" rtlCol="0" anchor="ctr"/>
          <a:lstStyle/>
          <a:p>
            <a:pPr indent="0" marL="0">
              <a:buNone/>
            </a:pPr>
            <a:r>
              <a:rPr lang="en-US" sz="1200" b="1" dirty="0">
                <a:solidFill>
                  <a:srgbClr val="8A5A1E"/>
                </a:solidFill>
                <a:latin typeface="Calibri" pitchFamily="34" charset="0"/>
                <a:ea typeface="Calibri" pitchFamily="34" charset="-122"/>
                <a:cs typeface="Calibri" pitchFamily="34" charset="-120"/>
              </a:rPr>
              <a:t>Why this history matters:  </a:t>
            </a:r>
            <a:pPr indent="0" marL="0">
              <a:buNone/>
            </a:pPr>
            <a:r>
              <a:rPr lang="en-US" sz="1200" dirty="0">
                <a:solidFill>
                  <a:srgbClr val="8A5A1E"/>
                </a:solidFill>
                <a:latin typeface="Calibri" pitchFamily="34" charset="0"/>
                <a:ea typeface="Calibri" pitchFamily="34" charset="-122"/>
                <a:cs typeface="Calibri" pitchFamily="34" charset="-120"/>
              </a:rPr>
              <a:t>SQL exists because databases needed a standard language for asking questions of structured, searchable data — the destination at the end of this timeline.</a:t>
            </a:r>
            <a:endParaRPr lang="en-US" sz="1200" dirty="0"/>
          </a:p>
        </p:txBody>
      </p:sp>
      <p:sp>
        <p:nvSpPr>
          <p:cNvPr id="29" name="Text 27"/>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30" name="Text 2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500" b="1" dirty="0">
                <a:solidFill>
                  <a:srgbClr val="16202A"/>
                </a:solidFill>
                <a:latin typeface="Cambria" pitchFamily="34" charset="0"/>
                <a:ea typeface="Cambria" pitchFamily="34" charset="-122"/>
                <a:cs typeface="Cambria" pitchFamily="34" charset="-120"/>
              </a:rPr>
              <a:t>What Is a Database?</a:t>
            </a:r>
            <a:endParaRPr lang="en-US" sz="25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A database is an organized collection of data, stored and managed electronically so it can be easily accessed, updated, and managed.</a:t>
            </a:r>
            <a:endParaRPr lang="en-US" sz="1250" dirty="0"/>
          </a:p>
        </p:txBody>
      </p:sp>
      <p:sp>
        <p:nvSpPr>
          <p:cNvPr id="6" name="Shape 4"/>
          <p:cNvSpPr/>
          <p:nvPr/>
        </p:nvSpPr>
        <p:spPr>
          <a:xfrm>
            <a:off x="548640" y="1920240"/>
            <a:ext cx="3383280" cy="347472"/>
          </a:xfrm>
          <a:prstGeom prst="rect">
            <a:avLst/>
          </a:prstGeom>
          <a:solidFill>
            <a:srgbClr val="1E56A0"/>
          </a:solidFill>
          <a:ln w="9525">
            <a:solidFill>
              <a:srgbClr val="FFFFFF"/>
            </a:solidFill>
            <a:prstDash val="solid"/>
          </a:ln>
        </p:spPr>
      </p:sp>
      <p:sp>
        <p:nvSpPr>
          <p:cNvPr id="7" name="Text 5"/>
          <p:cNvSpPr/>
          <p:nvPr/>
        </p:nvSpPr>
        <p:spPr>
          <a:xfrm>
            <a:off x="548640" y="1920240"/>
            <a:ext cx="33832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ID</a:t>
            </a:r>
            <a:endParaRPr lang="en-US" sz="1150" dirty="0"/>
          </a:p>
        </p:txBody>
      </p:sp>
      <p:sp>
        <p:nvSpPr>
          <p:cNvPr id="8" name="Shape 6"/>
          <p:cNvSpPr/>
          <p:nvPr/>
        </p:nvSpPr>
        <p:spPr>
          <a:xfrm>
            <a:off x="3931920" y="1920240"/>
            <a:ext cx="3383280" cy="347472"/>
          </a:xfrm>
          <a:prstGeom prst="rect">
            <a:avLst/>
          </a:prstGeom>
          <a:solidFill>
            <a:srgbClr val="1E56A0"/>
          </a:solidFill>
          <a:ln w="9525">
            <a:solidFill>
              <a:srgbClr val="FFFFFF"/>
            </a:solidFill>
            <a:prstDash val="solid"/>
          </a:ln>
        </p:spPr>
      </p:sp>
      <p:sp>
        <p:nvSpPr>
          <p:cNvPr id="9" name="Text 7"/>
          <p:cNvSpPr/>
          <p:nvPr/>
        </p:nvSpPr>
        <p:spPr>
          <a:xfrm>
            <a:off x="3931920" y="1920240"/>
            <a:ext cx="33832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p>
        </p:txBody>
      </p:sp>
      <p:sp>
        <p:nvSpPr>
          <p:cNvPr id="10" name="Shape 8"/>
          <p:cNvSpPr/>
          <p:nvPr/>
        </p:nvSpPr>
        <p:spPr>
          <a:xfrm>
            <a:off x="7315200" y="1920240"/>
            <a:ext cx="3383280" cy="347472"/>
          </a:xfrm>
          <a:prstGeom prst="rect">
            <a:avLst/>
          </a:prstGeom>
          <a:solidFill>
            <a:srgbClr val="1E56A0"/>
          </a:solidFill>
          <a:ln w="9525">
            <a:solidFill>
              <a:srgbClr val="FFFFFF"/>
            </a:solidFill>
            <a:prstDash val="solid"/>
          </a:ln>
        </p:spPr>
      </p:sp>
      <p:sp>
        <p:nvSpPr>
          <p:cNvPr id="11" name="Text 9"/>
          <p:cNvSpPr/>
          <p:nvPr/>
        </p:nvSpPr>
        <p:spPr>
          <a:xfrm>
            <a:off x="7315200" y="1920240"/>
            <a:ext cx="33832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Phone Number</a:t>
            </a:r>
            <a:endParaRPr lang="en-US" sz="1150" dirty="0"/>
          </a:p>
        </p:txBody>
      </p:sp>
      <p:sp>
        <p:nvSpPr>
          <p:cNvPr id="12" name="Shape 10"/>
          <p:cNvSpPr/>
          <p:nvPr/>
        </p:nvSpPr>
        <p:spPr>
          <a:xfrm>
            <a:off x="548640" y="2267712"/>
            <a:ext cx="3383280" cy="347472"/>
          </a:xfrm>
          <a:prstGeom prst="rect">
            <a:avLst/>
          </a:prstGeom>
          <a:solidFill>
            <a:srgbClr val="FFFFFF"/>
          </a:solidFill>
          <a:ln w="9525">
            <a:solidFill>
              <a:srgbClr val="E2E8E8"/>
            </a:solidFill>
            <a:prstDash val="solid"/>
          </a:ln>
        </p:spPr>
      </p:sp>
      <p:sp>
        <p:nvSpPr>
          <p:cNvPr id="13" name="Text 11"/>
          <p:cNvSpPr/>
          <p:nvPr/>
        </p:nvSpPr>
        <p:spPr>
          <a:xfrm>
            <a:off x="548640" y="2267712"/>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a:t>
            </a:r>
            <a:endParaRPr lang="en-US" sz="1100" dirty="0"/>
          </a:p>
        </p:txBody>
      </p:sp>
      <p:sp>
        <p:nvSpPr>
          <p:cNvPr id="14" name="Shape 12"/>
          <p:cNvSpPr/>
          <p:nvPr/>
        </p:nvSpPr>
        <p:spPr>
          <a:xfrm>
            <a:off x="3931920" y="2267712"/>
            <a:ext cx="3383280" cy="347472"/>
          </a:xfrm>
          <a:prstGeom prst="rect">
            <a:avLst/>
          </a:prstGeom>
          <a:solidFill>
            <a:srgbClr val="FFFFFF"/>
          </a:solidFill>
          <a:ln w="9525">
            <a:solidFill>
              <a:srgbClr val="E2E8E8"/>
            </a:solidFill>
            <a:prstDash val="solid"/>
          </a:ln>
        </p:spPr>
      </p:sp>
      <p:sp>
        <p:nvSpPr>
          <p:cNvPr id="15" name="Text 13"/>
          <p:cNvSpPr/>
          <p:nvPr/>
        </p:nvSpPr>
        <p:spPr>
          <a:xfrm>
            <a:off x="3931920" y="2267712"/>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Love Muili</a:t>
            </a:r>
            <a:endParaRPr lang="en-US" sz="1100" dirty="0"/>
          </a:p>
        </p:txBody>
      </p:sp>
      <p:sp>
        <p:nvSpPr>
          <p:cNvPr id="16" name="Shape 14"/>
          <p:cNvSpPr/>
          <p:nvPr/>
        </p:nvSpPr>
        <p:spPr>
          <a:xfrm>
            <a:off x="7315200" y="2267712"/>
            <a:ext cx="3383280" cy="347472"/>
          </a:xfrm>
          <a:prstGeom prst="rect">
            <a:avLst/>
          </a:prstGeom>
          <a:solidFill>
            <a:srgbClr val="FFFFFF"/>
          </a:solidFill>
          <a:ln w="9525">
            <a:solidFill>
              <a:srgbClr val="E2E8E8"/>
            </a:solidFill>
            <a:prstDash val="solid"/>
          </a:ln>
        </p:spPr>
      </p:sp>
      <p:sp>
        <p:nvSpPr>
          <p:cNvPr id="17" name="Text 15"/>
          <p:cNvSpPr/>
          <p:nvPr/>
        </p:nvSpPr>
        <p:spPr>
          <a:xfrm>
            <a:off x="7315200" y="2267712"/>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0911 334 4444</a:t>
            </a:r>
            <a:endParaRPr lang="en-US" sz="1100" dirty="0"/>
          </a:p>
        </p:txBody>
      </p:sp>
      <p:sp>
        <p:nvSpPr>
          <p:cNvPr id="18" name="Shape 16"/>
          <p:cNvSpPr/>
          <p:nvPr/>
        </p:nvSpPr>
        <p:spPr>
          <a:xfrm>
            <a:off x="548640" y="2615184"/>
            <a:ext cx="3383280" cy="347472"/>
          </a:xfrm>
          <a:prstGeom prst="rect">
            <a:avLst/>
          </a:prstGeom>
          <a:solidFill>
            <a:srgbClr val="F2F6FA"/>
          </a:solidFill>
          <a:ln w="9525">
            <a:solidFill>
              <a:srgbClr val="E2E8E8"/>
            </a:solidFill>
            <a:prstDash val="solid"/>
          </a:ln>
        </p:spPr>
      </p:sp>
      <p:sp>
        <p:nvSpPr>
          <p:cNvPr id="19" name="Text 17"/>
          <p:cNvSpPr/>
          <p:nvPr/>
        </p:nvSpPr>
        <p:spPr>
          <a:xfrm>
            <a:off x="548640" y="2615184"/>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2</a:t>
            </a:r>
            <a:endParaRPr lang="en-US" sz="1100" dirty="0"/>
          </a:p>
        </p:txBody>
      </p:sp>
      <p:sp>
        <p:nvSpPr>
          <p:cNvPr id="20" name="Shape 18"/>
          <p:cNvSpPr/>
          <p:nvPr/>
        </p:nvSpPr>
        <p:spPr>
          <a:xfrm>
            <a:off x="3931920" y="2615184"/>
            <a:ext cx="3383280" cy="347472"/>
          </a:xfrm>
          <a:prstGeom prst="rect">
            <a:avLst/>
          </a:prstGeom>
          <a:solidFill>
            <a:srgbClr val="F2F6FA"/>
          </a:solidFill>
          <a:ln w="9525">
            <a:solidFill>
              <a:srgbClr val="E2E8E8"/>
            </a:solidFill>
            <a:prstDash val="solid"/>
          </a:ln>
        </p:spPr>
      </p:sp>
      <p:sp>
        <p:nvSpPr>
          <p:cNvPr id="21" name="Text 19"/>
          <p:cNvSpPr/>
          <p:nvPr/>
        </p:nvSpPr>
        <p:spPr>
          <a:xfrm>
            <a:off x="3931920" y="2615184"/>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Gold Ichulo</a:t>
            </a:r>
            <a:endParaRPr lang="en-US" sz="1100" dirty="0"/>
          </a:p>
        </p:txBody>
      </p:sp>
      <p:sp>
        <p:nvSpPr>
          <p:cNvPr id="22" name="Shape 20"/>
          <p:cNvSpPr/>
          <p:nvPr/>
        </p:nvSpPr>
        <p:spPr>
          <a:xfrm>
            <a:off x="7315200" y="2615184"/>
            <a:ext cx="3383280" cy="347472"/>
          </a:xfrm>
          <a:prstGeom prst="rect">
            <a:avLst/>
          </a:prstGeom>
          <a:solidFill>
            <a:srgbClr val="F2F6FA"/>
          </a:solidFill>
          <a:ln w="9525">
            <a:solidFill>
              <a:srgbClr val="E2E8E8"/>
            </a:solidFill>
            <a:prstDash val="solid"/>
          </a:ln>
        </p:spPr>
      </p:sp>
      <p:sp>
        <p:nvSpPr>
          <p:cNvPr id="23" name="Text 21"/>
          <p:cNvSpPr/>
          <p:nvPr/>
        </p:nvSpPr>
        <p:spPr>
          <a:xfrm>
            <a:off x="7315200" y="2615184"/>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0911 111 1111</a:t>
            </a:r>
            <a:endParaRPr lang="en-US" sz="1100" dirty="0"/>
          </a:p>
        </p:txBody>
      </p:sp>
      <p:sp>
        <p:nvSpPr>
          <p:cNvPr id="24" name="Shape 22"/>
          <p:cNvSpPr/>
          <p:nvPr/>
        </p:nvSpPr>
        <p:spPr>
          <a:xfrm>
            <a:off x="548640" y="2962656"/>
            <a:ext cx="3383280" cy="347472"/>
          </a:xfrm>
          <a:prstGeom prst="rect">
            <a:avLst/>
          </a:prstGeom>
          <a:solidFill>
            <a:srgbClr val="FFFFFF"/>
          </a:solidFill>
          <a:ln w="9525">
            <a:solidFill>
              <a:srgbClr val="E2E8E8"/>
            </a:solidFill>
            <a:prstDash val="solid"/>
          </a:ln>
        </p:spPr>
      </p:sp>
      <p:sp>
        <p:nvSpPr>
          <p:cNvPr id="25" name="Text 23"/>
          <p:cNvSpPr/>
          <p:nvPr/>
        </p:nvSpPr>
        <p:spPr>
          <a:xfrm>
            <a:off x="548640" y="2962656"/>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3</a:t>
            </a:r>
            <a:endParaRPr lang="en-US" sz="1100" dirty="0"/>
          </a:p>
        </p:txBody>
      </p:sp>
      <p:sp>
        <p:nvSpPr>
          <p:cNvPr id="26" name="Shape 24"/>
          <p:cNvSpPr/>
          <p:nvPr/>
        </p:nvSpPr>
        <p:spPr>
          <a:xfrm>
            <a:off x="3931920" y="2962656"/>
            <a:ext cx="3383280" cy="347472"/>
          </a:xfrm>
          <a:prstGeom prst="rect">
            <a:avLst/>
          </a:prstGeom>
          <a:solidFill>
            <a:srgbClr val="FFFFFF"/>
          </a:solidFill>
          <a:ln w="9525">
            <a:solidFill>
              <a:srgbClr val="E2E8E8"/>
            </a:solidFill>
            <a:prstDash val="solid"/>
          </a:ln>
        </p:spPr>
      </p:sp>
      <p:sp>
        <p:nvSpPr>
          <p:cNvPr id="27" name="Text 25"/>
          <p:cNvSpPr/>
          <p:nvPr/>
        </p:nvSpPr>
        <p:spPr>
          <a:xfrm>
            <a:off x="3931920" y="2962656"/>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Fatima Anibaba</a:t>
            </a:r>
            <a:endParaRPr lang="en-US" sz="1100" dirty="0"/>
          </a:p>
        </p:txBody>
      </p:sp>
      <p:sp>
        <p:nvSpPr>
          <p:cNvPr id="28" name="Shape 26"/>
          <p:cNvSpPr/>
          <p:nvPr/>
        </p:nvSpPr>
        <p:spPr>
          <a:xfrm>
            <a:off x="7315200" y="2962656"/>
            <a:ext cx="3383280" cy="347472"/>
          </a:xfrm>
          <a:prstGeom prst="rect">
            <a:avLst/>
          </a:prstGeom>
          <a:solidFill>
            <a:srgbClr val="FFFFFF"/>
          </a:solidFill>
          <a:ln w="9525">
            <a:solidFill>
              <a:srgbClr val="E2E8E8"/>
            </a:solidFill>
            <a:prstDash val="solid"/>
          </a:ln>
        </p:spPr>
      </p:sp>
      <p:sp>
        <p:nvSpPr>
          <p:cNvPr id="29" name="Text 27"/>
          <p:cNvSpPr/>
          <p:nvPr/>
        </p:nvSpPr>
        <p:spPr>
          <a:xfrm>
            <a:off x="7315200" y="2962656"/>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0823 322 3333</a:t>
            </a:r>
            <a:endParaRPr lang="en-US" sz="1100" dirty="0"/>
          </a:p>
        </p:txBody>
      </p:sp>
      <p:sp>
        <p:nvSpPr>
          <p:cNvPr id="30" name="Shape 28"/>
          <p:cNvSpPr/>
          <p:nvPr/>
        </p:nvSpPr>
        <p:spPr>
          <a:xfrm>
            <a:off x="548640" y="3566160"/>
            <a:ext cx="10652760" cy="566928"/>
          </a:xfrm>
          <a:prstGeom prst="roundRect">
            <a:avLst>
              <a:gd name="adj" fmla="val 12903"/>
            </a:avLst>
          </a:prstGeom>
          <a:solidFill>
            <a:srgbClr val="0E2A3D"/>
          </a:solidFill>
          <a:ln/>
        </p:spPr>
      </p:sp>
      <p:sp>
        <p:nvSpPr>
          <p:cNvPr id="31" name="Text 29"/>
          <p:cNvSpPr/>
          <p:nvPr/>
        </p:nvSpPr>
        <p:spPr>
          <a:xfrm>
            <a:off x="749808" y="3639312"/>
            <a:ext cx="10250424" cy="420624"/>
          </a:xfrm>
          <a:prstGeom prst="rect">
            <a:avLst/>
          </a:prstGeom>
          <a:noFill/>
          <a:ln/>
        </p:spPr>
        <p:txBody>
          <a:bodyPr wrap="square" lIns="0" tIns="0" rIns="0" bIns="0" rtlCol="0" anchor="t"/>
          <a:lstStyle/>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 A database stores data like this table, but built to scale:</a:t>
            </a:r>
            <a:endParaRPr lang="en-US" sz="1200" dirty="0"/>
          </a:p>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 thousands of rows, instantly searchable and updatable.</a:t>
            </a:r>
            <a:endParaRPr lang="en-US" sz="1200" dirty="0"/>
          </a:p>
        </p:txBody>
      </p:sp>
      <p:sp>
        <p:nvSpPr>
          <p:cNvPr id="32" name="Text 3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33" name="Text 3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a:t>
            </a:r>
            <a:endParaRPr lang="en-US" sz="1050" dirty="0"/>
          </a:p>
        </p:txBody>
      </p:sp>
      <p:sp>
        <p:nvSpPr>
          <p:cNvPr id="4" name="Text 2"/>
          <p:cNvSpPr/>
          <p:nvPr/>
        </p:nvSpPr>
        <p:spPr>
          <a:xfrm>
            <a:off x="548640" y="914400"/>
            <a:ext cx="960120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Database Management Software</a:t>
            </a:r>
            <a:endParaRPr lang="en-US" sz="2700" dirty="0"/>
          </a:p>
        </p:txBody>
      </p:sp>
      <p:sp>
        <p:nvSpPr>
          <p:cNvPr id="5" name="Text 3"/>
          <p:cNvSpPr/>
          <p:nvPr/>
        </p:nvSpPr>
        <p:spPr>
          <a:xfrm>
            <a:off x="548640" y="1481328"/>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A DBMS is the software used to manage a database. Here are some of the most widely used ones in the industry:</a:t>
            </a:r>
            <a:endParaRPr lang="en-US" sz="1300" dirty="0"/>
          </a:p>
        </p:txBody>
      </p:sp>
      <p:sp>
        <p:nvSpPr>
          <p:cNvPr id="6" name="Shape 4"/>
          <p:cNvSpPr/>
          <p:nvPr/>
        </p:nvSpPr>
        <p:spPr>
          <a:xfrm>
            <a:off x="548640" y="2057400"/>
            <a:ext cx="2606040" cy="1600200"/>
          </a:xfrm>
          <a:prstGeom prst="roundRect">
            <a:avLst>
              <a:gd name="adj" fmla="val 4571"/>
            </a:avLst>
          </a:prstGeom>
          <a:solidFill>
            <a:srgbClr val="F2F6FA"/>
          </a:solidFill>
          <a:ln/>
        </p:spPr>
      </p:sp>
      <p:pic>
        <p:nvPicPr>
          <p:cNvPr id="7" name="Image 0" descr="/home/claude/sqlcourse/media/mysql.jpg">    </p:cNvPr>
          <p:cNvPicPr>
            <a:picLocks noChangeAspect="1"/>
          </p:cNvPicPr>
          <p:nvPr/>
        </p:nvPicPr>
        <p:blipFill>
          <a:blip r:embed="rId1"/>
          <a:srcRect l="0" r="0" t="0" b="0"/>
          <a:stretch/>
        </p:blipFill>
        <p:spPr>
          <a:xfrm>
            <a:off x="1051560" y="2221992"/>
            <a:ext cx="1600200" cy="914400"/>
          </a:xfrm>
          <a:prstGeom prst="rect">
            <a:avLst/>
          </a:prstGeom>
        </p:spPr>
      </p:pic>
      <p:sp>
        <p:nvSpPr>
          <p:cNvPr id="8" name="Text 5"/>
          <p:cNvSpPr/>
          <p:nvPr/>
        </p:nvSpPr>
        <p:spPr>
          <a:xfrm>
            <a:off x="548640" y="3291840"/>
            <a:ext cx="2606040" cy="292608"/>
          </a:xfrm>
          <a:prstGeom prst="rect">
            <a:avLst/>
          </a:prstGeom>
          <a:noFill/>
          <a:ln/>
        </p:spPr>
        <p:txBody>
          <a:bodyPr wrap="square" lIns="0" tIns="0" rIns="0" bIns="0" rtlCol="0" anchor="ctr"/>
          <a:lstStyle/>
          <a:p>
            <a:pPr algn="ctr" indent="0" marL="0">
              <a:buNone/>
            </a:pPr>
            <a:r>
              <a:rPr lang="en-US" sz="1100" b="1" dirty="0">
                <a:solidFill>
                  <a:srgbClr val="16202A"/>
                </a:solidFill>
                <a:latin typeface="Calibri" pitchFamily="34" charset="0"/>
                <a:ea typeface="Calibri" pitchFamily="34" charset="-122"/>
                <a:cs typeface="Calibri" pitchFamily="34" charset="-120"/>
              </a:rPr>
              <a:t>MySQL</a:t>
            </a:r>
            <a:endParaRPr lang="en-US" sz="1100" dirty="0"/>
          </a:p>
        </p:txBody>
      </p:sp>
      <p:sp>
        <p:nvSpPr>
          <p:cNvPr id="9" name="Shape 6"/>
          <p:cNvSpPr/>
          <p:nvPr/>
        </p:nvSpPr>
        <p:spPr>
          <a:xfrm>
            <a:off x="3246120" y="2057400"/>
            <a:ext cx="2606040" cy="1600200"/>
          </a:xfrm>
          <a:prstGeom prst="roundRect">
            <a:avLst>
              <a:gd name="adj" fmla="val 4571"/>
            </a:avLst>
          </a:prstGeom>
          <a:solidFill>
            <a:srgbClr val="F2F6FA"/>
          </a:solidFill>
          <a:ln/>
        </p:spPr>
      </p:sp>
      <p:pic>
        <p:nvPicPr>
          <p:cNvPr id="10" name="Image 1" descr="/home/claude/sqlcourse/media/postgresql.png">    </p:cNvPr>
          <p:cNvPicPr>
            <a:picLocks noChangeAspect="1"/>
          </p:cNvPicPr>
          <p:nvPr/>
        </p:nvPicPr>
        <p:blipFill>
          <a:blip r:embed="rId2"/>
          <a:srcRect l="0" r="0" t="0" b="0"/>
          <a:stretch/>
        </p:blipFill>
        <p:spPr>
          <a:xfrm>
            <a:off x="3749040" y="2221992"/>
            <a:ext cx="1600200" cy="914400"/>
          </a:xfrm>
          <a:prstGeom prst="rect">
            <a:avLst/>
          </a:prstGeom>
        </p:spPr>
      </p:pic>
      <p:sp>
        <p:nvSpPr>
          <p:cNvPr id="11" name="Text 7"/>
          <p:cNvSpPr/>
          <p:nvPr/>
        </p:nvSpPr>
        <p:spPr>
          <a:xfrm>
            <a:off x="3246120" y="3291840"/>
            <a:ext cx="2606040" cy="292608"/>
          </a:xfrm>
          <a:prstGeom prst="rect">
            <a:avLst/>
          </a:prstGeom>
          <a:noFill/>
          <a:ln/>
        </p:spPr>
        <p:txBody>
          <a:bodyPr wrap="square" lIns="0" tIns="0" rIns="0" bIns="0" rtlCol="0" anchor="ctr"/>
          <a:lstStyle/>
          <a:p>
            <a:pPr algn="ctr" indent="0" marL="0">
              <a:buNone/>
            </a:pPr>
            <a:r>
              <a:rPr lang="en-US" sz="1100" b="1" dirty="0">
                <a:solidFill>
                  <a:srgbClr val="16202A"/>
                </a:solidFill>
                <a:latin typeface="Calibri" pitchFamily="34" charset="0"/>
                <a:ea typeface="Calibri" pitchFamily="34" charset="-122"/>
                <a:cs typeface="Calibri" pitchFamily="34" charset="-120"/>
              </a:rPr>
              <a:t>PostgreSQL</a:t>
            </a:r>
            <a:endParaRPr lang="en-US" sz="1100" dirty="0"/>
          </a:p>
        </p:txBody>
      </p:sp>
      <p:sp>
        <p:nvSpPr>
          <p:cNvPr id="12" name="Shape 8"/>
          <p:cNvSpPr/>
          <p:nvPr/>
        </p:nvSpPr>
        <p:spPr>
          <a:xfrm>
            <a:off x="5943600" y="2057400"/>
            <a:ext cx="2606040" cy="1600200"/>
          </a:xfrm>
          <a:prstGeom prst="roundRect">
            <a:avLst>
              <a:gd name="adj" fmla="val 4571"/>
            </a:avLst>
          </a:prstGeom>
          <a:solidFill>
            <a:srgbClr val="F2F6FA"/>
          </a:solidFill>
          <a:ln/>
        </p:spPr>
      </p:sp>
      <p:pic>
        <p:nvPicPr>
          <p:cNvPr id="13" name="Image 2" descr="/home/claude/sqlcourse/media/oracle.jpg">    </p:cNvPr>
          <p:cNvPicPr>
            <a:picLocks noChangeAspect="1"/>
          </p:cNvPicPr>
          <p:nvPr/>
        </p:nvPicPr>
        <p:blipFill>
          <a:blip r:embed="rId3"/>
          <a:srcRect l="0" r="0" t="0" b="0"/>
          <a:stretch/>
        </p:blipFill>
        <p:spPr>
          <a:xfrm>
            <a:off x="6446520" y="2221992"/>
            <a:ext cx="1600200" cy="914400"/>
          </a:xfrm>
          <a:prstGeom prst="rect">
            <a:avLst/>
          </a:prstGeom>
        </p:spPr>
      </p:pic>
      <p:sp>
        <p:nvSpPr>
          <p:cNvPr id="14" name="Text 9"/>
          <p:cNvSpPr/>
          <p:nvPr/>
        </p:nvSpPr>
        <p:spPr>
          <a:xfrm>
            <a:off x="5943600" y="3291840"/>
            <a:ext cx="2606040" cy="292608"/>
          </a:xfrm>
          <a:prstGeom prst="rect">
            <a:avLst/>
          </a:prstGeom>
          <a:noFill/>
          <a:ln/>
        </p:spPr>
        <p:txBody>
          <a:bodyPr wrap="square" lIns="0" tIns="0" rIns="0" bIns="0" rtlCol="0" anchor="ctr"/>
          <a:lstStyle/>
          <a:p>
            <a:pPr algn="ctr" indent="0" marL="0">
              <a:buNone/>
            </a:pPr>
            <a:r>
              <a:rPr lang="en-US" sz="1100" b="1" dirty="0">
                <a:solidFill>
                  <a:srgbClr val="16202A"/>
                </a:solidFill>
                <a:latin typeface="Calibri" pitchFamily="34" charset="0"/>
                <a:ea typeface="Calibri" pitchFamily="34" charset="-122"/>
                <a:cs typeface="Calibri" pitchFamily="34" charset="-120"/>
              </a:rPr>
              <a:t>Oracle</a:t>
            </a:r>
            <a:endParaRPr lang="en-US" sz="1100" dirty="0"/>
          </a:p>
        </p:txBody>
      </p:sp>
      <p:sp>
        <p:nvSpPr>
          <p:cNvPr id="15" name="Shape 10"/>
          <p:cNvSpPr/>
          <p:nvPr/>
        </p:nvSpPr>
        <p:spPr>
          <a:xfrm>
            <a:off x="8641080" y="2057400"/>
            <a:ext cx="2606040" cy="1600200"/>
          </a:xfrm>
          <a:prstGeom prst="roundRect">
            <a:avLst>
              <a:gd name="adj" fmla="val 4571"/>
            </a:avLst>
          </a:prstGeom>
          <a:solidFill>
            <a:srgbClr val="F2F6FA"/>
          </a:solidFill>
          <a:ln/>
        </p:spPr>
      </p:sp>
      <p:pic>
        <p:nvPicPr>
          <p:cNvPr id="16" name="Image 3" descr="/home/claude/sqlcourse/media/sqlserver.png">    </p:cNvPr>
          <p:cNvPicPr>
            <a:picLocks noChangeAspect="1"/>
          </p:cNvPicPr>
          <p:nvPr/>
        </p:nvPicPr>
        <p:blipFill>
          <a:blip r:embed="rId4"/>
          <a:srcRect l="0" r="0" t="0" b="0"/>
          <a:stretch/>
        </p:blipFill>
        <p:spPr>
          <a:xfrm>
            <a:off x="9144000" y="2221992"/>
            <a:ext cx="1600200" cy="914400"/>
          </a:xfrm>
          <a:prstGeom prst="rect">
            <a:avLst/>
          </a:prstGeom>
        </p:spPr>
      </p:pic>
      <p:sp>
        <p:nvSpPr>
          <p:cNvPr id="17" name="Text 11"/>
          <p:cNvSpPr/>
          <p:nvPr/>
        </p:nvSpPr>
        <p:spPr>
          <a:xfrm>
            <a:off x="8641080" y="3291840"/>
            <a:ext cx="2606040" cy="292608"/>
          </a:xfrm>
          <a:prstGeom prst="rect">
            <a:avLst/>
          </a:prstGeom>
          <a:noFill/>
          <a:ln/>
        </p:spPr>
        <p:txBody>
          <a:bodyPr wrap="square" lIns="0" tIns="0" rIns="0" bIns="0" rtlCol="0" anchor="ctr"/>
          <a:lstStyle/>
          <a:p>
            <a:pPr algn="ctr" indent="0" marL="0">
              <a:buNone/>
            </a:pPr>
            <a:r>
              <a:rPr lang="en-US" sz="1100" b="1" dirty="0">
                <a:solidFill>
                  <a:srgbClr val="16202A"/>
                </a:solidFill>
                <a:latin typeface="Calibri" pitchFamily="34" charset="0"/>
                <a:ea typeface="Calibri" pitchFamily="34" charset="-122"/>
                <a:cs typeface="Calibri" pitchFamily="34" charset="-120"/>
              </a:rPr>
              <a:t>SQL Server</a:t>
            </a:r>
            <a:endParaRPr lang="en-US" sz="1100" dirty="0"/>
          </a:p>
        </p:txBody>
      </p:sp>
      <p:sp>
        <p:nvSpPr>
          <p:cNvPr id="18" name="Shape 12"/>
          <p:cNvSpPr/>
          <p:nvPr/>
        </p:nvSpPr>
        <p:spPr>
          <a:xfrm>
            <a:off x="548640" y="3767328"/>
            <a:ext cx="2606040" cy="1600200"/>
          </a:xfrm>
          <a:prstGeom prst="roundRect">
            <a:avLst>
              <a:gd name="adj" fmla="val 4571"/>
            </a:avLst>
          </a:prstGeom>
          <a:solidFill>
            <a:srgbClr val="F2F6FA"/>
          </a:solidFill>
          <a:ln/>
        </p:spPr>
      </p:sp>
      <p:pic>
        <p:nvPicPr>
          <p:cNvPr id="19" name="Image 4" descr="/home/claude/sqlcourse/media/mongodb.png">    </p:cNvPr>
          <p:cNvPicPr>
            <a:picLocks noChangeAspect="1"/>
          </p:cNvPicPr>
          <p:nvPr/>
        </p:nvPicPr>
        <p:blipFill>
          <a:blip r:embed="rId5"/>
          <a:srcRect l="0" r="0" t="0" b="0"/>
          <a:stretch/>
        </p:blipFill>
        <p:spPr>
          <a:xfrm>
            <a:off x="1051560" y="3931920"/>
            <a:ext cx="1600200" cy="914400"/>
          </a:xfrm>
          <a:prstGeom prst="rect">
            <a:avLst/>
          </a:prstGeom>
        </p:spPr>
      </p:pic>
      <p:sp>
        <p:nvSpPr>
          <p:cNvPr id="20" name="Text 13"/>
          <p:cNvSpPr/>
          <p:nvPr/>
        </p:nvSpPr>
        <p:spPr>
          <a:xfrm>
            <a:off x="548640" y="5001768"/>
            <a:ext cx="2606040" cy="292608"/>
          </a:xfrm>
          <a:prstGeom prst="rect">
            <a:avLst/>
          </a:prstGeom>
          <a:noFill/>
          <a:ln/>
        </p:spPr>
        <p:txBody>
          <a:bodyPr wrap="square" lIns="0" tIns="0" rIns="0" bIns="0" rtlCol="0" anchor="ctr"/>
          <a:lstStyle/>
          <a:p>
            <a:pPr algn="ctr" indent="0" marL="0">
              <a:buNone/>
            </a:pPr>
            <a:r>
              <a:rPr lang="en-US" sz="1100" b="1" dirty="0">
                <a:solidFill>
                  <a:srgbClr val="16202A"/>
                </a:solidFill>
                <a:latin typeface="Calibri" pitchFamily="34" charset="0"/>
                <a:ea typeface="Calibri" pitchFamily="34" charset="-122"/>
                <a:cs typeface="Calibri" pitchFamily="34" charset="-120"/>
              </a:rPr>
              <a:t>MongoDB</a:t>
            </a:r>
            <a:endParaRPr lang="en-US" sz="1100" dirty="0"/>
          </a:p>
        </p:txBody>
      </p:sp>
      <p:sp>
        <p:nvSpPr>
          <p:cNvPr id="21" name="Shape 14"/>
          <p:cNvSpPr/>
          <p:nvPr/>
        </p:nvSpPr>
        <p:spPr>
          <a:xfrm>
            <a:off x="3246120" y="3767328"/>
            <a:ext cx="2606040" cy="1600200"/>
          </a:xfrm>
          <a:prstGeom prst="roundRect">
            <a:avLst>
              <a:gd name="adj" fmla="val 4571"/>
            </a:avLst>
          </a:prstGeom>
          <a:solidFill>
            <a:srgbClr val="F2F6FA"/>
          </a:solidFill>
          <a:ln/>
        </p:spPr>
      </p:sp>
      <p:pic>
        <p:nvPicPr>
          <p:cNvPr id="22" name="Image 5" descr="/home/claude/sqlcourse/media/redis.jpg">    </p:cNvPr>
          <p:cNvPicPr>
            <a:picLocks noChangeAspect="1"/>
          </p:cNvPicPr>
          <p:nvPr/>
        </p:nvPicPr>
        <p:blipFill>
          <a:blip r:embed="rId6"/>
          <a:srcRect l="0" r="0" t="0" b="0"/>
          <a:stretch/>
        </p:blipFill>
        <p:spPr>
          <a:xfrm>
            <a:off x="3749040" y="3931920"/>
            <a:ext cx="1600200" cy="914400"/>
          </a:xfrm>
          <a:prstGeom prst="rect">
            <a:avLst/>
          </a:prstGeom>
        </p:spPr>
      </p:pic>
      <p:sp>
        <p:nvSpPr>
          <p:cNvPr id="23" name="Text 15"/>
          <p:cNvSpPr/>
          <p:nvPr/>
        </p:nvSpPr>
        <p:spPr>
          <a:xfrm>
            <a:off x="3246120" y="5001768"/>
            <a:ext cx="2606040" cy="292608"/>
          </a:xfrm>
          <a:prstGeom prst="rect">
            <a:avLst/>
          </a:prstGeom>
          <a:noFill/>
          <a:ln/>
        </p:spPr>
        <p:txBody>
          <a:bodyPr wrap="square" lIns="0" tIns="0" rIns="0" bIns="0" rtlCol="0" anchor="ctr"/>
          <a:lstStyle/>
          <a:p>
            <a:pPr algn="ctr" indent="0" marL="0">
              <a:buNone/>
            </a:pPr>
            <a:r>
              <a:rPr lang="en-US" sz="1100" b="1" dirty="0">
                <a:solidFill>
                  <a:srgbClr val="16202A"/>
                </a:solidFill>
                <a:latin typeface="Calibri" pitchFamily="34" charset="0"/>
                <a:ea typeface="Calibri" pitchFamily="34" charset="-122"/>
                <a:cs typeface="Calibri" pitchFamily="34" charset="-120"/>
              </a:rPr>
              <a:t>Redis</a:t>
            </a:r>
            <a:endParaRPr lang="en-US" sz="1100" dirty="0"/>
          </a:p>
        </p:txBody>
      </p:sp>
      <p:sp>
        <p:nvSpPr>
          <p:cNvPr id="24" name="Shape 16"/>
          <p:cNvSpPr/>
          <p:nvPr/>
        </p:nvSpPr>
        <p:spPr>
          <a:xfrm>
            <a:off x="5943600" y="3767328"/>
            <a:ext cx="2606040" cy="1600200"/>
          </a:xfrm>
          <a:prstGeom prst="roundRect">
            <a:avLst>
              <a:gd name="adj" fmla="val 4571"/>
            </a:avLst>
          </a:prstGeom>
          <a:solidFill>
            <a:srgbClr val="F2F6FA"/>
          </a:solidFill>
          <a:ln/>
        </p:spPr>
      </p:sp>
      <p:pic>
        <p:nvPicPr>
          <p:cNvPr id="25" name="Image 6" descr="/home/claude/sqlcourse/media/cassandra.jpg">    </p:cNvPr>
          <p:cNvPicPr>
            <a:picLocks noChangeAspect="1"/>
          </p:cNvPicPr>
          <p:nvPr/>
        </p:nvPicPr>
        <p:blipFill>
          <a:blip r:embed="rId7"/>
          <a:srcRect l="0" r="0" t="0" b="0"/>
          <a:stretch/>
        </p:blipFill>
        <p:spPr>
          <a:xfrm>
            <a:off x="6446520" y="3931920"/>
            <a:ext cx="1600200" cy="914400"/>
          </a:xfrm>
          <a:prstGeom prst="rect">
            <a:avLst/>
          </a:prstGeom>
        </p:spPr>
      </p:pic>
      <p:sp>
        <p:nvSpPr>
          <p:cNvPr id="26" name="Text 17"/>
          <p:cNvSpPr/>
          <p:nvPr/>
        </p:nvSpPr>
        <p:spPr>
          <a:xfrm>
            <a:off x="5943600" y="5001768"/>
            <a:ext cx="2606040" cy="292608"/>
          </a:xfrm>
          <a:prstGeom prst="rect">
            <a:avLst/>
          </a:prstGeom>
          <a:noFill/>
          <a:ln/>
        </p:spPr>
        <p:txBody>
          <a:bodyPr wrap="square" lIns="0" tIns="0" rIns="0" bIns="0" rtlCol="0" anchor="ctr"/>
          <a:lstStyle/>
          <a:p>
            <a:pPr algn="ctr" indent="0" marL="0">
              <a:buNone/>
            </a:pPr>
            <a:r>
              <a:rPr lang="en-US" sz="1100" b="1" dirty="0">
                <a:solidFill>
                  <a:srgbClr val="16202A"/>
                </a:solidFill>
                <a:latin typeface="Calibri" pitchFamily="34" charset="0"/>
                <a:ea typeface="Calibri" pitchFamily="34" charset="-122"/>
                <a:cs typeface="Calibri" pitchFamily="34" charset="-120"/>
              </a:rPr>
              <a:t>Cassandra</a:t>
            </a:r>
            <a:endParaRPr lang="en-US" sz="1100" dirty="0"/>
          </a:p>
        </p:txBody>
      </p:sp>
      <p:sp>
        <p:nvSpPr>
          <p:cNvPr id="27" name="Shape 18"/>
          <p:cNvSpPr/>
          <p:nvPr/>
        </p:nvSpPr>
        <p:spPr>
          <a:xfrm>
            <a:off x="8641080" y="3767328"/>
            <a:ext cx="2606040" cy="1600200"/>
          </a:xfrm>
          <a:prstGeom prst="roundRect">
            <a:avLst>
              <a:gd name="adj" fmla="val 4571"/>
            </a:avLst>
          </a:prstGeom>
          <a:solidFill>
            <a:srgbClr val="F2F6FA"/>
          </a:solidFill>
          <a:ln/>
        </p:spPr>
      </p:sp>
      <p:pic>
        <p:nvPicPr>
          <p:cNvPr id="28" name="Image 7" descr="/home/claude/sqlcourse/media/neo4j.png">    </p:cNvPr>
          <p:cNvPicPr>
            <a:picLocks noChangeAspect="1"/>
          </p:cNvPicPr>
          <p:nvPr/>
        </p:nvPicPr>
        <p:blipFill>
          <a:blip r:embed="rId8"/>
          <a:srcRect l="0" r="0" t="0" b="0"/>
          <a:stretch/>
        </p:blipFill>
        <p:spPr>
          <a:xfrm>
            <a:off x="9144000" y="3931920"/>
            <a:ext cx="1600200" cy="914400"/>
          </a:xfrm>
          <a:prstGeom prst="rect">
            <a:avLst/>
          </a:prstGeom>
        </p:spPr>
      </p:pic>
      <p:sp>
        <p:nvSpPr>
          <p:cNvPr id="29" name="Text 19"/>
          <p:cNvSpPr/>
          <p:nvPr/>
        </p:nvSpPr>
        <p:spPr>
          <a:xfrm>
            <a:off x="8641080" y="5001768"/>
            <a:ext cx="2606040" cy="292608"/>
          </a:xfrm>
          <a:prstGeom prst="rect">
            <a:avLst/>
          </a:prstGeom>
          <a:noFill/>
          <a:ln/>
        </p:spPr>
        <p:txBody>
          <a:bodyPr wrap="square" lIns="0" tIns="0" rIns="0" bIns="0" rtlCol="0" anchor="ctr"/>
          <a:lstStyle/>
          <a:p>
            <a:pPr algn="ctr" indent="0" marL="0">
              <a:buNone/>
            </a:pPr>
            <a:r>
              <a:rPr lang="en-US" sz="1100" b="1" dirty="0">
                <a:solidFill>
                  <a:srgbClr val="16202A"/>
                </a:solidFill>
                <a:latin typeface="Calibri" pitchFamily="34" charset="0"/>
                <a:ea typeface="Calibri" pitchFamily="34" charset="-122"/>
                <a:cs typeface="Calibri" pitchFamily="34" charset="-120"/>
              </a:rPr>
              <a:t>Neo4j</a:t>
            </a:r>
            <a:endParaRPr lang="en-US" sz="1100" dirty="0"/>
          </a:p>
        </p:txBody>
      </p:sp>
      <p:sp>
        <p:nvSpPr>
          <p:cNvPr id="30" name="Shape 20"/>
          <p:cNvSpPr/>
          <p:nvPr/>
        </p:nvSpPr>
        <p:spPr>
          <a:xfrm>
            <a:off x="548640" y="5532120"/>
            <a:ext cx="10652760" cy="594360"/>
          </a:xfrm>
          <a:prstGeom prst="roundRect">
            <a:avLst>
              <a:gd name="adj" fmla="val 10769"/>
            </a:avLst>
          </a:prstGeom>
          <a:solidFill>
            <a:srgbClr val="E3F8F1"/>
          </a:solidFill>
          <a:ln/>
        </p:spPr>
      </p:sp>
      <p:sp>
        <p:nvSpPr>
          <p:cNvPr id="31" name="Text 21"/>
          <p:cNvSpPr/>
          <p:nvPr/>
        </p:nvSpPr>
        <p:spPr>
          <a:xfrm>
            <a:off x="777240" y="5532120"/>
            <a:ext cx="10241280" cy="594360"/>
          </a:xfrm>
          <a:prstGeom prst="rect">
            <a:avLst/>
          </a:prstGeom>
          <a:noFill/>
          <a:ln/>
        </p:spPr>
        <p:txBody>
          <a:bodyPr wrap="square" lIns="0" tIns="0" rIns="0" bIns="0" rtlCol="0" anchor="ctr"/>
          <a:lstStyle/>
          <a:p>
            <a:pPr indent="0" marL="0">
              <a:buNone/>
            </a:pPr>
            <a:r>
              <a:rPr lang="en-US" sz="1200" b="1" dirty="0">
                <a:solidFill>
                  <a:srgbClr val="106A56"/>
                </a:solidFill>
                <a:latin typeface="Calibri" pitchFamily="34" charset="0"/>
                <a:ea typeface="Calibri" pitchFamily="34" charset="-122"/>
                <a:cs typeface="Calibri" pitchFamily="34" charset="-120"/>
              </a:rPr>
              <a:t>Evolve Corp runs on:  </a:t>
            </a:r>
            <a:pPr indent="0" marL="0">
              <a:buNone/>
            </a:pPr>
            <a:r>
              <a:rPr lang="en-US" sz="1200" dirty="0">
                <a:solidFill>
                  <a:srgbClr val="106A56"/>
                </a:solidFill>
                <a:latin typeface="Calibri" pitchFamily="34" charset="0"/>
                <a:ea typeface="Calibri" pitchFamily="34" charset="-122"/>
                <a:cs typeface="Calibri" pitchFamily="34" charset="-120"/>
              </a:rPr>
              <a:t>MySQL — which is what we’ll install and query throughout this course.</a:t>
            </a:r>
            <a:endParaRPr lang="en-US" sz="1200" dirty="0"/>
          </a:p>
        </p:txBody>
      </p:sp>
      <p:sp>
        <p:nvSpPr>
          <p:cNvPr id="32" name="Text 2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33"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a:t>
            </a:r>
            <a:endParaRPr lang="en-US" sz="1050" dirty="0"/>
          </a:p>
        </p:txBody>
      </p:sp>
      <p:sp>
        <p:nvSpPr>
          <p:cNvPr id="4" name="Text 2"/>
          <p:cNvSpPr/>
          <p:nvPr/>
        </p:nvSpPr>
        <p:spPr>
          <a:xfrm>
            <a:off x="548640" y="914400"/>
            <a:ext cx="10058400" cy="777240"/>
          </a:xfrm>
          <a:prstGeom prst="rect">
            <a:avLst/>
          </a:prstGeom>
          <a:noFill/>
          <a:ln/>
        </p:spPr>
        <p:txBody>
          <a:bodyPr wrap="square" lIns="0" tIns="0" rIns="0" bIns="0" rtlCol="0" anchor="t"/>
          <a:lstStyle/>
          <a:p>
            <a:pPr indent="0" marL="0">
              <a:buNone/>
            </a:pPr>
            <a:r>
              <a:rPr lang="en-US" sz="2500" b="1" dirty="0">
                <a:solidFill>
                  <a:srgbClr val="16202A"/>
                </a:solidFill>
                <a:latin typeface="Cambria" pitchFamily="34" charset="0"/>
                <a:ea typeface="Cambria" pitchFamily="34" charset="-122"/>
                <a:cs typeface="Cambria" pitchFamily="34" charset="-120"/>
              </a:rPr>
              <a:t>How We Got to the Relational Model</a:t>
            </a:r>
            <a:endParaRPr lang="en-US" sz="25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Three generations of database design, each solving the previous one’s limitation</a:t>
            </a:r>
            <a:endParaRPr lang="en-US" sz="1300" dirty="0"/>
          </a:p>
        </p:txBody>
      </p:sp>
      <p:sp>
        <p:nvSpPr>
          <p:cNvPr id="6" name="Shape 4"/>
          <p:cNvSpPr/>
          <p:nvPr/>
        </p:nvSpPr>
        <p:spPr>
          <a:xfrm>
            <a:off x="548640" y="2057400"/>
            <a:ext cx="10652760" cy="1234440"/>
          </a:xfrm>
          <a:prstGeom prst="roundRect">
            <a:avLst>
              <a:gd name="adj" fmla="val 5926"/>
            </a:avLst>
          </a:prstGeom>
          <a:solidFill>
            <a:srgbClr val="F2F6FA"/>
          </a:solidFill>
          <a:ln/>
        </p:spPr>
      </p:sp>
      <p:sp>
        <p:nvSpPr>
          <p:cNvPr id="7" name="Shape 5"/>
          <p:cNvSpPr/>
          <p:nvPr/>
        </p:nvSpPr>
        <p:spPr>
          <a:xfrm>
            <a:off x="777240" y="2240280"/>
            <a:ext cx="548640" cy="548640"/>
          </a:xfrm>
          <a:prstGeom prst="ellipse">
            <a:avLst/>
          </a:prstGeom>
          <a:solidFill>
            <a:srgbClr val="1E56A0"/>
          </a:solidFill>
          <a:ln/>
        </p:spPr>
      </p:sp>
      <p:sp>
        <p:nvSpPr>
          <p:cNvPr id="8" name="Text 6"/>
          <p:cNvSpPr/>
          <p:nvPr/>
        </p:nvSpPr>
        <p:spPr>
          <a:xfrm>
            <a:off x="777240"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1554480" y="2176272"/>
            <a:ext cx="3108960" cy="365760"/>
          </a:xfrm>
          <a:prstGeom prst="rect">
            <a:avLst/>
          </a:prstGeom>
          <a:noFill/>
          <a:ln/>
        </p:spPr>
        <p:txBody>
          <a:bodyPr wrap="square" lIns="0" tIns="0" rIns="0" bIns="0" rtlCol="0" anchor="ctr"/>
          <a:lstStyle/>
          <a:p>
            <a:pPr indent="0" marL="0">
              <a:buNone/>
            </a:pPr>
            <a:r>
              <a:rPr lang="en-US" sz="1600" b="1" dirty="0">
                <a:solidFill>
                  <a:srgbClr val="16202A"/>
                </a:solidFill>
                <a:latin typeface="Cambria" pitchFamily="34" charset="0"/>
                <a:ea typeface="Cambria" pitchFamily="34" charset="-122"/>
                <a:cs typeface="Cambria" pitchFamily="34" charset="-120"/>
              </a:rPr>
              <a:t>Hierarchical</a:t>
            </a:r>
            <a:endParaRPr lang="en-US" sz="1600" dirty="0"/>
          </a:p>
        </p:txBody>
      </p:sp>
      <p:sp>
        <p:nvSpPr>
          <p:cNvPr id="10" name="Text 8"/>
          <p:cNvSpPr/>
          <p:nvPr/>
        </p:nvSpPr>
        <p:spPr>
          <a:xfrm>
            <a:off x="1554480" y="2532888"/>
            <a:ext cx="3108960" cy="274320"/>
          </a:xfrm>
          <a:prstGeom prst="rect">
            <a:avLst/>
          </a:prstGeom>
          <a:noFill/>
          <a:ln/>
        </p:spPr>
        <p:txBody>
          <a:bodyPr wrap="square" lIns="0" tIns="0" rIns="0" bIns="0" rtlCol="0" anchor="ctr"/>
          <a:lstStyle/>
          <a:p>
            <a:pPr indent="0" marL="0">
              <a:buNone/>
            </a:pPr>
            <a:r>
              <a:rPr lang="en-US" sz="1050" b="1" dirty="0">
                <a:solidFill>
                  <a:srgbClr val="0FA3B1"/>
                </a:solidFill>
                <a:latin typeface="Calibri" pitchFamily="34" charset="0"/>
                <a:ea typeface="Calibri" pitchFamily="34" charset="-122"/>
                <a:cs typeface="Calibri" pitchFamily="34" charset="-120"/>
              </a:rPr>
              <a:t>One-to-many only</a:t>
            </a:r>
            <a:endParaRPr lang="en-US" sz="1050" dirty="0"/>
          </a:p>
        </p:txBody>
      </p:sp>
      <p:sp>
        <p:nvSpPr>
          <p:cNvPr id="11" name="Text 9"/>
          <p:cNvSpPr/>
          <p:nvPr/>
        </p:nvSpPr>
        <p:spPr>
          <a:xfrm>
            <a:off x="4846320" y="2203704"/>
            <a:ext cx="6217920" cy="96012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Data organized like a tree — each record has exactly one parent. Simple, but rigid: it can’t represent a record with multiple parents.</a:t>
            </a:r>
            <a:endParaRPr lang="en-US" sz="1100" dirty="0"/>
          </a:p>
        </p:txBody>
      </p:sp>
      <p:sp>
        <p:nvSpPr>
          <p:cNvPr id="12" name="Shape 10"/>
          <p:cNvSpPr/>
          <p:nvPr/>
        </p:nvSpPr>
        <p:spPr>
          <a:xfrm>
            <a:off x="548640" y="3410712"/>
            <a:ext cx="10652760" cy="1234440"/>
          </a:xfrm>
          <a:prstGeom prst="roundRect">
            <a:avLst>
              <a:gd name="adj" fmla="val 5926"/>
            </a:avLst>
          </a:prstGeom>
          <a:solidFill>
            <a:srgbClr val="F2F6FA"/>
          </a:solidFill>
          <a:ln/>
        </p:spPr>
      </p:sp>
      <p:sp>
        <p:nvSpPr>
          <p:cNvPr id="13" name="Shape 11"/>
          <p:cNvSpPr/>
          <p:nvPr/>
        </p:nvSpPr>
        <p:spPr>
          <a:xfrm>
            <a:off x="777240" y="3593592"/>
            <a:ext cx="548640" cy="548640"/>
          </a:xfrm>
          <a:prstGeom prst="ellipse">
            <a:avLst/>
          </a:prstGeom>
          <a:solidFill>
            <a:srgbClr val="1E56A0"/>
          </a:solidFill>
          <a:ln/>
        </p:spPr>
      </p:sp>
      <p:sp>
        <p:nvSpPr>
          <p:cNvPr id="14" name="Text 12"/>
          <p:cNvSpPr/>
          <p:nvPr/>
        </p:nvSpPr>
        <p:spPr>
          <a:xfrm>
            <a:off x="777240" y="3593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554480" y="3529584"/>
            <a:ext cx="3108960" cy="365760"/>
          </a:xfrm>
          <a:prstGeom prst="rect">
            <a:avLst/>
          </a:prstGeom>
          <a:noFill/>
          <a:ln/>
        </p:spPr>
        <p:txBody>
          <a:bodyPr wrap="square" lIns="0" tIns="0" rIns="0" bIns="0" rtlCol="0" anchor="ctr"/>
          <a:lstStyle/>
          <a:p>
            <a:pPr indent="0" marL="0">
              <a:buNone/>
            </a:pPr>
            <a:r>
              <a:rPr lang="en-US" sz="1600" b="1" dirty="0">
                <a:solidFill>
                  <a:srgbClr val="16202A"/>
                </a:solidFill>
                <a:latin typeface="Cambria" pitchFamily="34" charset="0"/>
                <a:ea typeface="Cambria" pitchFamily="34" charset="-122"/>
                <a:cs typeface="Cambria" pitchFamily="34" charset="-120"/>
              </a:rPr>
              <a:t>Network</a:t>
            </a:r>
            <a:endParaRPr lang="en-US" sz="1600" dirty="0"/>
          </a:p>
        </p:txBody>
      </p:sp>
      <p:sp>
        <p:nvSpPr>
          <p:cNvPr id="16" name="Text 14"/>
          <p:cNvSpPr/>
          <p:nvPr/>
        </p:nvSpPr>
        <p:spPr>
          <a:xfrm>
            <a:off x="1554480" y="3886200"/>
            <a:ext cx="3108960" cy="274320"/>
          </a:xfrm>
          <a:prstGeom prst="rect">
            <a:avLst/>
          </a:prstGeom>
          <a:noFill/>
          <a:ln/>
        </p:spPr>
        <p:txBody>
          <a:bodyPr wrap="square" lIns="0" tIns="0" rIns="0" bIns="0" rtlCol="0" anchor="ctr"/>
          <a:lstStyle/>
          <a:p>
            <a:pPr indent="0" marL="0">
              <a:buNone/>
            </a:pPr>
            <a:r>
              <a:rPr lang="en-US" sz="1050" b="1" dirty="0">
                <a:solidFill>
                  <a:srgbClr val="0FA3B1"/>
                </a:solidFill>
                <a:latin typeface="Calibri" pitchFamily="34" charset="0"/>
                <a:ea typeface="Calibri" pitchFamily="34" charset="-122"/>
                <a:cs typeface="Calibri" pitchFamily="34" charset="-120"/>
              </a:rPr>
              <a:t>Many-to-many</a:t>
            </a:r>
            <a:endParaRPr lang="en-US" sz="1050" dirty="0"/>
          </a:p>
        </p:txBody>
      </p:sp>
      <p:sp>
        <p:nvSpPr>
          <p:cNvPr id="17" name="Text 15"/>
          <p:cNvSpPr/>
          <p:nvPr/>
        </p:nvSpPr>
        <p:spPr>
          <a:xfrm>
            <a:off x="4846320" y="3557016"/>
            <a:ext cx="6217920" cy="96012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Expanded the tree into a web — a child can have more than one parent. More flexible, but the complexity of navigating it made it hard to maintain.</a:t>
            </a:r>
            <a:endParaRPr lang="en-US" sz="1100" dirty="0"/>
          </a:p>
        </p:txBody>
      </p:sp>
      <p:sp>
        <p:nvSpPr>
          <p:cNvPr id="18" name="Shape 16"/>
          <p:cNvSpPr/>
          <p:nvPr/>
        </p:nvSpPr>
        <p:spPr>
          <a:xfrm>
            <a:off x="548640" y="4764024"/>
            <a:ext cx="10652760" cy="1234440"/>
          </a:xfrm>
          <a:prstGeom prst="roundRect">
            <a:avLst>
              <a:gd name="adj" fmla="val 5926"/>
            </a:avLst>
          </a:prstGeom>
          <a:solidFill>
            <a:srgbClr val="F2F6FA"/>
          </a:solidFill>
          <a:ln/>
        </p:spPr>
      </p:sp>
      <p:sp>
        <p:nvSpPr>
          <p:cNvPr id="19" name="Shape 17"/>
          <p:cNvSpPr/>
          <p:nvPr/>
        </p:nvSpPr>
        <p:spPr>
          <a:xfrm>
            <a:off x="777240" y="4946904"/>
            <a:ext cx="548640" cy="548640"/>
          </a:xfrm>
          <a:prstGeom prst="ellipse">
            <a:avLst/>
          </a:prstGeom>
          <a:solidFill>
            <a:srgbClr val="1E56A0"/>
          </a:solidFill>
          <a:ln/>
        </p:spPr>
      </p:sp>
      <p:sp>
        <p:nvSpPr>
          <p:cNvPr id="20" name="Text 18"/>
          <p:cNvSpPr/>
          <p:nvPr/>
        </p:nvSpPr>
        <p:spPr>
          <a:xfrm>
            <a:off x="777240" y="494690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1554480" y="4882896"/>
            <a:ext cx="3108960" cy="365760"/>
          </a:xfrm>
          <a:prstGeom prst="rect">
            <a:avLst/>
          </a:prstGeom>
          <a:noFill/>
          <a:ln/>
        </p:spPr>
        <p:txBody>
          <a:bodyPr wrap="square" lIns="0" tIns="0" rIns="0" bIns="0" rtlCol="0" anchor="ctr"/>
          <a:lstStyle/>
          <a:p>
            <a:pPr indent="0" marL="0">
              <a:buNone/>
            </a:pPr>
            <a:r>
              <a:rPr lang="en-US" sz="1600" b="1" dirty="0">
                <a:solidFill>
                  <a:srgbClr val="16202A"/>
                </a:solidFill>
                <a:latin typeface="Cambria" pitchFamily="34" charset="0"/>
                <a:ea typeface="Cambria" pitchFamily="34" charset="-122"/>
                <a:cs typeface="Cambria" pitchFamily="34" charset="-120"/>
              </a:rPr>
              <a:t>Relational</a:t>
            </a:r>
            <a:endParaRPr lang="en-US" sz="1600" dirty="0"/>
          </a:p>
        </p:txBody>
      </p:sp>
      <p:sp>
        <p:nvSpPr>
          <p:cNvPr id="22" name="Text 20"/>
          <p:cNvSpPr/>
          <p:nvPr/>
        </p:nvSpPr>
        <p:spPr>
          <a:xfrm>
            <a:off x="1554480" y="5239512"/>
            <a:ext cx="3108960" cy="274320"/>
          </a:xfrm>
          <a:prstGeom prst="rect">
            <a:avLst/>
          </a:prstGeom>
          <a:noFill/>
          <a:ln/>
        </p:spPr>
        <p:txBody>
          <a:bodyPr wrap="square" lIns="0" tIns="0" rIns="0" bIns="0" rtlCol="0" anchor="ctr"/>
          <a:lstStyle/>
          <a:p>
            <a:pPr indent="0" marL="0">
              <a:buNone/>
            </a:pPr>
            <a:r>
              <a:rPr lang="en-US" sz="1050" b="1" dirty="0">
                <a:solidFill>
                  <a:srgbClr val="0FA3B1"/>
                </a:solidFill>
                <a:latin typeface="Calibri" pitchFamily="34" charset="0"/>
                <a:ea typeface="Calibri" pitchFamily="34" charset="-122"/>
                <a:cs typeface="Calibri" pitchFamily="34" charset="-120"/>
              </a:rPr>
              <a:t>1:1, 1:many, many:many</a:t>
            </a:r>
            <a:endParaRPr lang="en-US" sz="1050" dirty="0"/>
          </a:p>
        </p:txBody>
      </p:sp>
      <p:sp>
        <p:nvSpPr>
          <p:cNvPr id="23" name="Text 21"/>
          <p:cNvSpPr/>
          <p:nvPr/>
        </p:nvSpPr>
        <p:spPr>
          <a:xfrm>
            <a:off x="4846320" y="4910328"/>
            <a:ext cx="6217920" cy="96012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Organizes data into independent tables linked by shared keys. Supports every relationship type, which is why it became — and remains — the industry standard.</a:t>
            </a:r>
            <a:endParaRPr lang="en-US" sz="110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a:t>
            </a:r>
            <a:endParaRPr lang="en-US" sz="1050" dirty="0"/>
          </a:p>
        </p:txBody>
      </p:sp>
      <p:sp>
        <p:nvSpPr>
          <p:cNvPr id="4" name="Text 2"/>
          <p:cNvSpPr/>
          <p:nvPr/>
        </p:nvSpPr>
        <p:spPr>
          <a:xfrm>
            <a:off x="548640" y="914400"/>
            <a:ext cx="960120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Beyond Relational: NoSQL Models</a:t>
            </a:r>
            <a:endParaRPr lang="en-US" sz="2700" dirty="0"/>
          </a:p>
        </p:txBody>
      </p:sp>
      <p:sp>
        <p:nvSpPr>
          <p:cNvPr id="5" name="Text 3"/>
          <p:cNvSpPr/>
          <p:nvPr/>
        </p:nvSpPr>
        <p:spPr>
          <a:xfrm>
            <a:off x="548640" y="1481328"/>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Not every problem fits neatly into rows and columns — these models trade some structure for flexibility or scale</a:t>
            </a:r>
            <a:endParaRPr lang="en-US" sz="1250" dirty="0"/>
          </a:p>
        </p:txBody>
      </p:sp>
      <p:sp>
        <p:nvSpPr>
          <p:cNvPr id="6" name="Shape 4"/>
          <p:cNvSpPr/>
          <p:nvPr/>
        </p:nvSpPr>
        <p:spPr>
          <a:xfrm>
            <a:off x="548640" y="2057400"/>
            <a:ext cx="2606040" cy="2606040"/>
          </a:xfrm>
          <a:prstGeom prst="roundRect">
            <a:avLst>
              <a:gd name="adj" fmla="val 2807"/>
            </a:avLst>
          </a:prstGeom>
          <a:solidFill>
            <a:srgbClr val="F2F6FA"/>
          </a:solidFill>
          <a:ln/>
        </p:spPr>
      </p:sp>
      <p:sp>
        <p:nvSpPr>
          <p:cNvPr id="7" name="Text 5"/>
          <p:cNvSpPr/>
          <p:nvPr/>
        </p:nvSpPr>
        <p:spPr>
          <a:xfrm>
            <a:off x="713232" y="2212848"/>
            <a:ext cx="2276856" cy="36576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Key-Value</a:t>
            </a:r>
            <a:endParaRPr lang="en-US" sz="1450" dirty="0"/>
          </a:p>
        </p:txBody>
      </p:sp>
      <p:sp>
        <p:nvSpPr>
          <p:cNvPr id="8" name="Text 6"/>
          <p:cNvSpPr/>
          <p:nvPr/>
        </p:nvSpPr>
        <p:spPr>
          <a:xfrm>
            <a:off x="713232" y="2606040"/>
            <a:ext cx="2276856" cy="141732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Every item is a simple key paired with a value — extremely fast lookups, great for caching.</a:t>
            </a:r>
            <a:endParaRPr lang="en-US" sz="1000" dirty="0"/>
          </a:p>
        </p:txBody>
      </p:sp>
      <p:pic>
        <p:nvPicPr>
          <p:cNvPr id="9" name="Image 0" descr="/home/claude/sqlcourse/media/redis.jpg">    </p:cNvPr>
          <p:cNvPicPr>
            <a:picLocks noChangeAspect="1"/>
          </p:cNvPicPr>
          <p:nvPr/>
        </p:nvPicPr>
        <p:blipFill>
          <a:blip r:embed="rId1"/>
          <a:srcRect l="0" r="0" t="0" b="0"/>
          <a:stretch/>
        </p:blipFill>
        <p:spPr>
          <a:xfrm>
            <a:off x="914400" y="3977640"/>
            <a:ext cx="1874520" cy="457200"/>
          </a:xfrm>
          <a:prstGeom prst="rect">
            <a:avLst/>
          </a:prstGeom>
        </p:spPr>
      </p:pic>
      <p:sp>
        <p:nvSpPr>
          <p:cNvPr id="10" name="Shape 7"/>
          <p:cNvSpPr/>
          <p:nvPr/>
        </p:nvSpPr>
        <p:spPr>
          <a:xfrm>
            <a:off x="3273552" y="2057400"/>
            <a:ext cx="2606040" cy="2606040"/>
          </a:xfrm>
          <a:prstGeom prst="roundRect">
            <a:avLst>
              <a:gd name="adj" fmla="val 2807"/>
            </a:avLst>
          </a:prstGeom>
          <a:solidFill>
            <a:srgbClr val="F2F6FA"/>
          </a:solidFill>
          <a:ln/>
        </p:spPr>
      </p:sp>
      <p:sp>
        <p:nvSpPr>
          <p:cNvPr id="11" name="Text 8"/>
          <p:cNvSpPr/>
          <p:nvPr/>
        </p:nvSpPr>
        <p:spPr>
          <a:xfrm>
            <a:off x="3438144" y="2212848"/>
            <a:ext cx="2276856" cy="36576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Document</a:t>
            </a:r>
            <a:endParaRPr lang="en-US" sz="1450" dirty="0"/>
          </a:p>
        </p:txBody>
      </p:sp>
      <p:sp>
        <p:nvSpPr>
          <p:cNvPr id="12" name="Text 9"/>
          <p:cNvSpPr/>
          <p:nvPr/>
        </p:nvSpPr>
        <p:spPr>
          <a:xfrm>
            <a:off x="3438144" y="2606040"/>
            <a:ext cx="2276856" cy="141732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Data stored as flexible, self-contained documents (like JSON) — good for large, varied datasets.</a:t>
            </a:r>
            <a:endParaRPr lang="en-US" sz="1000" dirty="0"/>
          </a:p>
        </p:txBody>
      </p:sp>
      <p:pic>
        <p:nvPicPr>
          <p:cNvPr id="13" name="Image 1" descr="/home/claude/sqlcourse/media/mongodb.png">    </p:cNvPr>
          <p:cNvPicPr>
            <a:picLocks noChangeAspect="1"/>
          </p:cNvPicPr>
          <p:nvPr/>
        </p:nvPicPr>
        <p:blipFill>
          <a:blip r:embed="rId2"/>
          <a:srcRect l="0" r="0" t="0" b="0"/>
          <a:stretch/>
        </p:blipFill>
        <p:spPr>
          <a:xfrm>
            <a:off x="3639312" y="3977640"/>
            <a:ext cx="1874520" cy="457200"/>
          </a:xfrm>
          <a:prstGeom prst="rect">
            <a:avLst/>
          </a:prstGeom>
        </p:spPr>
      </p:pic>
      <p:sp>
        <p:nvSpPr>
          <p:cNvPr id="14" name="Shape 10"/>
          <p:cNvSpPr/>
          <p:nvPr/>
        </p:nvSpPr>
        <p:spPr>
          <a:xfrm>
            <a:off x="5998464" y="2057400"/>
            <a:ext cx="2606040" cy="2606040"/>
          </a:xfrm>
          <a:prstGeom prst="roundRect">
            <a:avLst>
              <a:gd name="adj" fmla="val 2807"/>
            </a:avLst>
          </a:prstGeom>
          <a:solidFill>
            <a:srgbClr val="F2F6FA"/>
          </a:solidFill>
          <a:ln/>
        </p:spPr>
      </p:sp>
      <p:sp>
        <p:nvSpPr>
          <p:cNvPr id="15" name="Text 11"/>
          <p:cNvSpPr/>
          <p:nvPr/>
        </p:nvSpPr>
        <p:spPr>
          <a:xfrm>
            <a:off x="6163056" y="2212848"/>
            <a:ext cx="2276856" cy="36576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Columnar</a:t>
            </a:r>
            <a:endParaRPr lang="en-US" sz="1450" dirty="0"/>
          </a:p>
        </p:txBody>
      </p:sp>
      <p:sp>
        <p:nvSpPr>
          <p:cNvPr id="16" name="Text 12"/>
          <p:cNvSpPr/>
          <p:nvPr/>
        </p:nvSpPr>
        <p:spPr>
          <a:xfrm>
            <a:off x="6163056" y="2606040"/>
            <a:ext cx="2276856" cy="141732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Data organized by column rather than row — built for very fast reads across huge datasets.</a:t>
            </a:r>
            <a:endParaRPr lang="en-US" sz="1000" dirty="0"/>
          </a:p>
        </p:txBody>
      </p:sp>
      <p:pic>
        <p:nvPicPr>
          <p:cNvPr id="17" name="Image 2" descr="/home/claude/sqlcourse/media/cassandra.jpg">    </p:cNvPr>
          <p:cNvPicPr>
            <a:picLocks noChangeAspect="1"/>
          </p:cNvPicPr>
          <p:nvPr/>
        </p:nvPicPr>
        <p:blipFill>
          <a:blip r:embed="rId3"/>
          <a:srcRect l="0" r="0" t="0" b="0"/>
          <a:stretch/>
        </p:blipFill>
        <p:spPr>
          <a:xfrm>
            <a:off x="6364224" y="3977640"/>
            <a:ext cx="1874520" cy="457200"/>
          </a:xfrm>
          <a:prstGeom prst="rect">
            <a:avLst/>
          </a:prstGeom>
        </p:spPr>
      </p:pic>
      <p:sp>
        <p:nvSpPr>
          <p:cNvPr id="18" name="Shape 13"/>
          <p:cNvSpPr/>
          <p:nvPr/>
        </p:nvSpPr>
        <p:spPr>
          <a:xfrm>
            <a:off x="8723376" y="2057400"/>
            <a:ext cx="2606040" cy="2606040"/>
          </a:xfrm>
          <a:prstGeom prst="roundRect">
            <a:avLst>
              <a:gd name="adj" fmla="val 2807"/>
            </a:avLst>
          </a:prstGeom>
          <a:solidFill>
            <a:srgbClr val="F2F6FA"/>
          </a:solidFill>
          <a:ln/>
        </p:spPr>
      </p:sp>
      <p:sp>
        <p:nvSpPr>
          <p:cNvPr id="19" name="Text 14"/>
          <p:cNvSpPr/>
          <p:nvPr/>
        </p:nvSpPr>
        <p:spPr>
          <a:xfrm>
            <a:off x="8887968" y="2212848"/>
            <a:ext cx="2276856" cy="36576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Graph</a:t>
            </a:r>
            <a:endParaRPr lang="en-US" sz="1450" dirty="0"/>
          </a:p>
        </p:txBody>
      </p:sp>
      <p:sp>
        <p:nvSpPr>
          <p:cNvPr id="20" name="Text 15"/>
          <p:cNvSpPr/>
          <p:nvPr/>
        </p:nvSpPr>
        <p:spPr>
          <a:xfrm>
            <a:off x="8887968" y="2606040"/>
            <a:ext cx="2276856" cy="141732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Data stored as nodes and relationships — ideal for deeply connected data like social networks.</a:t>
            </a:r>
            <a:endParaRPr lang="en-US" sz="1000" dirty="0"/>
          </a:p>
        </p:txBody>
      </p:sp>
      <p:pic>
        <p:nvPicPr>
          <p:cNvPr id="21" name="Image 3" descr="/home/claude/sqlcourse/media/neo4j.png">    </p:cNvPr>
          <p:cNvPicPr>
            <a:picLocks noChangeAspect="1"/>
          </p:cNvPicPr>
          <p:nvPr/>
        </p:nvPicPr>
        <p:blipFill>
          <a:blip r:embed="rId4"/>
          <a:srcRect l="0" r="0" t="0" b="0"/>
          <a:stretch/>
        </p:blipFill>
        <p:spPr>
          <a:xfrm>
            <a:off x="9089136" y="3977640"/>
            <a:ext cx="1874520" cy="457200"/>
          </a:xfrm>
          <a:prstGeom prst="rect">
            <a:avLst/>
          </a:prstGeom>
        </p:spPr>
      </p:pic>
      <p:sp>
        <p:nvSpPr>
          <p:cNvPr id="22" name="Shape 16"/>
          <p:cNvSpPr/>
          <p:nvPr/>
        </p:nvSpPr>
        <p:spPr>
          <a:xfrm>
            <a:off x="548640" y="4892040"/>
            <a:ext cx="10652760" cy="640080"/>
          </a:xfrm>
          <a:prstGeom prst="roundRect">
            <a:avLst>
              <a:gd name="adj" fmla="val 10000"/>
            </a:avLst>
          </a:prstGeom>
          <a:solidFill>
            <a:srgbClr val="FFF4E8"/>
          </a:solidFill>
          <a:ln/>
        </p:spPr>
      </p:sp>
      <p:sp>
        <p:nvSpPr>
          <p:cNvPr id="23" name="Text 17"/>
          <p:cNvSpPr/>
          <p:nvPr/>
        </p:nvSpPr>
        <p:spPr>
          <a:xfrm>
            <a:off x="777240" y="4892040"/>
            <a:ext cx="10241280" cy="640080"/>
          </a:xfrm>
          <a:prstGeom prst="rect">
            <a:avLst/>
          </a:prstGeom>
          <a:noFill/>
          <a:ln/>
        </p:spPr>
        <p:txBody>
          <a:bodyPr wrap="square" lIns="0" tIns="0" rIns="0" bIns="0" rtlCol="0" anchor="ctr"/>
          <a:lstStyle/>
          <a:p>
            <a:pPr indent="0" marL="0">
              <a:buNone/>
            </a:pPr>
            <a:r>
              <a:rPr lang="en-US" sz="1200" b="1" dirty="0">
                <a:solidFill>
                  <a:srgbClr val="8A5A1E"/>
                </a:solidFill>
                <a:latin typeface="Calibri" pitchFamily="34" charset="0"/>
                <a:ea typeface="Calibri" pitchFamily="34" charset="-122"/>
                <a:cs typeface="Calibri" pitchFamily="34" charset="-120"/>
              </a:rPr>
              <a:t>Scope of this course:  </a:t>
            </a:r>
            <a:pPr indent="0" marL="0">
              <a:buNone/>
            </a:pPr>
            <a:r>
              <a:rPr lang="en-US" sz="1200" dirty="0">
                <a:solidFill>
                  <a:srgbClr val="8A5A1E"/>
                </a:solidFill>
                <a:latin typeface="Calibri" pitchFamily="34" charset="0"/>
                <a:ea typeface="Calibri" pitchFamily="34" charset="-122"/>
                <a:cs typeface="Calibri" pitchFamily="34" charset="-120"/>
              </a:rPr>
              <a:t>we’re focused entirely on the relational model and SQL — the standard you’ll meet in the vast majority of business analyst roles.</a:t>
            </a:r>
            <a:endParaRPr lang="en-US" sz="120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a:t>
            </a:r>
            <a:endParaRPr lang="en-US" sz="1050" dirty="0"/>
          </a:p>
        </p:txBody>
      </p:sp>
      <p:sp>
        <p:nvSpPr>
          <p:cNvPr id="4" name="Text 2"/>
          <p:cNvSpPr/>
          <p:nvPr/>
        </p:nvSpPr>
        <p:spPr>
          <a:xfrm>
            <a:off x="548640" y="914400"/>
            <a:ext cx="10607040" cy="777240"/>
          </a:xfrm>
          <a:prstGeom prst="rect">
            <a:avLst/>
          </a:prstGeom>
          <a:noFill/>
          <a:ln/>
        </p:spPr>
        <p:txBody>
          <a:bodyPr wrap="square" lIns="0" tIns="0" rIns="0" bIns="0" rtlCol="0" anchor="t"/>
          <a:lstStyle/>
          <a:p>
            <a:pPr indent="0" marL="0">
              <a:buNone/>
            </a:pPr>
            <a:r>
              <a:rPr lang="en-US" sz="2300" b="1" dirty="0">
                <a:solidFill>
                  <a:srgbClr val="16202A"/>
                </a:solidFill>
                <a:latin typeface="Cambria" pitchFamily="34" charset="0"/>
                <a:ea typeface="Cambria" pitchFamily="34" charset="-122"/>
                <a:cs typeface="Cambria" pitchFamily="34" charset="-120"/>
              </a:rPr>
              <a:t>RDBMS Structure: Splitting Data Into Related Tables</a:t>
            </a:r>
            <a:endParaRPr lang="en-US" sz="2300" dirty="0"/>
          </a:p>
        </p:txBody>
      </p:sp>
      <p:sp>
        <p:nvSpPr>
          <p:cNvPr id="5" name="Text 3"/>
          <p:cNvSpPr/>
          <p:nvPr/>
        </p:nvSpPr>
        <p:spPr>
          <a:xfrm>
            <a:off x="548640" y="1417320"/>
            <a:ext cx="10607040" cy="32004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Instead of one giant table, a relational database spreads data across smaller, linked tables</a:t>
            </a:r>
            <a:endParaRPr lang="en-US" sz="1250" dirty="0"/>
          </a:p>
        </p:txBody>
      </p:sp>
      <p:sp>
        <p:nvSpPr>
          <p:cNvPr id="6" name="Text 4"/>
          <p:cNvSpPr/>
          <p:nvPr/>
        </p:nvSpPr>
        <p:spPr>
          <a:xfrm>
            <a:off x="548640" y="1874520"/>
            <a:ext cx="3429000" cy="292608"/>
          </a:xfrm>
          <a:prstGeom prst="rect">
            <a:avLst/>
          </a:prstGeom>
          <a:noFill/>
          <a:ln/>
        </p:spPr>
        <p:txBody>
          <a:bodyPr wrap="square" lIns="0" tIns="0" rIns="0" bIns="0" rtlCol="0" anchor="ctr"/>
          <a:lstStyle/>
          <a:p>
            <a:pPr indent="0" marL="0">
              <a:buNone/>
            </a:pPr>
            <a:r>
              <a:rPr lang="en-US" sz="1250" b="1" dirty="0">
                <a:solidFill>
                  <a:srgbClr val="1E56A0"/>
                </a:solidFill>
                <a:latin typeface="Calibri" pitchFamily="34" charset="0"/>
                <a:ea typeface="Calibri" pitchFamily="34" charset="-122"/>
                <a:cs typeface="Calibri" pitchFamily="34" charset="-120"/>
              </a:rPr>
              <a:t>Customer Data</a:t>
            </a:r>
            <a:endParaRPr lang="en-US" sz="1250" dirty="0"/>
          </a:p>
        </p:txBody>
      </p:sp>
      <p:sp>
        <p:nvSpPr>
          <p:cNvPr id="7" name="Shape 5"/>
          <p:cNvSpPr/>
          <p:nvPr/>
        </p:nvSpPr>
        <p:spPr>
          <a:xfrm>
            <a:off x="548640" y="2212848"/>
            <a:ext cx="1143000" cy="310896"/>
          </a:xfrm>
          <a:prstGeom prst="rect">
            <a:avLst/>
          </a:prstGeom>
          <a:solidFill>
            <a:srgbClr val="1E56A0"/>
          </a:solidFill>
          <a:ln w="6350">
            <a:solidFill>
              <a:srgbClr val="FFFFFF"/>
            </a:solidFill>
            <a:prstDash val="solid"/>
          </a:ln>
        </p:spPr>
      </p:sp>
      <p:sp>
        <p:nvSpPr>
          <p:cNvPr id="8" name="Text 6"/>
          <p:cNvSpPr/>
          <p:nvPr/>
        </p:nvSpPr>
        <p:spPr>
          <a:xfrm>
            <a:off x="548640" y="2212848"/>
            <a:ext cx="11430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Customer_id</a:t>
            </a:r>
            <a:endParaRPr lang="en-US" sz="900" dirty="0"/>
          </a:p>
        </p:txBody>
      </p:sp>
      <p:sp>
        <p:nvSpPr>
          <p:cNvPr id="9" name="Shape 7"/>
          <p:cNvSpPr/>
          <p:nvPr/>
        </p:nvSpPr>
        <p:spPr>
          <a:xfrm>
            <a:off x="1691640" y="2212848"/>
            <a:ext cx="1143000" cy="310896"/>
          </a:xfrm>
          <a:prstGeom prst="rect">
            <a:avLst/>
          </a:prstGeom>
          <a:solidFill>
            <a:srgbClr val="1E56A0"/>
          </a:solidFill>
          <a:ln w="6350">
            <a:solidFill>
              <a:srgbClr val="FFFFFF"/>
            </a:solidFill>
            <a:prstDash val="solid"/>
          </a:ln>
        </p:spPr>
      </p:sp>
      <p:sp>
        <p:nvSpPr>
          <p:cNvPr id="10" name="Text 8"/>
          <p:cNvSpPr/>
          <p:nvPr/>
        </p:nvSpPr>
        <p:spPr>
          <a:xfrm>
            <a:off x="1691640" y="2212848"/>
            <a:ext cx="11430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Name</a:t>
            </a:r>
            <a:endParaRPr lang="en-US" sz="900" dirty="0"/>
          </a:p>
        </p:txBody>
      </p:sp>
      <p:sp>
        <p:nvSpPr>
          <p:cNvPr id="11" name="Shape 9"/>
          <p:cNvSpPr/>
          <p:nvPr/>
        </p:nvSpPr>
        <p:spPr>
          <a:xfrm>
            <a:off x="2834640" y="2212848"/>
            <a:ext cx="1143000" cy="310896"/>
          </a:xfrm>
          <a:prstGeom prst="rect">
            <a:avLst/>
          </a:prstGeom>
          <a:solidFill>
            <a:srgbClr val="1E56A0"/>
          </a:solidFill>
          <a:ln w="6350">
            <a:solidFill>
              <a:srgbClr val="FFFFFF"/>
            </a:solidFill>
            <a:prstDash val="solid"/>
          </a:ln>
        </p:spPr>
      </p:sp>
      <p:sp>
        <p:nvSpPr>
          <p:cNvPr id="12" name="Text 10"/>
          <p:cNvSpPr/>
          <p:nvPr/>
        </p:nvSpPr>
        <p:spPr>
          <a:xfrm>
            <a:off x="2834640" y="2212848"/>
            <a:ext cx="11430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Phone</a:t>
            </a:r>
            <a:endParaRPr lang="en-US" sz="900" dirty="0"/>
          </a:p>
        </p:txBody>
      </p:sp>
      <p:sp>
        <p:nvSpPr>
          <p:cNvPr id="13" name="Shape 11"/>
          <p:cNvSpPr/>
          <p:nvPr/>
        </p:nvSpPr>
        <p:spPr>
          <a:xfrm>
            <a:off x="548640" y="2523744"/>
            <a:ext cx="1143000" cy="310896"/>
          </a:xfrm>
          <a:prstGeom prst="rect">
            <a:avLst/>
          </a:prstGeom>
          <a:solidFill>
            <a:srgbClr val="FFFFFF"/>
          </a:solidFill>
          <a:ln w="6350">
            <a:solidFill>
              <a:srgbClr val="E2E8E8"/>
            </a:solidFill>
            <a:prstDash val="solid"/>
          </a:ln>
        </p:spPr>
      </p:sp>
      <p:sp>
        <p:nvSpPr>
          <p:cNvPr id="14" name="Text 12"/>
          <p:cNvSpPr/>
          <p:nvPr/>
        </p:nvSpPr>
        <p:spPr>
          <a:xfrm>
            <a:off x="548640" y="2523744"/>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1</a:t>
            </a:r>
            <a:endParaRPr lang="en-US" sz="850" dirty="0"/>
          </a:p>
        </p:txBody>
      </p:sp>
      <p:sp>
        <p:nvSpPr>
          <p:cNvPr id="15" name="Shape 13"/>
          <p:cNvSpPr/>
          <p:nvPr/>
        </p:nvSpPr>
        <p:spPr>
          <a:xfrm>
            <a:off x="1691640" y="2523744"/>
            <a:ext cx="1143000" cy="310896"/>
          </a:xfrm>
          <a:prstGeom prst="rect">
            <a:avLst/>
          </a:prstGeom>
          <a:solidFill>
            <a:srgbClr val="FFFFFF"/>
          </a:solidFill>
          <a:ln w="6350">
            <a:solidFill>
              <a:srgbClr val="E2E8E8"/>
            </a:solidFill>
            <a:prstDash val="solid"/>
          </a:ln>
        </p:spPr>
      </p:sp>
      <p:sp>
        <p:nvSpPr>
          <p:cNvPr id="16" name="Text 14"/>
          <p:cNvSpPr/>
          <p:nvPr/>
        </p:nvSpPr>
        <p:spPr>
          <a:xfrm>
            <a:off x="1691640" y="2523744"/>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Love Muili</a:t>
            </a:r>
            <a:endParaRPr lang="en-US" sz="850" dirty="0"/>
          </a:p>
        </p:txBody>
      </p:sp>
      <p:sp>
        <p:nvSpPr>
          <p:cNvPr id="17" name="Shape 15"/>
          <p:cNvSpPr/>
          <p:nvPr/>
        </p:nvSpPr>
        <p:spPr>
          <a:xfrm>
            <a:off x="2834640" y="2523744"/>
            <a:ext cx="1143000" cy="310896"/>
          </a:xfrm>
          <a:prstGeom prst="rect">
            <a:avLst/>
          </a:prstGeom>
          <a:solidFill>
            <a:srgbClr val="FFFFFF"/>
          </a:solidFill>
          <a:ln w="6350">
            <a:solidFill>
              <a:srgbClr val="E2E8E8"/>
            </a:solidFill>
            <a:prstDash val="solid"/>
          </a:ln>
        </p:spPr>
      </p:sp>
      <p:sp>
        <p:nvSpPr>
          <p:cNvPr id="18" name="Text 16"/>
          <p:cNvSpPr/>
          <p:nvPr/>
        </p:nvSpPr>
        <p:spPr>
          <a:xfrm>
            <a:off x="2834640" y="2523744"/>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0911...</a:t>
            </a:r>
            <a:endParaRPr lang="en-US" sz="850" dirty="0"/>
          </a:p>
        </p:txBody>
      </p:sp>
      <p:sp>
        <p:nvSpPr>
          <p:cNvPr id="19" name="Shape 17"/>
          <p:cNvSpPr/>
          <p:nvPr/>
        </p:nvSpPr>
        <p:spPr>
          <a:xfrm>
            <a:off x="548640" y="2834640"/>
            <a:ext cx="1143000" cy="310896"/>
          </a:xfrm>
          <a:prstGeom prst="rect">
            <a:avLst/>
          </a:prstGeom>
          <a:solidFill>
            <a:srgbClr val="F2F6FA"/>
          </a:solidFill>
          <a:ln w="6350">
            <a:solidFill>
              <a:srgbClr val="E2E8E8"/>
            </a:solidFill>
            <a:prstDash val="solid"/>
          </a:ln>
        </p:spPr>
      </p:sp>
      <p:sp>
        <p:nvSpPr>
          <p:cNvPr id="20" name="Text 18"/>
          <p:cNvSpPr/>
          <p:nvPr/>
        </p:nvSpPr>
        <p:spPr>
          <a:xfrm>
            <a:off x="548640" y="2834640"/>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2</a:t>
            </a:r>
            <a:endParaRPr lang="en-US" sz="850" dirty="0"/>
          </a:p>
        </p:txBody>
      </p:sp>
      <p:sp>
        <p:nvSpPr>
          <p:cNvPr id="21" name="Shape 19"/>
          <p:cNvSpPr/>
          <p:nvPr/>
        </p:nvSpPr>
        <p:spPr>
          <a:xfrm>
            <a:off x="1691640" y="2834640"/>
            <a:ext cx="1143000" cy="310896"/>
          </a:xfrm>
          <a:prstGeom prst="rect">
            <a:avLst/>
          </a:prstGeom>
          <a:solidFill>
            <a:srgbClr val="F2F6FA"/>
          </a:solidFill>
          <a:ln w="6350">
            <a:solidFill>
              <a:srgbClr val="E2E8E8"/>
            </a:solidFill>
            <a:prstDash val="solid"/>
          </a:ln>
        </p:spPr>
      </p:sp>
      <p:sp>
        <p:nvSpPr>
          <p:cNvPr id="22" name="Text 20"/>
          <p:cNvSpPr/>
          <p:nvPr/>
        </p:nvSpPr>
        <p:spPr>
          <a:xfrm>
            <a:off x="1691640" y="2834640"/>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Gold Ichulo</a:t>
            </a:r>
            <a:endParaRPr lang="en-US" sz="850" dirty="0"/>
          </a:p>
        </p:txBody>
      </p:sp>
      <p:sp>
        <p:nvSpPr>
          <p:cNvPr id="23" name="Shape 21"/>
          <p:cNvSpPr/>
          <p:nvPr/>
        </p:nvSpPr>
        <p:spPr>
          <a:xfrm>
            <a:off x="2834640" y="2834640"/>
            <a:ext cx="1143000" cy="310896"/>
          </a:xfrm>
          <a:prstGeom prst="rect">
            <a:avLst/>
          </a:prstGeom>
          <a:solidFill>
            <a:srgbClr val="F2F6FA"/>
          </a:solidFill>
          <a:ln w="6350">
            <a:solidFill>
              <a:srgbClr val="E2E8E8"/>
            </a:solidFill>
            <a:prstDash val="solid"/>
          </a:ln>
        </p:spPr>
      </p:sp>
      <p:sp>
        <p:nvSpPr>
          <p:cNvPr id="24" name="Text 22"/>
          <p:cNvSpPr/>
          <p:nvPr/>
        </p:nvSpPr>
        <p:spPr>
          <a:xfrm>
            <a:off x="2834640" y="2834640"/>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0911...</a:t>
            </a:r>
            <a:endParaRPr lang="en-US" sz="850" dirty="0"/>
          </a:p>
        </p:txBody>
      </p:sp>
      <p:sp>
        <p:nvSpPr>
          <p:cNvPr id="25" name="Shape 23"/>
          <p:cNvSpPr/>
          <p:nvPr/>
        </p:nvSpPr>
        <p:spPr>
          <a:xfrm>
            <a:off x="548640" y="3145536"/>
            <a:ext cx="1143000" cy="310896"/>
          </a:xfrm>
          <a:prstGeom prst="rect">
            <a:avLst/>
          </a:prstGeom>
          <a:solidFill>
            <a:srgbClr val="FFFFFF"/>
          </a:solidFill>
          <a:ln w="6350">
            <a:solidFill>
              <a:srgbClr val="E2E8E8"/>
            </a:solidFill>
            <a:prstDash val="solid"/>
          </a:ln>
        </p:spPr>
      </p:sp>
      <p:sp>
        <p:nvSpPr>
          <p:cNvPr id="26" name="Text 24"/>
          <p:cNvSpPr/>
          <p:nvPr/>
        </p:nvSpPr>
        <p:spPr>
          <a:xfrm>
            <a:off x="548640" y="3145536"/>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3</a:t>
            </a:r>
            <a:endParaRPr lang="en-US" sz="850" dirty="0"/>
          </a:p>
        </p:txBody>
      </p:sp>
      <p:sp>
        <p:nvSpPr>
          <p:cNvPr id="27" name="Shape 25"/>
          <p:cNvSpPr/>
          <p:nvPr/>
        </p:nvSpPr>
        <p:spPr>
          <a:xfrm>
            <a:off x="1691640" y="3145536"/>
            <a:ext cx="1143000" cy="310896"/>
          </a:xfrm>
          <a:prstGeom prst="rect">
            <a:avLst/>
          </a:prstGeom>
          <a:solidFill>
            <a:srgbClr val="FFFFFF"/>
          </a:solidFill>
          <a:ln w="6350">
            <a:solidFill>
              <a:srgbClr val="E2E8E8"/>
            </a:solidFill>
            <a:prstDash val="solid"/>
          </a:ln>
        </p:spPr>
      </p:sp>
      <p:sp>
        <p:nvSpPr>
          <p:cNvPr id="28" name="Text 26"/>
          <p:cNvSpPr/>
          <p:nvPr/>
        </p:nvSpPr>
        <p:spPr>
          <a:xfrm>
            <a:off x="1691640" y="3145536"/>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Fatima Anibaba</a:t>
            </a:r>
            <a:endParaRPr lang="en-US" sz="850" dirty="0"/>
          </a:p>
        </p:txBody>
      </p:sp>
      <p:sp>
        <p:nvSpPr>
          <p:cNvPr id="29" name="Shape 27"/>
          <p:cNvSpPr/>
          <p:nvPr/>
        </p:nvSpPr>
        <p:spPr>
          <a:xfrm>
            <a:off x="2834640" y="3145536"/>
            <a:ext cx="1143000" cy="310896"/>
          </a:xfrm>
          <a:prstGeom prst="rect">
            <a:avLst/>
          </a:prstGeom>
          <a:solidFill>
            <a:srgbClr val="FFFFFF"/>
          </a:solidFill>
          <a:ln w="6350">
            <a:solidFill>
              <a:srgbClr val="E2E8E8"/>
            </a:solidFill>
            <a:prstDash val="solid"/>
          </a:ln>
        </p:spPr>
      </p:sp>
      <p:sp>
        <p:nvSpPr>
          <p:cNvPr id="30" name="Text 28"/>
          <p:cNvSpPr/>
          <p:nvPr/>
        </p:nvSpPr>
        <p:spPr>
          <a:xfrm>
            <a:off x="2834640" y="3145536"/>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0823...</a:t>
            </a:r>
            <a:endParaRPr lang="en-US" sz="850" dirty="0"/>
          </a:p>
        </p:txBody>
      </p:sp>
      <p:sp>
        <p:nvSpPr>
          <p:cNvPr id="31" name="Text 29"/>
          <p:cNvSpPr/>
          <p:nvPr/>
        </p:nvSpPr>
        <p:spPr>
          <a:xfrm>
            <a:off x="4160520" y="1874520"/>
            <a:ext cx="3429000" cy="292608"/>
          </a:xfrm>
          <a:prstGeom prst="rect">
            <a:avLst/>
          </a:prstGeom>
          <a:noFill/>
          <a:ln/>
        </p:spPr>
        <p:txBody>
          <a:bodyPr wrap="square" lIns="0" tIns="0" rIns="0" bIns="0" rtlCol="0" anchor="ctr"/>
          <a:lstStyle/>
          <a:p>
            <a:pPr indent="0" marL="0">
              <a:buNone/>
            </a:pPr>
            <a:r>
              <a:rPr lang="en-US" sz="1250" b="1" dirty="0">
                <a:solidFill>
                  <a:srgbClr val="1E56A0"/>
                </a:solidFill>
                <a:latin typeface="Calibri" pitchFamily="34" charset="0"/>
                <a:ea typeface="Calibri" pitchFamily="34" charset="-122"/>
                <a:cs typeface="Calibri" pitchFamily="34" charset="-120"/>
              </a:rPr>
              <a:t>Sales Data</a:t>
            </a:r>
            <a:endParaRPr lang="en-US" sz="1250" dirty="0"/>
          </a:p>
        </p:txBody>
      </p:sp>
      <p:sp>
        <p:nvSpPr>
          <p:cNvPr id="32" name="Shape 30"/>
          <p:cNvSpPr/>
          <p:nvPr/>
        </p:nvSpPr>
        <p:spPr>
          <a:xfrm>
            <a:off x="4160520" y="2212848"/>
            <a:ext cx="1143000" cy="310896"/>
          </a:xfrm>
          <a:prstGeom prst="rect">
            <a:avLst/>
          </a:prstGeom>
          <a:solidFill>
            <a:srgbClr val="1E56A0"/>
          </a:solidFill>
          <a:ln w="6350">
            <a:solidFill>
              <a:srgbClr val="FFFFFF"/>
            </a:solidFill>
            <a:prstDash val="solid"/>
          </a:ln>
        </p:spPr>
      </p:sp>
      <p:sp>
        <p:nvSpPr>
          <p:cNvPr id="33" name="Text 31"/>
          <p:cNvSpPr/>
          <p:nvPr/>
        </p:nvSpPr>
        <p:spPr>
          <a:xfrm>
            <a:off x="4160520" y="2212848"/>
            <a:ext cx="11430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id</a:t>
            </a:r>
            <a:endParaRPr lang="en-US" sz="900" dirty="0"/>
          </a:p>
        </p:txBody>
      </p:sp>
      <p:sp>
        <p:nvSpPr>
          <p:cNvPr id="34" name="Shape 32"/>
          <p:cNvSpPr/>
          <p:nvPr/>
        </p:nvSpPr>
        <p:spPr>
          <a:xfrm>
            <a:off x="5303520" y="2212848"/>
            <a:ext cx="1143000" cy="310896"/>
          </a:xfrm>
          <a:prstGeom prst="rect">
            <a:avLst/>
          </a:prstGeom>
          <a:solidFill>
            <a:srgbClr val="1E56A0"/>
          </a:solidFill>
          <a:ln w="6350">
            <a:solidFill>
              <a:srgbClr val="FFFFFF"/>
            </a:solidFill>
            <a:prstDash val="solid"/>
          </a:ln>
        </p:spPr>
      </p:sp>
      <p:sp>
        <p:nvSpPr>
          <p:cNvPr id="35" name="Text 33"/>
          <p:cNvSpPr/>
          <p:nvPr/>
        </p:nvSpPr>
        <p:spPr>
          <a:xfrm>
            <a:off x="5303520" y="2212848"/>
            <a:ext cx="11430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Sales_amt</a:t>
            </a:r>
            <a:endParaRPr lang="en-US" sz="900" dirty="0"/>
          </a:p>
        </p:txBody>
      </p:sp>
      <p:sp>
        <p:nvSpPr>
          <p:cNvPr id="36" name="Shape 34"/>
          <p:cNvSpPr/>
          <p:nvPr/>
        </p:nvSpPr>
        <p:spPr>
          <a:xfrm>
            <a:off x="6446520" y="2212848"/>
            <a:ext cx="1143000" cy="310896"/>
          </a:xfrm>
          <a:prstGeom prst="rect">
            <a:avLst/>
          </a:prstGeom>
          <a:solidFill>
            <a:srgbClr val="1E56A0"/>
          </a:solidFill>
          <a:ln w="6350">
            <a:solidFill>
              <a:srgbClr val="FFFFFF"/>
            </a:solidFill>
            <a:prstDash val="solid"/>
          </a:ln>
        </p:spPr>
      </p:sp>
      <p:sp>
        <p:nvSpPr>
          <p:cNvPr id="37" name="Text 35"/>
          <p:cNvSpPr/>
          <p:nvPr/>
        </p:nvSpPr>
        <p:spPr>
          <a:xfrm>
            <a:off x="6446520" y="2212848"/>
            <a:ext cx="11430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City_id</a:t>
            </a:r>
            <a:endParaRPr lang="en-US" sz="900" dirty="0"/>
          </a:p>
        </p:txBody>
      </p:sp>
      <p:sp>
        <p:nvSpPr>
          <p:cNvPr id="38" name="Shape 36"/>
          <p:cNvSpPr/>
          <p:nvPr/>
        </p:nvSpPr>
        <p:spPr>
          <a:xfrm>
            <a:off x="4160520" y="2523744"/>
            <a:ext cx="1143000" cy="310896"/>
          </a:xfrm>
          <a:prstGeom prst="rect">
            <a:avLst/>
          </a:prstGeom>
          <a:solidFill>
            <a:srgbClr val="FFFFFF"/>
          </a:solidFill>
          <a:ln w="6350">
            <a:solidFill>
              <a:srgbClr val="E2E8E8"/>
            </a:solidFill>
            <a:prstDash val="solid"/>
          </a:ln>
        </p:spPr>
      </p:sp>
      <p:sp>
        <p:nvSpPr>
          <p:cNvPr id="39" name="Text 37"/>
          <p:cNvSpPr/>
          <p:nvPr/>
        </p:nvSpPr>
        <p:spPr>
          <a:xfrm>
            <a:off x="4160520" y="2523744"/>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1</a:t>
            </a:r>
            <a:endParaRPr lang="en-US" sz="850" dirty="0"/>
          </a:p>
        </p:txBody>
      </p:sp>
      <p:sp>
        <p:nvSpPr>
          <p:cNvPr id="40" name="Shape 38"/>
          <p:cNvSpPr/>
          <p:nvPr/>
        </p:nvSpPr>
        <p:spPr>
          <a:xfrm>
            <a:off x="5303520" y="2523744"/>
            <a:ext cx="1143000" cy="310896"/>
          </a:xfrm>
          <a:prstGeom prst="rect">
            <a:avLst/>
          </a:prstGeom>
          <a:solidFill>
            <a:srgbClr val="FFFFFF"/>
          </a:solidFill>
          <a:ln w="6350">
            <a:solidFill>
              <a:srgbClr val="E2E8E8"/>
            </a:solidFill>
            <a:prstDash val="solid"/>
          </a:ln>
        </p:spPr>
      </p:sp>
      <p:sp>
        <p:nvSpPr>
          <p:cNvPr id="41" name="Text 39"/>
          <p:cNvSpPr/>
          <p:nvPr/>
        </p:nvSpPr>
        <p:spPr>
          <a:xfrm>
            <a:off x="5303520" y="2523744"/>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20000</a:t>
            </a:r>
            <a:endParaRPr lang="en-US" sz="850" dirty="0"/>
          </a:p>
        </p:txBody>
      </p:sp>
      <p:sp>
        <p:nvSpPr>
          <p:cNvPr id="42" name="Shape 40"/>
          <p:cNvSpPr/>
          <p:nvPr/>
        </p:nvSpPr>
        <p:spPr>
          <a:xfrm>
            <a:off x="6446520" y="2523744"/>
            <a:ext cx="1143000" cy="310896"/>
          </a:xfrm>
          <a:prstGeom prst="rect">
            <a:avLst/>
          </a:prstGeom>
          <a:solidFill>
            <a:srgbClr val="FFFFFF"/>
          </a:solidFill>
          <a:ln w="6350">
            <a:solidFill>
              <a:srgbClr val="E2E8E8"/>
            </a:solidFill>
            <a:prstDash val="solid"/>
          </a:ln>
        </p:spPr>
      </p:sp>
      <p:sp>
        <p:nvSpPr>
          <p:cNvPr id="43" name="Text 41"/>
          <p:cNvSpPr/>
          <p:nvPr/>
        </p:nvSpPr>
        <p:spPr>
          <a:xfrm>
            <a:off x="6446520" y="2523744"/>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1</a:t>
            </a:r>
            <a:endParaRPr lang="en-US" sz="850" dirty="0"/>
          </a:p>
        </p:txBody>
      </p:sp>
      <p:sp>
        <p:nvSpPr>
          <p:cNvPr id="44" name="Shape 42"/>
          <p:cNvSpPr/>
          <p:nvPr/>
        </p:nvSpPr>
        <p:spPr>
          <a:xfrm>
            <a:off x="4160520" y="2834640"/>
            <a:ext cx="1143000" cy="310896"/>
          </a:xfrm>
          <a:prstGeom prst="rect">
            <a:avLst/>
          </a:prstGeom>
          <a:solidFill>
            <a:srgbClr val="F2F6FA"/>
          </a:solidFill>
          <a:ln w="6350">
            <a:solidFill>
              <a:srgbClr val="E2E8E8"/>
            </a:solidFill>
            <a:prstDash val="solid"/>
          </a:ln>
        </p:spPr>
      </p:sp>
      <p:sp>
        <p:nvSpPr>
          <p:cNvPr id="45" name="Text 43"/>
          <p:cNvSpPr/>
          <p:nvPr/>
        </p:nvSpPr>
        <p:spPr>
          <a:xfrm>
            <a:off x="4160520" y="2834640"/>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2</a:t>
            </a:r>
            <a:endParaRPr lang="en-US" sz="850" dirty="0"/>
          </a:p>
        </p:txBody>
      </p:sp>
      <p:sp>
        <p:nvSpPr>
          <p:cNvPr id="46" name="Shape 44"/>
          <p:cNvSpPr/>
          <p:nvPr/>
        </p:nvSpPr>
        <p:spPr>
          <a:xfrm>
            <a:off x="5303520" y="2834640"/>
            <a:ext cx="1143000" cy="310896"/>
          </a:xfrm>
          <a:prstGeom prst="rect">
            <a:avLst/>
          </a:prstGeom>
          <a:solidFill>
            <a:srgbClr val="F2F6FA"/>
          </a:solidFill>
          <a:ln w="6350">
            <a:solidFill>
              <a:srgbClr val="E2E8E8"/>
            </a:solidFill>
            <a:prstDash val="solid"/>
          </a:ln>
        </p:spPr>
      </p:sp>
      <p:sp>
        <p:nvSpPr>
          <p:cNvPr id="47" name="Text 45"/>
          <p:cNvSpPr/>
          <p:nvPr/>
        </p:nvSpPr>
        <p:spPr>
          <a:xfrm>
            <a:off x="5303520" y="2834640"/>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15000</a:t>
            </a:r>
            <a:endParaRPr lang="en-US" sz="850" dirty="0"/>
          </a:p>
        </p:txBody>
      </p:sp>
      <p:sp>
        <p:nvSpPr>
          <p:cNvPr id="48" name="Shape 46"/>
          <p:cNvSpPr/>
          <p:nvPr/>
        </p:nvSpPr>
        <p:spPr>
          <a:xfrm>
            <a:off x="6446520" y="2834640"/>
            <a:ext cx="1143000" cy="310896"/>
          </a:xfrm>
          <a:prstGeom prst="rect">
            <a:avLst/>
          </a:prstGeom>
          <a:solidFill>
            <a:srgbClr val="F2F6FA"/>
          </a:solidFill>
          <a:ln w="6350">
            <a:solidFill>
              <a:srgbClr val="E2E8E8"/>
            </a:solidFill>
            <a:prstDash val="solid"/>
          </a:ln>
        </p:spPr>
      </p:sp>
      <p:sp>
        <p:nvSpPr>
          <p:cNvPr id="49" name="Text 47"/>
          <p:cNvSpPr/>
          <p:nvPr/>
        </p:nvSpPr>
        <p:spPr>
          <a:xfrm>
            <a:off x="6446520" y="2834640"/>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3</a:t>
            </a:r>
            <a:endParaRPr lang="en-US" sz="850" dirty="0"/>
          </a:p>
        </p:txBody>
      </p:sp>
      <p:sp>
        <p:nvSpPr>
          <p:cNvPr id="50" name="Shape 48"/>
          <p:cNvSpPr/>
          <p:nvPr/>
        </p:nvSpPr>
        <p:spPr>
          <a:xfrm>
            <a:off x="4160520" y="3145536"/>
            <a:ext cx="1143000" cy="310896"/>
          </a:xfrm>
          <a:prstGeom prst="rect">
            <a:avLst/>
          </a:prstGeom>
          <a:solidFill>
            <a:srgbClr val="FFFFFF"/>
          </a:solidFill>
          <a:ln w="6350">
            <a:solidFill>
              <a:srgbClr val="E2E8E8"/>
            </a:solidFill>
            <a:prstDash val="solid"/>
          </a:ln>
        </p:spPr>
      </p:sp>
      <p:sp>
        <p:nvSpPr>
          <p:cNvPr id="51" name="Text 49"/>
          <p:cNvSpPr/>
          <p:nvPr/>
        </p:nvSpPr>
        <p:spPr>
          <a:xfrm>
            <a:off x="4160520" y="3145536"/>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3</a:t>
            </a:r>
            <a:endParaRPr lang="en-US" sz="850" dirty="0"/>
          </a:p>
        </p:txBody>
      </p:sp>
      <p:sp>
        <p:nvSpPr>
          <p:cNvPr id="52" name="Shape 50"/>
          <p:cNvSpPr/>
          <p:nvPr/>
        </p:nvSpPr>
        <p:spPr>
          <a:xfrm>
            <a:off x="5303520" y="3145536"/>
            <a:ext cx="1143000" cy="310896"/>
          </a:xfrm>
          <a:prstGeom prst="rect">
            <a:avLst/>
          </a:prstGeom>
          <a:solidFill>
            <a:srgbClr val="FFFFFF"/>
          </a:solidFill>
          <a:ln w="6350">
            <a:solidFill>
              <a:srgbClr val="E2E8E8"/>
            </a:solidFill>
            <a:prstDash val="solid"/>
          </a:ln>
        </p:spPr>
      </p:sp>
      <p:sp>
        <p:nvSpPr>
          <p:cNvPr id="53" name="Text 51"/>
          <p:cNvSpPr/>
          <p:nvPr/>
        </p:nvSpPr>
        <p:spPr>
          <a:xfrm>
            <a:off x="5303520" y="3145536"/>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40000</a:t>
            </a:r>
            <a:endParaRPr lang="en-US" sz="850" dirty="0"/>
          </a:p>
        </p:txBody>
      </p:sp>
      <p:sp>
        <p:nvSpPr>
          <p:cNvPr id="54" name="Shape 52"/>
          <p:cNvSpPr/>
          <p:nvPr/>
        </p:nvSpPr>
        <p:spPr>
          <a:xfrm>
            <a:off x="6446520" y="3145536"/>
            <a:ext cx="1143000" cy="310896"/>
          </a:xfrm>
          <a:prstGeom prst="rect">
            <a:avLst/>
          </a:prstGeom>
          <a:solidFill>
            <a:srgbClr val="FFFFFF"/>
          </a:solidFill>
          <a:ln w="6350">
            <a:solidFill>
              <a:srgbClr val="E2E8E8"/>
            </a:solidFill>
            <a:prstDash val="solid"/>
          </a:ln>
        </p:spPr>
      </p:sp>
      <p:sp>
        <p:nvSpPr>
          <p:cNvPr id="55" name="Text 53"/>
          <p:cNvSpPr/>
          <p:nvPr/>
        </p:nvSpPr>
        <p:spPr>
          <a:xfrm>
            <a:off x="6446520" y="3145536"/>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2</a:t>
            </a:r>
            <a:endParaRPr lang="en-US" sz="850" dirty="0"/>
          </a:p>
        </p:txBody>
      </p:sp>
      <p:sp>
        <p:nvSpPr>
          <p:cNvPr id="56" name="Text 54"/>
          <p:cNvSpPr/>
          <p:nvPr/>
        </p:nvSpPr>
        <p:spPr>
          <a:xfrm>
            <a:off x="7772400" y="1874520"/>
            <a:ext cx="3429000" cy="292608"/>
          </a:xfrm>
          <a:prstGeom prst="rect">
            <a:avLst/>
          </a:prstGeom>
          <a:noFill/>
          <a:ln/>
        </p:spPr>
        <p:txBody>
          <a:bodyPr wrap="square" lIns="0" tIns="0" rIns="0" bIns="0" rtlCol="0" anchor="ctr"/>
          <a:lstStyle/>
          <a:p>
            <a:pPr indent="0" marL="0">
              <a:buNone/>
            </a:pPr>
            <a:r>
              <a:rPr lang="en-US" sz="1250" b="1" dirty="0">
                <a:solidFill>
                  <a:srgbClr val="1E56A0"/>
                </a:solidFill>
                <a:latin typeface="Calibri" pitchFamily="34" charset="0"/>
                <a:ea typeface="Calibri" pitchFamily="34" charset="-122"/>
                <a:cs typeface="Calibri" pitchFamily="34" charset="-120"/>
              </a:rPr>
              <a:t>City Data</a:t>
            </a:r>
            <a:endParaRPr lang="en-US" sz="1250" dirty="0"/>
          </a:p>
        </p:txBody>
      </p:sp>
      <p:sp>
        <p:nvSpPr>
          <p:cNvPr id="57" name="Shape 55"/>
          <p:cNvSpPr/>
          <p:nvPr/>
        </p:nvSpPr>
        <p:spPr>
          <a:xfrm>
            <a:off x="7772400" y="2212848"/>
            <a:ext cx="1143000" cy="310896"/>
          </a:xfrm>
          <a:prstGeom prst="rect">
            <a:avLst/>
          </a:prstGeom>
          <a:solidFill>
            <a:srgbClr val="1E56A0"/>
          </a:solidFill>
          <a:ln w="6350">
            <a:solidFill>
              <a:srgbClr val="FFFFFF"/>
            </a:solidFill>
            <a:prstDash val="solid"/>
          </a:ln>
        </p:spPr>
      </p:sp>
      <p:sp>
        <p:nvSpPr>
          <p:cNvPr id="58" name="Text 56"/>
          <p:cNvSpPr/>
          <p:nvPr/>
        </p:nvSpPr>
        <p:spPr>
          <a:xfrm>
            <a:off x="7772400" y="2212848"/>
            <a:ext cx="11430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City_id</a:t>
            </a:r>
            <a:endParaRPr lang="en-US" sz="900" dirty="0"/>
          </a:p>
        </p:txBody>
      </p:sp>
      <p:sp>
        <p:nvSpPr>
          <p:cNvPr id="59" name="Shape 57"/>
          <p:cNvSpPr/>
          <p:nvPr/>
        </p:nvSpPr>
        <p:spPr>
          <a:xfrm>
            <a:off x="8915400" y="2212848"/>
            <a:ext cx="1143000" cy="310896"/>
          </a:xfrm>
          <a:prstGeom prst="rect">
            <a:avLst/>
          </a:prstGeom>
          <a:solidFill>
            <a:srgbClr val="1E56A0"/>
          </a:solidFill>
          <a:ln w="6350">
            <a:solidFill>
              <a:srgbClr val="FFFFFF"/>
            </a:solidFill>
            <a:prstDash val="solid"/>
          </a:ln>
        </p:spPr>
      </p:sp>
      <p:sp>
        <p:nvSpPr>
          <p:cNvPr id="60" name="Text 58"/>
          <p:cNvSpPr/>
          <p:nvPr/>
        </p:nvSpPr>
        <p:spPr>
          <a:xfrm>
            <a:off x="8915400" y="2212848"/>
            <a:ext cx="11430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Name</a:t>
            </a:r>
            <a:endParaRPr lang="en-US" sz="900" dirty="0"/>
          </a:p>
        </p:txBody>
      </p:sp>
      <p:sp>
        <p:nvSpPr>
          <p:cNvPr id="61" name="Shape 59"/>
          <p:cNvSpPr/>
          <p:nvPr/>
        </p:nvSpPr>
        <p:spPr>
          <a:xfrm>
            <a:off x="10058400" y="2212848"/>
            <a:ext cx="1143000" cy="310896"/>
          </a:xfrm>
          <a:prstGeom prst="rect">
            <a:avLst/>
          </a:prstGeom>
          <a:solidFill>
            <a:srgbClr val="1E56A0"/>
          </a:solidFill>
          <a:ln w="6350">
            <a:solidFill>
              <a:srgbClr val="FFFFFF"/>
            </a:solidFill>
            <a:prstDash val="solid"/>
          </a:ln>
        </p:spPr>
      </p:sp>
      <p:sp>
        <p:nvSpPr>
          <p:cNvPr id="62" name="Text 60"/>
          <p:cNvSpPr/>
          <p:nvPr/>
        </p:nvSpPr>
        <p:spPr>
          <a:xfrm>
            <a:off x="10058400" y="2212848"/>
            <a:ext cx="11430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Country</a:t>
            </a:r>
            <a:endParaRPr lang="en-US" sz="900" dirty="0"/>
          </a:p>
        </p:txBody>
      </p:sp>
      <p:sp>
        <p:nvSpPr>
          <p:cNvPr id="63" name="Shape 61"/>
          <p:cNvSpPr/>
          <p:nvPr/>
        </p:nvSpPr>
        <p:spPr>
          <a:xfrm>
            <a:off x="7772400" y="2523744"/>
            <a:ext cx="1143000" cy="310896"/>
          </a:xfrm>
          <a:prstGeom prst="rect">
            <a:avLst/>
          </a:prstGeom>
          <a:solidFill>
            <a:srgbClr val="FFFFFF"/>
          </a:solidFill>
          <a:ln w="6350">
            <a:solidFill>
              <a:srgbClr val="E2E8E8"/>
            </a:solidFill>
            <a:prstDash val="solid"/>
          </a:ln>
        </p:spPr>
      </p:sp>
      <p:sp>
        <p:nvSpPr>
          <p:cNvPr id="64" name="Text 62"/>
          <p:cNvSpPr/>
          <p:nvPr/>
        </p:nvSpPr>
        <p:spPr>
          <a:xfrm>
            <a:off x="7772400" y="2523744"/>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1</a:t>
            </a:r>
            <a:endParaRPr lang="en-US" sz="850" dirty="0"/>
          </a:p>
        </p:txBody>
      </p:sp>
      <p:sp>
        <p:nvSpPr>
          <p:cNvPr id="65" name="Shape 63"/>
          <p:cNvSpPr/>
          <p:nvPr/>
        </p:nvSpPr>
        <p:spPr>
          <a:xfrm>
            <a:off x="8915400" y="2523744"/>
            <a:ext cx="1143000" cy="310896"/>
          </a:xfrm>
          <a:prstGeom prst="rect">
            <a:avLst/>
          </a:prstGeom>
          <a:solidFill>
            <a:srgbClr val="FFFFFF"/>
          </a:solidFill>
          <a:ln w="6350">
            <a:solidFill>
              <a:srgbClr val="E2E8E8"/>
            </a:solidFill>
            <a:prstDash val="solid"/>
          </a:ln>
        </p:spPr>
      </p:sp>
      <p:sp>
        <p:nvSpPr>
          <p:cNvPr id="66" name="Text 64"/>
          <p:cNvSpPr/>
          <p:nvPr/>
        </p:nvSpPr>
        <p:spPr>
          <a:xfrm>
            <a:off x="8915400" y="2523744"/>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Lagos</a:t>
            </a:r>
            <a:endParaRPr lang="en-US" sz="850" dirty="0"/>
          </a:p>
        </p:txBody>
      </p:sp>
      <p:sp>
        <p:nvSpPr>
          <p:cNvPr id="67" name="Shape 65"/>
          <p:cNvSpPr/>
          <p:nvPr/>
        </p:nvSpPr>
        <p:spPr>
          <a:xfrm>
            <a:off x="10058400" y="2523744"/>
            <a:ext cx="1143000" cy="310896"/>
          </a:xfrm>
          <a:prstGeom prst="rect">
            <a:avLst/>
          </a:prstGeom>
          <a:solidFill>
            <a:srgbClr val="FFFFFF"/>
          </a:solidFill>
          <a:ln w="6350">
            <a:solidFill>
              <a:srgbClr val="E2E8E8"/>
            </a:solidFill>
            <a:prstDash val="solid"/>
          </a:ln>
        </p:spPr>
      </p:sp>
      <p:sp>
        <p:nvSpPr>
          <p:cNvPr id="68" name="Text 66"/>
          <p:cNvSpPr/>
          <p:nvPr/>
        </p:nvSpPr>
        <p:spPr>
          <a:xfrm>
            <a:off x="10058400" y="2523744"/>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Nigeria</a:t>
            </a:r>
            <a:endParaRPr lang="en-US" sz="850" dirty="0"/>
          </a:p>
        </p:txBody>
      </p:sp>
      <p:sp>
        <p:nvSpPr>
          <p:cNvPr id="69" name="Shape 67"/>
          <p:cNvSpPr/>
          <p:nvPr/>
        </p:nvSpPr>
        <p:spPr>
          <a:xfrm>
            <a:off x="7772400" y="2834640"/>
            <a:ext cx="1143000" cy="310896"/>
          </a:xfrm>
          <a:prstGeom prst="rect">
            <a:avLst/>
          </a:prstGeom>
          <a:solidFill>
            <a:srgbClr val="F2F6FA"/>
          </a:solidFill>
          <a:ln w="6350">
            <a:solidFill>
              <a:srgbClr val="E2E8E8"/>
            </a:solidFill>
            <a:prstDash val="solid"/>
          </a:ln>
        </p:spPr>
      </p:sp>
      <p:sp>
        <p:nvSpPr>
          <p:cNvPr id="70" name="Text 68"/>
          <p:cNvSpPr/>
          <p:nvPr/>
        </p:nvSpPr>
        <p:spPr>
          <a:xfrm>
            <a:off x="7772400" y="2834640"/>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2</a:t>
            </a:r>
            <a:endParaRPr lang="en-US" sz="850" dirty="0"/>
          </a:p>
        </p:txBody>
      </p:sp>
      <p:sp>
        <p:nvSpPr>
          <p:cNvPr id="71" name="Shape 69"/>
          <p:cNvSpPr/>
          <p:nvPr/>
        </p:nvSpPr>
        <p:spPr>
          <a:xfrm>
            <a:off x="8915400" y="2834640"/>
            <a:ext cx="1143000" cy="310896"/>
          </a:xfrm>
          <a:prstGeom prst="rect">
            <a:avLst/>
          </a:prstGeom>
          <a:solidFill>
            <a:srgbClr val="F2F6FA"/>
          </a:solidFill>
          <a:ln w="6350">
            <a:solidFill>
              <a:srgbClr val="E2E8E8"/>
            </a:solidFill>
            <a:prstDash val="solid"/>
          </a:ln>
        </p:spPr>
      </p:sp>
      <p:sp>
        <p:nvSpPr>
          <p:cNvPr id="72" name="Text 70"/>
          <p:cNvSpPr/>
          <p:nvPr/>
        </p:nvSpPr>
        <p:spPr>
          <a:xfrm>
            <a:off x="8915400" y="2834640"/>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Abuja</a:t>
            </a:r>
            <a:endParaRPr lang="en-US" sz="850" dirty="0"/>
          </a:p>
        </p:txBody>
      </p:sp>
      <p:sp>
        <p:nvSpPr>
          <p:cNvPr id="73" name="Shape 71"/>
          <p:cNvSpPr/>
          <p:nvPr/>
        </p:nvSpPr>
        <p:spPr>
          <a:xfrm>
            <a:off x="10058400" y="2834640"/>
            <a:ext cx="1143000" cy="310896"/>
          </a:xfrm>
          <a:prstGeom prst="rect">
            <a:avLst/>
          </a:prstGeom>
          <a:solidFill>
            <a:srgbClr val="F2F6FA"/>
          </a:solidFill>
          <a:ln w="6350">
            <a:solidFill>
              <a:srgbClr val="E2E8E8"/>
            </a:solidFill>
            <a:prstDash val="solid"/>
          </a:ln>
        </p:spPr>
      </p:sp>
      <p:sp>
        <p:nvSpPr>
          <p:cNvPr id="74" name="Text 72"/>
          <p:cNvSpPr/>
          <p:nvPr/>
        </p:nvSpPr>
        <p:spPr>
          <a:xfrm>
            <a:off x="10058400" y="2834640"/>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Nigeria</a:t>
            </a:r>
            <a:endParaRPr lang="en-US" sz="850" dirty="0"/>
          </a:p>
        </p:txBody>
      </p:sp>
      <p:sp>
        <p:nvSpPr>
          <p:cNvPr id="75" name="Shape 73"/>
          <p:cNvSpPr/>
          <p:nvPr/>
        </p:nvSpPr>
        <p:spPr>
          <a:xfrm>
            <a:off x="7772400" y="3145536"/>
            <a:ext cx="1143000" cy="310896"/>
          </a:xfrm>
          <a:prstGeom prst="rect">
            <a:avLst/>
          </a:prstGeom>
          <a:solidFill>
            <a:srgbClr val="FFFFFF"/>
          </a:solidFill>
          <a:ln w="6350">
            <a:solidFill>
              <a:srgbClr val="E2E8E8"/>
            </a:solidFill>
            <a:prstDash val="solid"/>
          </a:ln>
        </p:spPr>
      </p:sp>
      <p:sp>
        <p:nvSpPr>
          <p:cNvPr id="76" name="Text 74"/>
          <p:cNvSpPr/>
          <p:nvPr/>
        </p:nvSpPr>
        <p:spPr>
          <a:xfrm>
            <a:off x="7772400" y="3145536"/>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3</a:t>
            </a:r>
            <a:endParaRPr lang="en-US" sz="850" dirty="0"/>
          </a:p>
        </p:txBody>
      </p:sp>
      <p:sp>
        <p:nvSpPr>
          <p:cNvPr id="77" name="Shape 75"/>
          <p:cNvSpPr/>
          <p:nvPr/>
        </p:nvSpPr>
        <p:spPr>
          <a:xfrm>
            <a:off x="8915400" y="3145536"/>
            <a:ext cx="1143000" cy="310896"/>
          </a:xfrm>
          <a:prstGeom prst="rect">
            <a:avLst/>
          </a:prstGeom>
          <a:solidFill>
            <a:srgbClr val="FFFFFF"/>
          </a:solidFill>
          <a:ln w="6350">
            <a:solidFill>
              <a:srgbClr val="E2E8E8"/>
            </a:solidFill>
            <a:prstDash val="solid"/>
          </a:ln>
        </p:spPr>
      </p:sp>
      <p:sp>
        <p:nvSpPr>
          <p:cNvPr id="78" name="Text 76"/>
          <p:cNvSpPr/>
          <p:nvPr/>
        </p:nvSpPr>
        <p:spPr>
          <a:xfrm>
            <a:off x="8915400" y="3145536"/>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Washington</a:t>
            </a:r>
            <a:endParaRPr lang="en-US" sz="850" dirty="0"/>
          </a:p>
        </p:txBody>
      </p:sp>
      <p:sp>
        <p:nvSpPr>
          <p:cNvPr id="79" name="Shape 77"/>
          <p:cNvSpPr/>
          <p:nvPr/>
        </p:nvSpPr>
        <p:spPr>
          <a:xfrm>
            <a:off x="10058400" y="3145536"/>
            <a:ext cx="1143000" cy="310896"/>
          </a:xfrm>
          <a:prstGeom prst="rect">
            <a:avLst/>
          </a:prstGeom>
          <a:solidFill>
            <a:srgbClr val="FFFFFF"/>
          </a:solidFill>
          <a:ln w="6350">
            <a:solidFill>
              <a:srgbClr val="E2E8E8"/>
            </a:solidFill>
            <a:prstDash val="solid"/>
          </a:ln>
        </p:spPr>
      </p:sp>
      <p:sp>
        <p:nvSpPr>
          <p:cNvPr id="80" name="Text 78"/>
          <p:cNvSpPr/>
          <p:nvPr/>
        </p:nvSpPr>
        <p:spPr>
          <a:xfrm>
            <a:off x="10058400" y="3145536"/>
            <a:ext cx="1143000" cy="310896"/>
          </a:xfrm>
          <a:prstGeom prst="rect">
            <a:avLst/>
          </a:prstGeom>
          <a:noFill/>
          <a:ln/>
        </p:spPr>
        <p:txBody>
          <a:bodyPr wrap="square" lIns="0" tIns="0" rIns="0" bIns="0" rtlCol="0" anchor="ctr"/>
          <a:lstStyle/>
          <a:p>
            <a:pPr algn="ctr" indent="0" marL="0">
              <a:buNone/>
            </a:pPr>
            <a:r>
              <a:rPr lang="en-US" sz="850" dirty="0">
                <a:solidFill>
                  <a:srgbClr val="16202A"/>
                </a:solidFill>
                <a:latin typeface="Calibri" pitchFamily="34" charset="0"/>
                <a:ea typeface="Calibri" pitchFamily="34" charset="-122"/>
                <a:cs typeface="Calibri" pitchFamily="34" charset="-120"/>
              </a:rPr>
              <a:t>USA</a:t>
            </a:r>
            <a:endParaRPr lang="en-US" sz="850" dirty="0"/>
          </a:p>
        </p:txBody>
      </p:sp>
      <p:sp>
        <p:nvSpPr>
          <p:cNvPr id="81" name="Shape 79"/>
          <p:cNvSpPr/>
          <p:nvPr/>
        </p:nvSpPr>
        <p:spPr>
          <a:xfrm>
            <a:off x="548640" y="4160520"/>
            <a:ext cx="10652760" cy="960120"/>
          </a:xfrm>
          <a:prstGeom prst="roundRect">
            <a:avLst>
              <a:gd name="adj" fmla="val 6667"/>
            </a:avLst>
          </a:prstGeom>
          <a:solidFill>
            <a:srgbClr val="F2F6FA"/>
          </a:solidFill>
          <a:ln/>
        </p:spPr>
      </p:sp>
      <p:sp>
        <p:nvSpPr>
          <p:cNvPr id="82" name="Text 80"/>
          <p:cNvSpPr/>
          <p:nvPr/>
        </p:nvSpPr>
        <p:spPr>
          <a:xfrm>
            <a:off x="777240" y="4160520"/>
            <a:ext cx="10241280" cy="960120"/>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Why split it up?  </a:t>
            </a:r>
            <a:pPr indent="0" marL="0">
              <a:buNone/>
            </a:pPr>
            <a:r>
              <a:rPr lang="en-US" sz="1150" dirty="0">
                <a:solidFill>
                  <a:srgbClr val="5B6B79"/>
                </a:solidFill>
                <a:latin typeface="Calibri" pitchFamily="34" charset="0"/>
                <a:ea typeface="Calibri" pitchFamily="34" charset="-122"/>
                <a:cs typeface="Calibri" pitchFamily="34" charset="-120"/>
              </a:rPr>
              <a:t>Sales Data doesn’t repeat the customer’s name or the city’s country — it just stores the matching ID. Each fact lives in exactly one place, and tables </a:t>
            </a:r>
            <a:pPr indent="0" marL="0">
              <a:buNone/>
            </a:pPr>
            <a:r>
              <a:rPr lang="en-US" sz="1150" b="1" i="1" dirty="0">
                <a:solidFill>
                  <a:srgbClr val="5B6B79"/>
                </a:solidFill>
                <a:latin typeface="Calibri" pitchFamily="34" charset="0"/>
                <a:ea typeface="Calibri" pitchFamily="34" charset="-122"/>
                <a:cs typeface="Calibri" pitchFamily="34" charset="-120"/>
              </a:rPr>
              <a:t>reference</a:t>
            </a:r>
            <a:pPr indent="0" marL="0">
              <a:buNone/>
            </a:pPr>
            <a:r>
              <a:rPr lang="en-US" sz="1150" dirty="0">
                <a:solidFill>
                  <a:srgbClr val="5B6B79"/>
                </a:solidFill>
                <a:latin typeface="Calibri" pitchFamily="34" charset="0"/>
                <a:ea typeface="Calibri" pitchFamily="34" charset="-122"/>
                <a:cs typeface="Calibri" pitchFamily="34" charset="-120"/>
              </a:rPr>
              <a:t> each other instead of duplicating data. That link — City_id in Sales pointing to City_id in City Data — is exactly what a key does, which is where we’re headed next.</a:t>
            </a:r>
            <a:endParaRPr lang="en-US" sz="1150" dirty="0"/>
          </a:p>
        </p:txBody>
      </p:sp>
      <p:sp>
        <p:nvSpPr>
          <p:cNvPr id="83" name="Shape 81"/>
          <p:cNvSpPr/>
          <p:nvPr/>
        </p:nvSpPr>
        <p:spPr>
          <a:xfrm>
            <a:off x="548640" y="5257800"/>
            <a:ext cx="10652760" cy="594360"/>
          </a:xfrm>
          <a:prstGeom prst="roundRect">
            <a:avLst>
              <a:gd name="adj" fmla="val 10769"/>
            </a:avLst>
          </a:prstGeom>
          <a:solidFill>
            <a:srgbClr val="E3F8F1"/>
          </a:solidFill>
          <a:ln/>
        </p:spPr>
      </p:sp>
      <p:sp>
        <p:nvSpPr>
          <p:cNvPr id="84" name="Text 82"/>
          <p:cNvSpPr/>
          <p:nvPr/>
        </p:nvSpPr>
        <p:spPr>
          <a:xfrm>
            <a:off x="777240" y="5257800"/>
            <a:ext cx="10241280" cy="594360"/>
          </a:xfrm>
          <a:prstGeom prst="rect">
            <a:avLst/>
          </a:prstGeom>
          <a:noFill/>
          <a:ln/>
        </p:spPr>
        <p:txBody>
          <a:bodyPr wrap="square" lIns="0" tIns="0" rIns="0" bIns="0" rtlCol="0" anchor="ctr"/>
          <a:lstStyle/>
          <a:p>
            <a:pPr indent="0" marL="0">
              <a:buNone/>
            </a:pPr>
            <a:r>
              <a:rPr lang="en-US" sz="1150" b="1" dirty="0">
                <a:solidFill>
                  <a:srgbClr val="106A56"/>
                </a:solidFill>
                <a:latin typeface="Calibri" pitchFamily="34" charset="0"/>
                <a:ea typeface="Calibri" pitchFamily="34" charset="-122"/>
                <a:cs typeface="Calibri" pitchFamily="34" charset="-120"/>
              </a:rPr>
              <a:t>Sound familiar?  </a:t>
            </a:r>
            <a:pPr indent="0" marL="0">
              <a:buNone/>
            </a:pPr>
            <a:r>
              <a:rPr lang="en-US" sz="1150" dirty="0">
                <a:solidFill>
                  <a:srgbClr val="106A56"/>
                </a:solidFill>
                <a:latin typeface="Calibri" pitchFamily="34" charset="0"/>
                <a:ea typeface="Calibri" pitchFamily="34" charset="-122"/>
                <a:cs typeface="Calibri" pitchFamily="34" charset="-120"/>
              </a:rPr>
              <a:t>This is exactly how Evolve Corp’s employees, departments, and salaries tables relate to each other.</a:t>
            </a:r>
            <a:endParaRPr lang="en-US" sz="1150" dirty="0"/>
          </a:p>
        </p:txBody>
      </p:sp>
      <p:sp>
        <p:nvSpPr>
          <p:cNvPr id="85" name="Text 8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86" name="Text 8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a:t>
            </a:r>
            <a:endParaRPr lang="en-US" sz="1050" dirty="0"/>
          </a:p>
        </p:txBody>
      </p:sp>
      <p:sp>
        <p:nvSpPr>
          <p:cNvPr id="4" name="Text 2"/>
          <p:cNvSpPr/>
          <p:nvPr/>
        </p:nvSpPr>
        <p:spPr>
          <a:xfrm>
            <a:off x="548640" y="914400"/>
            <a:ext cx="73152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DBMS vs. RDBMS</a:t>
            </a:r>
            <a:endParaRPr lang="en-US" sz="2900" dirty="0"/>
          </a:p>
        </p:txBody>
      </p:sp>
      <p:sp>
        <p:nvSpPr>
          <p:cNvPr id="5" name="Text 3"/>
          <p:cNvSpPr/>
          <p:nvPr/>
        </p:nvSpPr>
        <p:spPr>
          <a:xfrm>
            <a:off x="548640" y="1508760"/>
            <a:ext cx="1005840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One term is the umbrella; the other is the specific type we’ll use all course long</a:t>
            </a:r>
            <a:endParaRPr lang="en-US" sz="1300" dirty="0"/>
          </a:p>
        </p:txBody>
      </p:sp>
      <p:sp>
        <p:nvSpPr>
          <p:cNvPr id="6" name="Shape 4"/>
          <p:cNvSpPr/>
          <p:nvPr/>
        </p:nvSpPr>
        <p:spPr>
          <a:xfrm>
            <a:off x="548640" y="2103120"/>
            <a:ext cx="5212080" cy="2377440"/>
          </a:xfrm>
          <a:prstGeom prst="roundRect">
            <a:avLst>
              <a:gd name="adj" fmla="val 3077"/>
            </a:avLst>
          </a:prstGeom>
          <a:solidFill>
            <a:srgbClr val="F2F6FA"/>
          </a:solidFill>
          <a:ln/>
        </p:spPr>
      </p:sp>
      <p:sp>
        <p:nvSpPr>
          <p:cNvPr id="7" name="Text 5"/>
          <p:cNvSpPr/>
          <p:nvPr/>
        </p:nvSpPr>
        <p:spPr>
          <a:xfrm>
            <a:off x="777240" y="2267712"/>
            <a:ext cx="4754880" cy="411480"/>
          </a:xfrm>
          <a:prstGeom prst="rect">
            <a:avLst/>
          </a:prstGeom>
          <a:noFill/>
          <a:ln/>
        </p:spPr>
        <p:txBody>
          <a:bodyPr wrap="square" lIns="0" tIns="0" rIns="0" bIns="0" rtlCol="0" anchor="ctr"/>
          <a:lstStyle/>
          <a:p>
            <a:pPr indent="0" marL="0">
              <a:buNone/>
            </a:pPr>
            <a:r>
              <a:rPr lang="en-US" sz="2000" b="1" dirty="0">
                <a:solidFill>
                  <a:srgbClr val="1E56A0"/>
                </a:solidFill>
                <a:latin typeface="Cambria" pitchFamily="34" charset="0"/>
                <a:ea typeface="Cambria" pitchFamily="34" charset="-122"/>
                <a:cs typeface="Cambria" pitchFamily="34" charset="-120"/>
              </a:rPr>
              <a:t>DBMS</a:t>
            </a:r>
            <a:endParaRPr lang="en-US" sz="2000" dirty="0"/>
          </a:p>
        </p:txBody>
      </p:sp>
      <p:sp>
        <p:nvSpPr>
          <p:cNvPr id="8" name="Text 6"/>
          <p:cNvSpPr/>
          <p:nvPr/>
        </p:nvSpPr>
        <p:spPr>
          <a:xfrm>
            <a:off x="777240" y="2743200"/>
            <a:ext cx="4754880" cy="1554480"/>
          </a:xfrm>
          <a:prstGeom prst="rect">
            <a:avLst/>
          </a:prstGeom>
          <a:noFill/>
          <a:ln/>
        </p:spPr>
        <p:txBody>
          <a:bodyPr wrap="square" lIns="0" tIns="0" rIns="0" bIns="0" rtlCol="0" anchor="ctr"/>
          <a:lstStyle/>
          <a:p>
            <a:pPr indent="0" marL="0">
              <a:buNone/>
            </a:pPr>
            <a:r>
              <a:rPr lang="en-US" sz="1250" dirty="0">
                <a:solidFill>
                  <a:srgbClr val="5B6B79"/>
                </a:solidFill>
                <a:latin typeface="Calibri" pitchFamily="34" charset="0"/>
                <a:ea typeface="Calibri" pitchFamily="34" charset="-122"/>
                <a:cs typeface="Calibri" pitchFamily="34" charset="-120"/>
              </a:rPr>
              <a:t>Database Management Software — the general umbrella term for any software used to manage a database, of any model.</a:t>
            </a:r>
            <a:endParaRPr lang="en-US" sz="1250" dirty="0"/>
          </a:p>
        </p:txBody>
      </p:sp>
      <p:sp>
        <p:nvSpPr>
          <p:cNvPr id="9" name="Shape 7"/>
          <p:cNvSpPr/>
          <p:nvPr/>
        </p:nvSpPr>
        <p:spPr>
          <a:xfrm>
            <a:off x="5989320" y="2103120"/>
            <a:ext cx="5212080" cy="2377440"/>
          </a:xfrm>
          <a:prstGeom prst="roundRect">
            <a:avLst>
              <a:gd name="adj" fmla="val 3077"/>
            </a:avLst>
          </a:prstGeom>
          <a:solidFill>
            <a:srgbClr val="F2F6FA"/>
          </a:solidFill>
          <a:ln/>
        </p:spPr>
      </p:sp>
      <p:sp>
        <p:nvSpPr>
          <p:cNvPr id="10" name="Text 8"/>
          <p:cNvSpPr/>
          <p:nvPr/>
        </p:nvSpPr>
        <p:spPr>
          <a:xfrm>
            <a:off x="6217920" y="2267712"/>
            <a:ext cx="4754880" cy="411480"/>
          </a:xfrm>
          <a:prstGeom prst="rect">
            <a:avLst/>
          </a:prstGeom>
          <a:noFill/>
          <a:ln/>
        </p:spPr>
        <p:txBody>
          <a:bodyPr wrap="square" lIns="0" tIns="0" rIns="0" bIns="0" rtlCol="0" anchor="ctr"/>
          <a:lstStyle/>
          <a:p>
            <a:pPr indent="0" marL="0">
              <a:buNone/>
            </a:pPr>
            <a:r>
              <a:rPr lang="en-US" sz="2000" b="1" dirty="0">
                <a:solidFill>
                  <a:srgbClr val="1E56A0"/>
                </a:solidFill>
                <a:latin typeface="Cambria" pitchFamily="34" charset="0"/>
                <a:ea typeface="Cambria" pitchFamily="34" charset="-122"/>
                <a:cs typeface="Cambria" pitchFamily="34" charset="-120"/>
              </a:rPr>
              <a:t>RDBMS</a:t>
            </a:r>
            <a:endParaRPr lang="en-US" sz="2000" dirty="0"/>
          </a:p>
        </p:txBody>
      </p:sp>
      <p:sp>
        <p:nvSpPr>
          <p:cNvPr id="11" name="Text 9"/>
          <p:cNvSpPr/>
          <p:nvPr/>
        </p:nvSpPr>
        <p:spPr>
          <a:xfrm>
            <a:off x="6217920" y="2743200"/>
            <a:ext cx="4754880" cy="1554480"/>
          </a:xfrm>
          <a:prstGeom prst="rect">
            <a:avLst/>
          </a:prstGeom>
          <a:noFill/>
          <a:ln/>
        </p:spPr>
        <p:txBody>
          <a:bodyPr wrap="square" lIns="0" tIns="0" rIns="0" bIns="0" rtlCol="0" anchor="ctr"/>
          <a:lstStyle/>
          <a:p>
            <a:pPr indent="0" marL="0">
              <a:buNone/>
            </a:pPr>
            <a:r>
              <a:rPr lang="en-US" sz="1250" dirty="0">
                <a:solidFill>
                  <a:srgbClr val="5B6B79"/>
                </a:solidFill>
                <a:latin typeface="Calibri" pitchFamily="34" charset="0"/>
                <a:ea typeface="Calibri" pitchFamily="34" charset="-122"/>
                <a:cs typeface="Calibri" pitchFamily="34" charset="-120"/>
              </a:rPr>
              <a:t>A subset of DBMS, specifically for managing relational databases — tables linked by keys. MySQL, the tool we use in this course, is an RDBMS.</a:t>
            </a:r>
            <a:endParaRPr lang="en-US" sz="1250" dirty="0"/>
          </a:p>
        </p:txBody>
      </p:sp>
      <p:sp>
        <p:nvSpPr>
          <p:cNvPr id="12" name="Shape 10"/>
          <p:cNvSpPr/>
          <p:nvPr/>
        </p:nvSpPr>
        <p:spPr>
          <a:xfrm>
            <a:off x="548640" y="4709160"/>
            <a:ext cx="10652760" cy="685800"/>
          </a:xfrm>
          <a:prstGeom prst="roundRect">
            <a:avLst>
              <a:gd name="adj" fmla="val 9333"/>
            </a:avLst>
          </a:prstGeom>
          <a:solidFill>
            <a:srgbClr val="E3F8F1"/>
          </a:solidFill>
          <a:ln/>
        </p:spPr>
      </p:sp>
      <p:sp>
        <p:nvSpPr>
          <p:cNvPr id="13" name="Text 11"/>
          <p:cNvSpPr/>
          <p:nvPr/>
        </p:nvSpPr>
        <p:spPr>
          <a:xfrm>
            <a:off x="777240" y="4709160"/>
            <a:ext cx="10241280" cy="685800"/>
          </a:xfrm>
          <a:prstGeom prst="rect">
            <a:avLst/>
          </a:prstGeom>
          <a:noFill/>
          <a:ln/>
        </p:spPr>
        <p:txBody>
          <a:bodyPr wrap="square" lIns="0" tIns="0" rIns="0" bIns="0" rtlCol="0" anchor="ctr"/>
          <a:lstStyle/>
          <a:p>
            <a:pPr indent="0" marL="0">
              <a:buNone/>
            </a:pPr>
            <a:r>
              <a:rPr lang="en-US" sz="1250" b="1" dirty="0">
                <a:solidFill>
                  <a:srgbClr val="106A56"/>
                </a:solidFill>
                <a:latin typeface="Calibri" pitchFamily="34" charset="0"/>
                <a:ea typeface="Calibri" pitchFamily="34" charset="-122"/>
                <a:cs typeface="Calibri" pitchFamily="34" charset="-120"/>
              </a:rPr>
              <a:t>In short:  </a:t>
            </a:r>
            <a:pPr indent="0" marL="0">
              <a:buNone/>
            </a:pPr>
            <a:r>
              <a:rPr lang="en-US" sz="1250" dirty="0">
                <a:solidFill>
                  <a:srgbClr val="106A56"/>
                </a:solidFill>
                <a:latin typeface="Calibri" pitchFamily="34" charset="0"/>
                <a:ea typeface="Calibri" pitchFamily="34" charset="-122"/>
                <a:cs typeface="Calibri" pitchFamily="34" charset="-120"/>
              </a:rPr>
              <a:t>every RDBMS is a DBMS, but not every DBMS is an RDBMS. MongoDB is a DBMS, but not an RDBMS — it doesn’t use tables and keys the relational way.</a:t>
            </a:r>
            <a:endParaRPr lang="en-US" sz="1250" dirty="0"/>
          </a:p>
        </p:txBody>
      </p:sp>
      <p:sp>
        <p:nvSpPr>
          <p:cNvPr id="14" name="Text 1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5"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C2C"/>
        </a:solidFill>
      </p:bgPr>
    </p:bg>
    <p:spTree>
      <p:nvGrpSpPr>
        <p:cNvPr id="1" name=""/>
        <p:cNvGrpSpPr/>
        <p:nvPr/>
      </p:nvGrpSpPr>
      <p:grpSpPr>
        <a:xfrm>
          <a:off x="0" y="0"/>
          <a:ext cx="0" cy="0"/>
          <a:chOff x="0" y="0"/>
          <a:chExt cx="0" cy="0"/>
        </a:xfrm>
      </p:grpSpPr>
      <p:sp>
        <p:nvSpPr>
          <p:cNvPr id="2" name="Shape 0"/>
          <p:cNvSpPr/>
          <p:nvPr/>
        </p:nvSpPr>
        <p:spPr>
          <a:xfrm>
            <a:off x="9692640" y="731520"/>
            <a:ext cx="146304" cy="146304"/>
          </a:xfrm>
          <a:prstGeom prst="ellipse">
            <a:avLst/>
          </a:prstGeom>
          <a:solidFill>
            <a:srgbClr val="0FA3B1"/>
          </a:solidFill>
          <a:ln/>
        </p:spPr>
      </p:sp>
      <p:sp>
        <p:nvSpPr>
          <p:cNvPr id="3" name="Shape 1"/>
          <p:cNvSpPr/>
          <p:nvPr/>
        </p:nvSpPr>
        <p:spPr>
          <a:xfrm>
            <a:off x="10424160" y="1188720"/>
            <a:ext cx="146304" cy="146304"/>
          </a:xfrm>
          <a:prstGeom prst="ellipse">
            <a:avLst/>
          </a:prstGeom>
          <a:solidFill>
            <a:srgbClr val="0FA3B1"/>
          </a:solidFill>
          <a:ln/>
        </p:spPr>
      </p:sp>
      <p:sp>
        <p:nvSpPr>
          <p:cNvPr id="4" name="Shape 2"/>
          <p:cNvSpPr/>
          <p:nvPr/>
        </p:nvSpPr>
        <p:spPr>
          <a:xfrm>
            <a:off x="9326880" y="1645920"/>
            <a:ext cx="146304" cy="146304"/>
          </a:xfrm>
          <a:prstGeom prst="ellipse">
            <a:avLst/>
          </a:prstGeom>
          <a:solidFill>
            <a:srgbClr val="0FA3B1"/>
          </a:solidFill>
          <a:ln/>
        </p:spPr>
      </p:sp>
      <p:sp>
        <p:nvSpPr>
          <p:cNvPr id="5" name="Shape 3"/>
          <p:cNvSpPr/>
          <p:nvPr/>
        </p:nvSpPr>
        <p:spPr>
          <a:xfrm>
            <a:off x="11064240" y="822960"/>
            <a:ext cx="146304" cy="146304"/>
          </a:xfrm>
          <a:prstGeom prst="ellipse">
            <a:avLst/>
          </a:prstGeom>
          <a:solidFill>
            <a:srgbClr val="0FA3B1"/>
          </a:solidFill>
          <a:ln/>
        </p:spPr>
      </p:sp>
      <p:sp>
        <p:nvSpPr>
          <p:cNvPr id="6" name="Shape 4"/>
          <p:cNvSpPr/>
          <p:nvPr/>
        </p:nvSpPr>
        <p:spPr>
          <a:xfrm>
            <a:off x="10881360" y="2011680"/>
            <a:ext cx="146304" cy="146304"/>
          </a:xfrm>
          <a:prstGeom prst="ellipse">
            <a:avLst/>
          </a:prstGeom>
          <a:solidFill>
            <a:srgbClr val="0FA3B1"/>
          </a:solidFill>
          <a:ln/>
        </p:spPr>
      </p:sp>
      <p:sp>
        <p:nvSpPr>
          <p:cNvPr id="7" name="Shape 5"/>
          <p:cNvSpPr/>
          <p:nvPr/>
        </p:nvSpPr>
        <p:spPr>
          <a:xfrm>
            <a:off x="9875520" y="2377440"/>
            <a:ext cx="146304" cy="146304"/>
          </a:xfrm>
          <a:prstGeom prst="ellipse">
            <a:avLst/>
          </a:prstGeom>
          <a:solidFill>
            <a:srgbClr val="0FA3B1"/>
          </a:solidFill>
          <a:ln/>
        </p:spPr>
      </p:sp>
      <p:sp>
        <p:nvSpPr>
          <p:cNvPr id="8" name="Text 6"/>
          <p:cNvSpPr/>
          <p:nvPr/>
        </p:nvSpPr>
        <p:spPr>
          <a:xfrm>
            <a:off x="822960" y="2651760"/>
            <a:ext cx="7315200" cy="457200"/>
          </a:xfrm>
          <a:prstGeom prst="rect">
            <a:avLst/>
          </a:prstGeom>
          <a:noFill/>
          <a:ln/>
        </p:spPr>
        <p:txBody>
          <a:bodyPr wrap="square" lIns="0" tIns="0" rIns="0" bIns="0" rtlCol="0" anchor="ctr"/>
          <a:lstStyle/>
          <a:p>
            <a:pPr indent="0" marL="0">
              <a:buNone/>
            </a:pPr>
            <a:r>
              <a:rPr lang="en-US" sz="1400" b="1" spc="300" kern="0" dirty="0">
                <a:solidFill>
                  <a:srgbClr val="2FBF8F"/>
                </a:solidFill>
                <a:latin typeface="Calibri" pitchFamily="34" charset="0"/>
                <a:ea typeface="Calibri" pitchFamily="34" charset="-122"/>
                <a:cs typeface="Calibri" pitchFamily="34" charset="-120"/>
              </a:rPr>
              <a:t>PART 2</a:t>
            </a:r>
            <a:endParaRPr lang="en-US" sz="1400" dirty="0"/>
          </a:p>
        </p:txBody>
      </p:sp>
      <p:sp>
        <p:nvSpPr>
          <p:cNvPr id="9" name="Text 7"/>
          <p:cNvSpPr/>
          <p:nvPr/>
        </p:nvSpPr>
        <p:spPr>
          <a:xfrm>
            <a:off x="822960" y="3063240"/>
            <a:ext cx="10058400" cy="10972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Meet SQL &amp; Your Toolkit</a:t>
            </a:r>
            <a:endParaRPr lang="en-US" sz="3800" dirty="0"/>
          </a:p>
        </p:txBody>
      </p:sp>
      <p:sp>
        <p:nvSpPr>
          <p:cNvPr id="10" name="Shape 8"/>
          <p:cNvSpPr/>
          <p:nvPr/>
        </p:nvSpPr>
        <p:spPr>
          <a:xfrm>
            <a:off x="822960" y="3977640"/>
            <a:ext cx="2011680" cy="0"/>
          </a:xfrm>
          <a:prstGeom prst="line">
            <a:avLst/>
          </a:prstGeom>
          <a:noFill/>
          <a:ln w="25400">
            <a:solidFill>
              <a:srgbClr val="0FA3B1"/>
            </a:solidFill>
            <a:prstDash val="solid"/>
          </a:ln>
        </p:spPr>
      </p:sp>
      <p:sp>
        <p:nvSpPr>
          <p:cNvPr id="11" name="Text 9"/>
          <p:cNvSpPr/>
          <p:nvPr/>
        </p:nvSpPr>
        <p:spPr>
          <a:xfrm>
            <a:off x="822960" y="4160520"/>
            <a:ext cx="9144000" cy="548640"/>
          </a:xfrm>
          <a:prstGeom prst="rect">
            <a:avLst/>
          </a:prstGeom>
          <a:noFill/>
          <a:ln/>
        </p:spPr>
        <p:txBody>
          <a:bodyPr wrap="square" lIns="0" tIns="0" rIns="0" bIns="0" rtlCol="0" anchor="ctr"/>
          <a:lstStyle/>
          <a:p>
            <a:pPr indent="0" marL="0">
              <a:buNone/>
            </a:pPr>
            <a:r>
              <a:rPr lang="en-US" sz="1500" i="1" dirty="0">
                <a:solidFill>
                  <a:srgbClr val="BFD6E8"/>
                </a:solidFill>
                <a:latin typeface="Calibri" pitchFamily="34" charset="0"/>
                <a:ea typeface="Calibri" pitchFamily="34" charset="-122"/>
                <a:cs typeface="Calibri" pitchFamily="34" charset="-120"/>
              </a:rPr>
              <a:t>Records, fields, keys, GUI clients, and getting a database installed</a:t>
            </a:r>
            <a:endParaRPr lang="en-US" sz="15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3"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2</a:t>
            </a:r>
            <a:endParaRPr lang="en-US" sz="1050" dirty="0"/>
          </a:p>
        </p:txBody>
      </p:sp>
      <p:sp>
        <p:nvSpPr>
          <p:cNvPr id="4" name="Text 2"/>
          <p:cNvSpPr/>
          <p:nvPr/>
        </p:nvSpPr>
        <p:spPr>
          <a:xfrm>
            <a:off x="548640" y="914400"/>
            <a:ext cx="82296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What Is SQL?</a:t>
            </a:r>
            <a:endParaRPr lang="en-US" sz="2900" dirty="0"/>
          </a:p>
        </p:txBody>
      </p:sp>
      <p:sp>
        <p:nvSpPr>
          <p:cNvPr id="5" name="Text 3"/>
          <p:cNvSpPr/>
          <p:nvPr/>
        </p:nvSpPr>
        <p:spPr>
          <a:xfrm>
            <a:off x="548640" y="1508760"/>
            <a:ext cx="10607040" cy="502920"/>
          </a:xfrm>
          <a:prstGeom prst="rect">
            <a:avLst/>
          </a:prstGeom>
          <a:noFill/>
          <a:ln/>
        </p:spPr>
        <p:txBody>
          <a:bodyPr wrap="square" lIns="0" tIns="0" rIns="0" bIns="0" rtlCol="0" anchor="ctr"/>
          <a:lstStyle/>
          <a:p>
            <a:pPr indent="0" marL="0">
              <a:buNone/>
            </a:pPr>
            <a:r>
              <a:rPr lang="en-US" sz="1350" i="1" dirty="0">
                <a:solidFill>
                  <a:srgbClr val="5B6B79"/>
                </a:solidFill>
                <a:latin typeface="Calibri" pitchFamily="34" charset="0"/>
                <a:ea typeface="Calibri" pitchFamily="34" charset="-122"/>
                <a:cs typeface="Calibri" pitchFamily="34" charset="-120"/>
              </a:rPr>
              <a:t>SQL — Structured Query Language — is the standard language for talking to a relational database: asking it questions, and telling it to change.</a:t>
            </a:r>
            <a:endParaRPr lang="en-US" sz="1350" dirty="0"/>
          </a:p>
        </p:txBody>
      </p:sp>
      <p:sp>
        <p:nvSpPr>
          <p:cNvPr id="6" name="Shape 4"/>
          <p:cNvSpPr/>
          <p:nvPr/>
        </p:nvSpPr>
        <p:spPr>
          <a:xfrm>
            <a:off x="548640" y="2194560"/>
            <a:ext cx="10652760" cy="960120"/>
          </a:xfrm>
          <a:prstGeom prst="roundRect">
            <a:avLst>
              <a:gd name="adj" fmla="val 7619"/>
            </a:avLst>
          </a:prstGeom>
          <a:solidFill>
            <a:srgbClr val="F2F6FA"/>
          </a:solidFill>
          <a:ln/>
        </p:spPr>
      </p:sp>
      <p:sp>
        <p:nvSpPr>
          <p:cNvPr id="7" name="Text 5"/>
          <p:cNvSpPr/>
          <p:nvPr/>
        </p:nvSpPr>
        <p:spPr>
          <a:xfrm>
            <a:off x="777240" y="2322576"/>
            <a:ext cx="3657600" cy="365760"/>
          </a:xfrm>
          <a:prstGeom prst="rect">
            <a:avLst/>
          </a:prstGeom>
          <a:noFill/>
          <a:ln/>
        </p:spPr>
        <p:txBody>
          <a:bodyPr wrap="square" lIns="0" tIns="0" rIns="0" bIns="0" rtlCol="0" anchor="ctr"/>
          <a:lstStyle/>
          <a:p>
            <a:pPr indent="0" marL="0">
              <a:buNone/>
            </a:pPr>
            <a:r>
              <a:rPr lang="en-US" sz="1300" b="1" dirty="0">
                <a:solidFill>
                  <a:srgbClr val="1E56A0"/>
                </a:solidFill>
                <a:latin typeface="Courier New" pitchFamily="34" charset="0"/>
                <a:ea typeface="Courier New" pitchFamily="34" charset="-122"/>
                <a:cs typeface="Courier New" pitchFamily="34" charset="-120"/>
              </a:rPr>
              <a:t>SELECT</a:t>
            </a:r>
            <a:endParaRPr lang="en-US" sz="1300" dirty="0"/>
          </a:p>
        </p:txBody>
      </p:sp>
      <p:sp>
        <p:nvSpPr>
          <p:cNvPr id="8" name="Text 6"/>
          <p:cNvSpPr/>
          <p:nvPr/>
        </p:nvSpPr>
        <p:spPr>
          <a:xfrm>
            <a:off x="777240" y="2688336"/>
            <a:ext cx="3657600" cy="320040"/>
          </a:xfrm>
          <a:prstGeom prst="rect">
            <a:avLst/>
          </a:prstGeom>
          <a:noFill/>
          <a:ln/>
        </p:spPr>
        <p:txBody>
          <a:bodyPr wrap="square" lIns="0" tIns="0" rIns="0" bIns="0" rtlCol="0" anchor="ctr"/>
          <a:lstStyle/>
          <a:p>
            <a:pPr indent="0" marL="0">
              <a:buNone/>
            </a:pPr>
            <a:r>
              <a:rPr lang="en-US" sz="1050" b="1" dirty="0">
                <a:solidFill>
                  <a:srgbClr val="0FA3B1"/>
                </a:solidFill>
                <a:latin typeface="Calibri" pitchFamily="34" charset="0"/>
                <a:ea typeface="Calibri" pitchFamily="34" charset="-122"/>
                <a:cs typeface="Calibri" pitchFamily="34" charset="-120"/>
              </a:rPr>
              <a:t>Query</a:t>
            </a:r>
            <a:endParaRPr lang="en-US" sz="1050" dirty="0"/>
          </a:p>
        </p:txBody>
      </p:sp>
      <p:sp>
        <p:nvSpPr>
          <p:cNvPr id="9" name="Text 7"/>
          <p:cNvSpPr/>
          <p:nvPr/>
        </p:nvSpPr>
        <p:spPr>
          <a:xfrm>
            <a:off x="4480560" y="2331720"/>
            <a:ext cx="6537960" cy="73152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Ask the database a question and get rows back — what this whole course focuses on</a:t>
            </a:r>
            <a:endParaRPr lang="en-US" sz="1150" dirty="0"/>
          </a:p>
        </p:txBody>
      </p:sp>
      <p:sp>
        <p:nvSpPr>
          <p:cNvPr id="10" name="Shape 8"/>
          <p:cNvSpPr/>
          <p:nvPr/>
        </p:nvSpPr>
        <p:spPr>
          <a:xfrm>
            <a:off x="548640" y="3273552"/>
            <a:ext cx="10652760" cy="960120"/>
          </a:xfrm>
          <a:prstGeom prst="roundRect">
            <a:avLst>
              <a:gd name="adj" fmla="val 7619"/>
            </a:avLst>
          </a:prstGeom>
          <a:solidFill>
            <a:srgbClr val="F2F6FA"/>
          </a:solidFill>
          <a:ln/>
        </p:spPr>
      </p:sp>
      <p:sp>
        <p:nvSpPr>
          <p:cNvPr id="11" name="Text 9"/>
          <p:cNvSpPr/>
          <p:nvPr/>
        </p:nvSpPr>
        <p:spPr>
          <a:xfrm>
            <a:off x="777240" y="3401568"/>
            <a:ext cx="3657600" cy="365760"/>
          </a:xfrm>
          <a:prstGeom prst="rect">
            <a:avLst/>
          </a:prstGeom>
          <a:noFill/>
          <a:ln/>
        </p:spPr>
        <p:txBody>
          <a:bodyPr wrap="square" lIns="0" tIns="0" rIns="0" bIns="0" rtlCol="0" anchor="ctr"/>
          <a:lstStyle/>
          <a:p>
            <a:pPr indent="0" marL="0">
              <a:buNone/>
            </a:pPr>
            <a:r>
              <a:rPr lang="en-US" sz="1300" b="1" dirty="0">
                <a:solidFill>
                  <a:srgbClr val="1E56A0"/>
                </a:solidFill>
                <a:latin typeface="Courier New" pitchFamily="34" charset="0"/>
                <a:ea typeface="Courier New" pitchFamily="34" charset="-122"/>
                <a:cs typeface="Courier New" pitchFamily="34" charset="-120"/>
              </a:rPr>
              <a:t>INSERT / UPDATE / DELETE</a:t>
            </a:r>
            <a:endParaRPr lang="en-US" sz="1300" dirty="0"/>
          </a:p>
        </p:txBody>
      </p:sp>
      <p:sp>
        <p:nvSpPr>
          <p:cNvPr id="12" name="Text 10"/>
          <p:cNvSpPr/>
          <p:nvPr/>
        </p:nvSpPr>
        <p:spPr>
          <a:xfrm>
            <a:off x="777240" y="3767328"/>
            <a:ext cx="3657600" cy="320040"/>
          </a:xfrm>
          <a:prstGeom prst="rect">
            <a:avLst/>
          </a:prstGeom>
          <a:noFill/>
          <a:ln/>
        </p:spPr>
        <p:txBody>
          <a:bodyPr wrap="square" lIns="0" tIns="0" rIns="0" bIns="0" rtlCol="0" anchor="ctr"/>
          <a:lstStyle/>
          <a:p>
            <a:pPr indent="0" marL="0">
              <a:buNone/>
            </a:pPr>
            <a:r>
              <a:rPr lang="en-US" sz="1050" b="1" dirty="0">
                <a:solidFill>
                  <a:srgbClr val="0FA3B1"/>
                </a:solidFill>
                <a:latin typeface="Calibri" pitchFamily="34" charset="0"/>
                <a:ea typeface="Calibri" pitchFamily="34" charset="-122"/>
                <a:cs typeface="Calibri" pitchFamily="34" charset="-120"/>
              </a:rPr>
              <a:t>Modify</a:t>
            </a:r>
            <a:endParaRPr lang="en-US" sz="1050" dirty="0"/>
          </a:p>
        </p:txBody>
      </p:sp>
      <p:sp>
        <p:nvSpPr>
          <p:cNvPr id="13" name="Text 11"/>
          <p:cNvSpPr/>
          <p:nvPr/>
        </p:nvSpPr>
        <p:spPr>
          <a:xfrm>
            <a:off x="4480560" y="3410712"/>
            <a:ext cx="6537960" cy="73152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Add, change, or remove data in existing tables</a:t>
            </a:r>
            <a:endParaRPr lang="en-US" sz="1150" dirty="0"/>
          </a:p>
        </p:txBody>
      </p:sp>
      <p:sp>
        <p:nvSpPr>
          <p:cNvPr id="14" name="Shape 12"/>
          <p:cNvSpPr/>
          <p:nvPr/>
        </p:nvSpPr>
        <p:spPr>
          <a:xfrm>
            <a:off x="548640" y="4352544"/>
            <a:ext cx="10652760" cy="960120"/>
          </a:xfrm>
          <a:prstGeom prst="roundRect">
            <a:avLst>
              <a:gd name="adj" fmla="val 7619"/>
            </a:avLst>
          </a:prstGeom>
          <a:solidFill>
            <a:srgbClr val="F2F6FA"/>
          </a:solidFill>
          <a:ln/>
        </p:spPr>
      </p:sp>
      <p:sp>
        <p:nvSpPr>
          <p:cNvPr id="15" name="Text 13"/>
          <p:cNvSpPr/>
          <p:nvPr/>
        </p:nvSpPr>
        <p:spPr>
          <a:xfrm>
            <a:off x="777240" y="4480560"/>
            <a:ext cx="3657600" cy="365760"/>
          </a:xfrm>
          <a:prstGeom prst="rect">
            <a:avLst/>
          </a:prstGeom>
          <a:noFill/>
          <a:ln/>
        </p:spPr>
        <p:txBody>
          <a:bodyPr wrap="square" lIns="0" tIns="0" rIns="0" bIns="0" rtlCol="0" anchor="ctr"/>
          <a:lstStyle/>
          <a:p>
            <a:pPr indent="0" marL="0">
              <a:buNone/>
            </a:pPr>
            <a:r>
              <a:rPr lang="en-US" sz="1300" b="1" dirty="0">
                <a:solidFill>
                  <a:srgbClr val="1E56A0"/>
                </a:solidFill>
                <a:latin typeface="Courier New" pitchFamily="34" charset="0"/>
                <a:ea typeface="Courier New" pitchFamily="34" charset="-122"/>
                <a:cs typeface="Courier New" pitchFamily="34" charset="-120"/>
              </a:rPr>
              <a:t>CREATE / ALTER / DROP</a:t>
            </a:r>
            <a:endParaRPr lang="en-US" sz="1300" dirty="0"/>
          </a:p>
        </p:txBody>
      </p:sp>
      <p:sp>
        <p:nvSpPr>
          <p:cNvPr id="16" name="Text 14"/>
          <p:cNvSpPr/>
          <p:nvPr/>
        </p:nvSpPr>
        <p:spPr>
          <a:xfrm>
            <a:off x="777240" y="4846320"/>
            <a:ext cx="3657600" cy="320040"/>
          </a:xfrm>
          <a:prstGeom prst="rect">
            <a:avLst/>
          </a:prstGeom>
          <a:noFill/>
          <a:ln/>
        </p:spPr>
        <p:txBody>
          <a:bodyPr wrap="square" lIns="0" tIns="0" rIns="0" bIns="0" rtlCol="0" anchor="ctr"/>
          <a:lstStyle/>
          <a:p>
            <a:pPr indent="0" marL="0">
              <a:buNone/>
            </a:pPr>
            <a:r>
              <a:rPr lang="en-US" sz="1050" b="1" dirty="0">
                <a:solidFill>
                  <a:srgbClr val="0FA3B1"/>
                </a:solidFill>
                <a:latin typeface="Calibri" pitchFamily="34" charset="0"/>
                <a:ea typeface="Calibri" pitchFamily="34" charset="-122"/>
                <a:cs typeface="Calibri" pitchFamily="34" charset="-120"/>
              </a:rPr>
              <a:t>Define</a:t>
            </a:r>
            <a:endParaRPr lang="en-US" sz="1050" dirty="0"/>
          </a:p>
        </p:txBody>
      </p:sp>
      <p:sp>
        <p:nvSpPr>
          <p:cNvPr id="17" name="Text 15"/>
          <p:cNvSpPr/>
          <p:nvPr/>
        </p:nvSpPr>
        <p:spPr>
          <a:xfrm>
            <a:off x="4480560" y="4489704"/>
            <a:ext cx="6537960" cy="73152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Build, change, or remove the structure of tables and databases themselves</a:t>
            </a:r>
            <a:endParaRPr lang="en-US" sz="1150" dirty="0"/>
          </a:p>
        </p:txBody>
      </p:sp>
      <p:sp>
        <p:nvSpPr>
          <p:cNvPr id="18" name="Shape 16"/>
          <p:cNvSpPr/>
          <p:nvPr/>
        </p:nvSpPr>
        <p:spPr>
          <a:xfrm>
            <a:off x="548640" y="5477256"/>
            <a:ext cx="10652760" cy="594360"/>
          </a:xfrm>
          <a:prstGeom prst="roundRect">
            <a:avLst>
              <a:gd name="adj" fmla="val 10769"/>
            </a:avLst>
          </a:prstGeom>
          <a:solidFill>
            <a:srgbClr val="E3F8F1"/>
          </a:solidFill>
          <a:ln/>
        </p:spPr>
      </p:sp>
      <p:sp>
        <p:nvSpPr>
          <p:cNvPr id="19" name="Text 17"/>
          <p:cNvSpPr/>
          <p:nvPr/>
        </p:nvSpPr>
        <p:spPr>
          <a:xfrm>
            <a:off x="777240" y="5477256"/>
            <a:ext cx="10241280" cy="594360"/>
          </a:xfrm>
          <a:prstGeom prst="rect">
            <a:avLst/>
          </a:prstGeom>
          <a:noFill/>
          <a:ln/>
        </p:spPr>
        <p:txBody>
          <a:bodyPr wrap="square" lIns="0" tIns="0" rIns="0" bIns="0" rtlCol="0" anchor="ctr"/>
          <a:lstStyle/>
          <a:p>
            <a:pPr indent="0" marL="0">
              <a:buNone/>
            </a:pPr>
            <a:r>
              <a:rPr lang="en-US" sz="1200" b="1" dirty="0">
                <a:solidFill>
                  <a:srgbClr val="106A56"/>
                </a:solidFill>
                <a:latin typeface="Calibri" pitchFamily="34" charset="0"/>
                <a:ea typeface="Calibri" pitchFamily="34" charset="-122"/>
                <a:cs typeface="Calibri" pitchFamily="34" charset="-120"/>
              </a:rPr>
              <a:t>This course’s focus:  </a:t>
            </a:r>
            <a:pPr indent="0" marL="0">
              <a:buNone/>
            </a:pPr>
            <a:r>
              <a:rPr lang="en-US" sz="1200" dirty="0">
                <a:solidFill>
                  <a:srgbClr val="106A56"/>
                </a:solidFill>
                <a:latin typeface="Calibri" pitchFamily="34" charset="0"/>
                <a:ea typeface="Calibri" pitchFamily="34" charset="-122"/>
                <a:cs typeface="Calibri" pitchFamily="34" charset="-120"/>
              </a:rPr>
              <a:t>we’ll live almost entirely in SELECT — the querying side — since that’s the daily work of a data analyst.</a:t>
            </a:r>
            <a:endParaRPr lang="en-US" sz="1200" dirty="0"/>
          </a:p>
        </p:txBody>
      </p:sp>
      <p:sp>
        <p:nvSpPr>
          <p:cNvPr id="20" name="Text 1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1" name="Text 1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2</a:t>
            </a:r>
            <a:endParaRPr lang="en-US" sz="1050" dirty="0"/>
          </a:p>
        </p:txBody>
      </p:sp>
      <p:sp>
        <p:nvSpPr>
          <p:cNvPr id="4" name="Text 2"/>
          <p:cNvSpPr/>
          <p:nvPr/>
        </p:nvSpPr>
        <p:spPr>
          <a:xfrm>
            <a:off x="548640" y="914400"/>
            <a:ext cx="10058400" cy="777240"/>
          </a:xfrm>
          <a:prstGeom prst="rect">
            <a:avLst/>
          </a:prstGeom>
          <a:noFill/>
          <a:ln/>
        </p:spPr>
        <p:txBody>
          <a:bodyPr wrap="square" lIns="0" tIns="0" rIns="0" bIns="0" rtlCol="0" anchor="t"/>
          <a:lstStyle/>
          <a:p>
            <a:pPr indent="0" marL="0">
              <a:buNone/>
            </a:pPr>
            <a:r>
              <a:rPr lang="en-US" sz="2600" b="1" dirty="0">
                <a:solidFill>
                  <a:srgbClr val="16202A"/>
                </a:solidFill>
                <a:latin typeface="Cambria" pitchFamily="34" charset="0"/>
                <a:ea typeface="Cambria" pitchFamily="34" charset="-122"/>
                <a:cs typeface="Cambria" pitchFamily="34" charset="-120"/>
              </a:rPr>
              <a:t>SQL Terminology: Records &amp; Fields</a:t>
            </a:r>
            <a:endParaRPr lang="en-US" sz="26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Two words you’ll hear constantly — they just mean row and column</a:t>
            </a:r>
            <a:endParaRPr lang="en-US" sz="1300" dirty="0"/>
          </a:p>
        </p:txBody>
      </p:sp>
      <p:sp>
        <p:nvSpPr>
          <p:cNvPr id="6" name="Shape 4"/>
          <p:cNvSpPr/>
          <p:nvPr/>
        </p:nvSpPr>
        <p:spPr>
          <a:xfrm>
            <a:off x="548640" y="2011680"/>
            <a:ext cx="5212080" cy="1417320"/>
          </a:xfrm>
          <a:prstGeom prst="roundRect">
            <a:avLst>
              <a:gd name="adj" fmla="val 5161"/>
            </a:avLst>
          </a:prstGeom>
          <a:solidFill>
            <a:srgbClr val="F2F6FA"/>
          </a:solidFill>
          <a:ln/>
        </p:spPr>
      </p:sp>
      <p:sp>
        <p:nvSpPr>
          <p:cNvPr id="7" name="Text 5"/>
          <p:cNvSpPr/>
          <p:nvPr/>
        </p:nvSpPr>
        <p:spPr>
          <a:xfrm>
            <a:off x="777240" y="2148840"/>
            <a:ext cx="4754880" cy="320040"/>
          </a:xfrm>
          <a:prstGeom prst="rect">
            <a:avLst/>
          </a:prstGeom>
          <a:noFill/>
          <a:ln/>
        </p:spPr>
        <p:txBody>
          <a:bodyPr wrap="square" lIns="0" tIns="0" rIns="0" bIns="0" rtlCol="0" anchor="ctr"/>
          <a:lstStyle/>
          <a:p>
            <a:pPr indent="0" marL="0">
              <a:buNone/>
            </a:pPr>
            <a:r>
              <a:rPr lang="en-US" sz="1150" b="1" spc="100" kern="0" dirty="0">
                <a:solidFill>
                  <a:srgbClr val="1E56A0"/>
                </a:solidFill>
                <a:latin typeface="Calibri" pitchFamily="34" charset="0"/>
                <a:ea typeface="Calibri" pitchFamily="34" charset="-122"/>
                <a:cs typeface="Calibri" pitchFamily="34" charset="-120"/>
              </a:rPr>
              <a:t>RECORD  (a.k.a. ROW)</a:t>
            </a:r>
            <a:endParaRPr lang="en-US" sz="1150" dirty="0"/>
          </a:p>
        </p:txBody>
      </p:sp>
      <p:sp>
        <p:nvSpPr>
          <p:cNvPr id="8" name="Text 6"/>
          <p:cNvSpPr/>
          <p:nvPr/>
        </p:nvSpPr>
        <p:spPr>
          <a:xfrm>
            <a:off x="777240" y="2514600"/>
            <a:ext cx="4754880" cy="82296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A single entry in a table — in the employees table, one record is one employee.</a:t>
            </a:r>
            <a:endParaRPr lang="en-US" sz="1200" dirty="0"/>
          </a:p>
        </p:txBody>
      </p:sp>
      <p:sp>
        <p:nvSpPr>
          <p:cNvPr id="9" name="Shape 7"/>
          <p:cNvSpPr/>
          <p:nvPr/>
        </p:nvSpPr>
        <p:spPr>
          <a:xfrm>
            <a:off x="5989320" y="2011680"/>
            <a:ext cx="5212080" cy="1417320"/>
          </a:xfrm>
          <a:prstGeom prst="roundRect">
            <a:avLst>
              <a:gd name="adj" fmla="val 5161"/>
            </a:avLst>
          </a:prstGeom>
          <a:solidFill>
            <a:srgbClr val="F2F6FA"/>
          </a:solidFill>
          <a:ln/>
        </p:spPr>
      </p:sp>
      <p:sp>
        <p:nvSpPr>
          <p:cNvPr id="10" name="Text 8"/>
          <p:cNvSpPr/>
          <p:nvPr/>
        </p:nvSpPr>
        <p:spPr>
          <a:xfrm>
            <a:off x="6217920" y="2148840"/>
            <a:ext cx="4754880" cy="320040"/>
          </a:xfrm>
          <a:prstGeom prst="rect">
            <a:avLst/>
          </a:prstGeom>
          <a:noFill/>
          <a:ln/>
        </p:spPr>
        <p:txBody>
          <a:bodyPr wrap="square" lIns="0" tIns="0" rIns="0" bIns="0" rtlCol="0" anchor="ctr"/>
          <a:lstStyle/>
          <a:p>
            <a:pPr indent="0" marL="0">
              <a:buNone/>
            </a:pPr>
            <a:r>
              <a:rPr lang="en-US" sz="1150" b="1" spc="100" kern="0" dirty="0">
                <a:solidFill>
                  <a:srgbClr val="1E56A0"/>
                </a:solidFill>
                <a:latin typeface="Calibri" pitchFamily="34" charset="0"/>
                <a:ea typeface="Calibri" pitchFamily="34" charset="-122"/>
                <a:cs typeface="Calibri" pitchFamily="34" charset="-120"/>
              </a:rPr>
              <a:t>FIELD  (a.k.a. COLUMN)</a:t>
            </a:r>
            <a:endParaRPr lang="en-US" sz="1150" dirty="0"/>
          </a:p>
        </p:txBody>
      </p:sp>
      <p:sp>
        <p:nvSpPr>
          <p:cNvPr id="11" name="Text 9"/>
          <p:cNvSpPr/>
          <p:nvPr/>
        </p:nvSpPr>
        <p:spPr>
          <a:xfrm>
            <a:off x="6217920" y="2514600"/>
            <a:ext cx="4754880" cy="82296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One piece of information a table holds — first_name, birth_date, and hire_date are all fields.</a:t>
            </a:r>
            <a:endParaRPr lang="en-US" sz="1200" dirty="0"/>
          </a:p>
        </p:txBody>
      </p:sp>
      <p:sp>
        <p:nvSpPr>
          <p:cNvPr id="12" name="Shape 10"/>
          <p:cNvSpPr/>
          <p:nvPr/>
        </p:nvSpPr>
        <p:spPr>
          <a:xfrm>
            <a:off x="548640" y="3703320"/>
            <a:ext cx="3383280" cy="365760"/>
          </a:xfrm>
          <a:prstGeom prst="rect">
            <a:avLst/>
          </a:prstGeom>
          <a:solidFill>
            <a:srgbClr val="1E56A0"/>
          </a:solidFill>
          <a:ln w="9525">
            <a:solidFill>
              <a:srgbClr val="FFFFFF"/>
            </a:solidFill>
            <a:prstDash val="solid"/>
          </a:ln>
        </p:spPr>
      </p:sp>
      <p:sp>
        <p:nvSpPr>
          <p:cNvPr id="13" name="Text 11"/>
          <p:cNvSpPr/>
          <p:nvPr/>
        </p:nvSpPr>
        <p:spPr>
          <a:xfrm>
            <a:off x="548640" y="3703320"/>
            <a:ext cx="3383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p>
        </p:txBody>
      </p:sp>
      <p:sp>
        <p:nvSpPr>
          <p:cNvPr id="14" name="Shape 12"/>
          <p:cNvSpPr/>
          <p:nvPr/>
        </p:nvSpPr>
        <p:spPr>
          <a:xfrm>
            <a:off x="3931920" y="3703320"/>
            <a:ext cx="3383280" cy="365760"/>
          </a:xfrm>
          <a:prstGeom prst="rect">
            <a:avLst/>
          </a:prstGeom>
          <a:solidFill>
            <a:srgbClr val="1E56A0"/>
          </a:solidFill>
          <a:ln w="9525">
            <a:solidFill>
              <a:srgbClr val="FFFFFF"/>
            </a:solidFill>
            <a:prstDash val="solid"/>
          </a:ln>
        </p:spPr>
      </p:sp>
      <p:sp>
        <p:nvSpPr>
          <p:cNvPr id="15" name="Text 13"/>
          <p:cNvSpPr/>
          <p:nvPr/>
        </p:nvSpPr>
        <p:spPr>
          <a:xfrm>
            <a:off x="3931920" y="3703320"/>
            <a:ext cx="3383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Name</a:t>
            </a:r>
            <a:endParaRPr lang="en-US" sz="1200" dirty="0"/>
          </a:p>
        </p:txBody>
      </p:sp>
      <p:sp>
        <p:nvSpPr>
          <p:cNvPr id="16" name="Shape 14"/>
          <p:cNvSpPr/>
          <p:nvPr/>
        </p:nvSpPr>
        <p:spPr>
          <a:xfrm>
            <a:off x="7315200" y="3703320"/>
            <a:ext cx="3383280" cy="365760"/>
          </a:xfrm>
          <a:prstGeom prst="rect">
            <a:avLst/>
          </a:prstGeom>
          <a:solidFill>
            <a:srgbClr val="1E56A0"/>
          </a:solidFill>
          <a:ln w="9525">
            <a:solidFill>
              <a:srgbClr val="FFFFFF"/>
            </a:solidFill>
            <a:prstDash val="solid"/>
          </a:ln>
        </p:spPr>
      </p:sp>
      <p:sp>
        <p:nvSpPr>
          <p:cNvPr id="17" name="Text 15"/>
          <p:cNvSpPr/>
          <p:nvPr/>
        </p:nvSpPr>
        <p:spPr>
          <a:xfrm>
            <a:off x="7315200" y="3703320"/>
            <a:ext cx="33832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Phone Number</a:t>
            </a:r>
            <a:endParaRPr lang="en-US" sz="1200" dirty="0"/>
          </a:p>
        </p:txBody>
      </p:sp>
      <p:sp>
        <p:nvSpPr>
          <p:cNvPr id="18" name="Shape 16"/>
          <p:cNvSpPr/>
          <p:nvPr/>
        </p:nvSpPr>
        <p:spPr>
          <a:xfrm>
            <a:off x="548640" y="4069080"/>
            <a:ext cx="3383280" cy="365760"/>
          </a:xfrm>
          <a:prstGeom prst="rect">
            <a:avLst/>
          </a:prstGeom>
          <a:solidFill>
            <a:srgbClr val="D9E9F7"/>
          </a:solidFill>
          <a:ln w="9525">
            <a:solidFill>
              <a:srgbClr val="E2E8E8"/>
            </a:solidFill>
            <a:prstDash val="solid"/>
          </a:ln>
        </p:spPr>
      </p:sp>
      <p:sp>
        <p:nvSpPr>
          <p:cNvPr id="19" name="Text 17"/>
          <p:cNvSpPr/>
          <p:nvPr/>
        </p:nvSpPr>
        <p:spPr>
          <a:xfrm>
            <a:off x="548640" y="4069080"/>
            <a:ext cx="3383280" cy="365760"/>
          </a:xfrm>
          <a:prstGeom prst="rect">
            <a:avLst/>
          </a:prstGeom>
          <a:noFill/>
          <a:ln/>
        </p:spPr>
        <p:txBody>
          <a:bodyPr wrap="square" lIns="0" tIns="0" rIns="0" bIns="0" rtlCol="0" anchor="ctr"/>
          <a:lstStyle/>
          <a:p>
            <a:pPr algn="ctr" indent="0" marL="0">
              <a:buNone/>
            </a:pPr>
            <a:r>
              <a:rPr lang="en-US" sz="1150" dirty="0">
                <a:solidFill>
                  <a:srgbClr val="16202A"/>
                </a:solidFill>
                <a:latin typeface="Calibri" pitchFamily="34" charset="0"/>
                <a:ea typeface="Calibri" pitchFamily="34" charset="-122"/>
                <a:cs typeface="Calibri" pitchFamily="34" charset="-120"/>
              </a:rPr>
              <a:t>1</a:t>
            </a:r>
            <a:endParaRPr lang="en-US" sz="1150" dirty="0"/>
          </a:p>
        </p:txBody>
      </p:sp>
      <p:sp>
        <p:nvSpPr>
          <p:cNvPr id="20" name="Shape 18"/>
          <p:cNvSpPr/>
          <p:nvPr/>
        </p:nvSpPr>
        <p:spPr>
          <a:xfrm>
            <a:off x="3931920" y="4069080"/>
            <a:ext cx="3383280" cy="365760"/>
          </a:xfrm>
          <a:prstGeom prst="rect">
            <a:avLst/>
          </a:prstGeom>
          <a:solidFill>
            <a:srgbClr val="D9E9F7"/>
          </a:solidFill>
          <a:ln w="9525">
            <a:solidFill>
              <a:srgbClr val="E2E8E8"/>
            </a:solidFill>
            <a:prstDash val="solid"/>
          </a:ln>
        </p:spPr>
      </p:sp>
      <p:sp>
        <p:nvSpPr>
          <p:cNvPr id="21" name="Text 19"/>
          <p:cNvSpPr/>
          <p:nvPr/>
        </p:nvSpPr>
        <p:spPr>
          <a:xfrm>
            <a:off x="3931920" y="4069080"/>
            <a:ext cx="3383280" cy="365760"/>
          </a:xfrm>
          <a:prstGeom prst="rect">
            <a:avLst/>
          </a:prstGeom>
          <a:noFill/>
          <a:ln/>
        </p:spPr>
        <p:txBody>
          <a:bodyPr wrap="square" lIns="0" tIns="0" rIns="0" bIns="0" rtlCol="0" anchor="ctr"/>
          <a:lstStyle/>
          <a:p>
            <a:pPr algn="ctr" indent="0" marL="0">
              <a:buNone/>
            </a:pPr>
            <a:r>
              <a:rPr lang="en-US" sz="1150" dirty="0">
                <a:solidFill>
                  <a:srgbClr val="16202A"/>
                </a:solidFill>
                <a:latin typeface="Calibri" pitchFamily="34" charset="0"/>
                <a:ea typeface="Calibri" pitchFamily="34" charset="-122"/>
                <a:cs typeface="Calibri" pitchFamily="34" charset="-120"/>
              </a:rPr>
              <a:t>Love Muili</a:t>
            </a:r>
            <a:endParaRPr lang="en-US" sz="1150" dirty="0"/>
          </a:p>
        </p:txBody>
      </p:sp>
      <p:sp>
        <p:nvSpPr>
          <p:cNvPr id="22" name="Shape 20"/>
          <p:cNvSpPr/>
          <p:nvPr/>
        </p:nvSpPr>
        <p:spPr>
          <a:xfrm>
            <a:off x="7315200" y="4069080"/>
            <a:ext cx="3383280" cy="365760"/>
          </a:xfrm>
          <a:prstGeom prst="rect">
            <a:avLst/>
          </a:prstGeom>
          <a:solidFill>
            <a:srgbClr val="D9E9F7"/>
          </a:solidFill>
          <a:ln w="9525">
            <a:solidFill>
              <a:srgbClr val="E2E8E8"/>
            </a:solidFill>
            <a:prstDash val="solid"/>
          </a:ln>
        </p:spPr>
      </p:sp>
      <p:sp>
        <p:nvSpPr>
          <p:cNvPr id="23" name="Text 21"/>
          <p:cNvSpPr/>
          <p:nvPr/>
        </p:nvSpPr>
        <p:spPr>
          <a:xfrm>
            <a:off x="7315200" y="4069080"/>
            <a:ext cx="3383280" cy="365760"/>
          </a:xfrm>
          <a:prstGeom prst="rect">
            <a:avLst/>
          </a:prstGeom>
          <a:noFill/>
          <a:ln/>
        </p:spPr>
        <p:txBody>
          <a:bodyPr wrap="square" lIns="0" tIns="0" rIns="0" bIns="0" rtlCol="0" anchor="ctr"/>
          <a:lstStyle/>
          <a:p>
            <a:pPr algn="ctr" indent="0" marL="0">
              <a:buNone/>
            </a:pPr>
            <a:r>
              <a:rPr lang="en-US" sz="1150" dirty="0">
                <a:solidFill>
                  <a:srgbClr val="16202A"/>
                </a:solidFill>
                <a:latin typeface="Calibri" pitchFamily="34" charset="0"/>
                <a:ea typeface="Calibri" pitchFamily="34" charset="-122"/>
                <a:cs typeface="Calibri" pitchFamily="34" charset="-120"/>
              </a:rPr>
              <a:t>0912 345 6787</a:t>
            </a:r>
            <a:endParaRPr lang="en-US" sz="1150" dirty="0"/>
          </a:p>
        </p:txBody>
      </p:sp>
      <p:sp>
        <p:nvSpPr>
          <p:cNvPr id="24" name="Text 22"/>
          <p:cNvSpPr/>
          <p:nvPr/>
        </p:nvSpPr>
        <p:spPr>
          <a:xfrm>
            <a:off x="548640" y="4572000"/>
            <a:ext cx="10652760" cy="320040"/>
          </a:xfrm>
          <a:prstGeom prst="rect">
            <a:avLst/>
          </a:prstGeom>
          <a:noFill/>
          <a:ln/>
        </p:spPr>
        <p:txBody>
          <a:bodyPr wrap="square" lIns="0" tIns="0" rIns="0" bIns="0" rtlCol="0" anchor="ctr"/>
          <a:lstStyle/>
          <a:p>
            <a:pPr indent="0" marL="0">
              <a:buNone/>
            </a:pPr>
            <a:r>
              <a:rPr lang="en-US" sz="1050" i="1" dirty="0">
                <a:solidFill>
                  <a:srgbClr val="5B6B79"/>
                </a:solidFill>
                <a:latin typeface="Calibri" pitchFamily="34" charset="0"/>
                <a:ea typeface="Calibri" pitchFamily="34" charset="-122"/>
                <a:cs typeface="Calibri" pitchFamily="34" charset="-120"/>
              </a:rPr>
              <a:t>← this whole highlighted row is one RECORD                    each column header names one FIELD →</a:t>
            </a:r>
            <a:endParaRPr lang="en-US" sz="1050" dirty="0"/>
          </a:p>
        </p:txBody>
      </p:sp>
      <p:sp>
        <p:nvSpPr>
          <p:cNvPr id="25" name="Text 2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6" name="Text 2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2</a:t>
            </a:r>
            <a:endParaRPr lang="en-US" sz="1050" dirty="0"/>
          </a:p>
        </p:txBody>
      </p:sp>
      <p:sp>
        <p:nvSpPr>
          <p:cNvPr id="4" name="Text 2"/>
          <p:cNvSpPr/>
          <p:nvPr/>
        </p:nvSpPr>
        <p:spPr>
          <a:xfrm>
            <a:off x="548640" y="914400"/>
            <a:ext cx="960120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Primary Keys &amp; Foreign Keys</a:t>
            </a:r>
            <a:endParaRPr lang="en-US" sz="2700" dirty="0"/>
          </a:p>
        </p:txBody>
      </p:sp>
      <p:sp>
        <p:nvSpPr>
          <p:cNvPr id="5" name="Text 3"/>
          <p:cNvSpPr/>
          <p:nvPr/>
        </p:nvSpPr>
        <p:spPr>
          <a:xfrm>
            <a:off x="548640" y="1481328"/>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The columns that make relational tables actually relate to each other</a:t>
            </a:r>
            <a:endParaRPr lang="en-US" sz="1300" dirty="0"/>
          </a:p>
        </p:txBody>
      </p:sp>
      <p:sp>
        <p:nvSpPr>
          <p:cNvPr id="6" name="Shape 4"/>
          <p:cNvSpPr/>
          <p:nvPr/>
        </p:nvSpPr>
        <p:spPr>
          <a:xfrm>
            <a:off x="548640" y="1874520"/>
            <a:ext cx="10652760" cy="640080"/>
          </a:xfrm>
          <a:prstGeom prst="roundRect">
            <a:avLst>
              <a:gd name="adj" fmla="val 10000"/>
            </a:avLst>
          </a:prstGeom>
          <a:solidFill>
            <a:srgbClr val="F2F6FA"/>
          </a:solidFill>
          <a:ln/>
        </p:spPr>
      </p:sp>
      <p:sp>
        <p:nvSpPr>
          <p:cNvPr id="7" name="Text 5"/>
          <p:cNvSpPr/>
          <p:nvPr/>
        </p:nvSpPr>
        <p:spPr>
          <a:xfrm>
            <a:off x="777240" y="1874520"/>
            <a:ext cx="10241280" cy="640080"/>
          </a:xfrm>
          <a:prstGeom prst="rect">
            <a:avLst/>
          </a:prstGeom>
          <a:noFill/>
          <a:ln/>
        </p:spPr>
        <p:txBody>
          <a:bodyPr wrap="square" lIns="0" tIns="0" rIns="0" bIns="0" rtlCol="0" anchor="ctr"/>
          <a:lstStyle/>
          <a:p>
            <a:pPr indent="0" marL="0">
              <a:buNone/>
            </a:pPr>
            <a:r>
              <a:rPr lang="en-US" sz="1300" b="1" dirty="0">
                <a:solidFill>
                  <a:srgbClr val="1E56A0"/>
                </a:solidFill>
                <a:latin typeface="Calibri" pitchFamily="34" charset="0"/>
                <a:ea typeface="Calibri" pitchFamily="34" charset="-122"/>
                <a:cs typeface="Calibri" pitchFamily="34" charset="-120"/>
              </a:rPr>
              <a:t>Primary Key:  </a:t>
            </a:r>
            <a:pPr indent="0" marL="0">
              <a:buNone/>
            </a:pPr>
            <a:r>
              <a:rPr lang="en-US" sz="1300" dirty="0">
                <a:solidFill>
                  <a:srgbClr val="16202A"/>
                </a:solidFill>
                <a:latin typeface="Calibri" pitchFamily="34" charset="0"/>
                <a:ea typeface="Calibri" pitchFamily="34" charset="-122"/>
                <a:cs typeface="Calibri" pitchFamily="34" charset="-120"/>
              </a:rPr>
              <a:t>an attribute that uniquely identifies each row in a table — no two rows can share one.</a:t>
            </a:r>
            <a:endParaRPr lang="en-US" sz="1300" dirty="0"/>
          </a:p>
        </p:txBody>
      </p:sp>
      <p:sp>
        <p:nvSpPr>
          <p:cNvPr id="8" name="Shape 6"/>
          <p:cNvSpPr/>
          <p:nvPr/>
        </p:nvSpPr>
        <p:spPr>
          <a:xfrm>
            <a:off x="548640" y="2606040"/>
            <a:ext cx="10652760" cy="640080"/>
          </a:xfrm>
          <a:prstGeom prst="roundRect">
            <a:avLst>
              <a:gd name="adj" fmla="val 10000"/>
            </a:avLst>
          </a:prstGeom>
          <a:solidFill>
            <a:srgbClr val="F2F6FA"/>
          </a:solidFill>
          <a:ln/>
        </p:spPr>
      </p:sp>
      <p:sp>
        <p:nvSpPr>
          <p:cNvPr id="9" name="Text 7"/>
          <p:cNvSpPr/>
          <p:nvPr/>
        </p:nvSpPr>
        <p:spPr>
          <a:xfrm>
            <a:off x="777240" y="2606040"/>
            <a:ext cx="10241280" cy="640080"/>
          </a:xfrm>
          <a:prstGeom prst="rect">
            <a:avLst/>
          </a:prstGeom>
          <a:noFill/>
          <a:ln/>
        </p:spPr>
        <p:txBody>
          <a:bodyPr wrap="square" lIns="0" tIns="0" rIns="0" bIns="0" rtlCol="0" anchor="ctr"/>
          <a:lstStyle/>
          <a:p>
            <a:pPr indent="0" marL="0">
              <a:buNone/>
            </a:pPr>
            <a:r>
              <a:rPr lang="en-US" sz="1300" b="1" dirty="0">
                <a:solidFill>
                  <a:srgbClr val="1E56A0"/>
                </a:solidFill>
                <a:latin typeface="Calibri" pitchFamily="34" charset="0"/>
                <a:ea typeface="Calibri" pitchFamily="34" charset="-122"/>
                <a:cs typeface="Calibri" pitchFamily="34" charset="-120"/>
              </a:rPr>
              <a:t>Foreign Key:  </a:t>
            </a:r>
            <a:pPr indent="0" marL="0">
              <a:buNone/>
            </a:pPr>
            <a:r>
              <a:rPr lang="en-US" sz="1300" dirty="0">
                <a:solidFill>
                  <a:srgbClr val="16202A"/>
                </a:solidFill>
                <a:latin typeface="Calibri" pitchFamily="34" charset="0"/>
                <a:ea typeface="Calibri" pitchFamily="34" charset="-122"/>
                <a:cs typeface="Calibri" pitchFamily="34" charset="-120"/>
              </a:rPr>
              <a:t>a column in one table that references the primary key of another table.</a:t>
            </a:r>
            <a:endParaRPr lang="en-US" sz="1300" dirty="0"/>
          </a:p>
        </p:txBody>
      </p:sp>
      <p:sp>
        <p:nvSpPr>
          <p:cNvPr id="10" name="Text 8"/>
          <p:cNvSpPr/>
          <p:nvPr/>
        </p:nvSpPr>
        <p:spPr>
          <a:xfrm>
            <a:off x="548640" y="3364992"/>
            <a:ext cx="10607040" cy="256032"/>
          </a:xfrm>
          <a:prstGeom prst="rect">
            <a:avLst/>
          </a:prstGeom>
          <a:noFill/>
          <a:ln/>
        </p:spPr>
        <p:txBody>
          <a:bodyPr wrap="square" lIns="0" tIns="0" rIns="0" bIns="0" rtlCol="0" anchor="ctr"/>
          <a:lstStyle/>
          <a:p>
            <a:pPr indent="0" marL="0">
              <a:buNone/>
            </a:pPr>
            <a:r>
              <a:rPr lang="en-US" sz="1100" b="1" dirty="0">
                <a:solidFill>
                  <a:srgbClr val="0FA3B1"/>
                </a:solidFill>
                <a:latin typeface="Calibri" pitchFamily="34" charset="0"/>
                <a:ea typeface="Calibri" pitchFamily="34" charset="-122"/>
                <a:cs typeface="Calibri" pitchFamily="34" charset="-120"/>
              </a:rPr>
              <a:t>Customer Data (ID is the PRIMARY KEY)</a:t>
            </a:r>
            <a:endParaRPr lang="en-US" sz="1100" dirty="0"/>
          </a:p>
        </p:txBody>
      </p:sp>
      <p:sp>
        <p:nvSpPr>
          <p:cNvPr id="11" name="Shape 9"/>
          <p:cNvSpPr/>
          <p:nvPr/>
        </p:nvSpPr>
        <p:spPr>
          <a:xfrm>
            <a:off x="548640" y="3639312"/>
            <a:ext cx="3383280" cy="292608"/>
          </a:xfrm>
          <a:prstGeom prst="rect">
            <a:avLst/>
          </a:prstGeom>
          <a:solidFill>
            <a:srgbClr val="1E56A0"/>
          </a:solidFill>
          <a:ln w="6350">
            <a:solidFill>
              <a:srgbClr val="FFFFFF"/>
            </a:solidFill>
            <a:prstDash val="solid"/>
          </a:ln>
        </p:spPr>
      </p:sp>
      <p:sp>
        <p:nvSpPr>
          <p:cNvPr id="12" name="Text 10"/>
          <p:cNvSpPr/>
          <p:nvPr/>
        </p:nvSpPr>
        <p:spPr>
          <a:xfrm>
            <a:off x="548640" y="3639312"/>
            <a:ext cx="33832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p>
        </p:txBody>
      </p:sp>
      <p:sp>
        <p:nvSpPr>
          <p:cNvPr id="13" name="Shape 11"/>
          <p:cNvSpPr/>
          <p:nvPr/>
        </p:nvSpPr>
        <p:spPr>
          <a:xfrm>
            <a:off x="3931920" y="3639312"/>
            <a:ext cx="3383280" cy="292608"/>
          </a:xfrm>
          <a:prstGeom prst="rect">
            <a:avLst/>
          </a:prstGeom>
          <a:solidFill>
            <a:srgbClr val="1E56A0"/>
          </a:solidFill>
          <a:ln w="6350">
            <a:solidFill>
              <a:srgbClr val="FFFFFF"/>
            </a:solidFill>
            <a:prstDash val="solid"/>
          </a:ln>
        </p:spPr>
      </p:sp>
      <p:sp>
        <p:nvSpPr>
          <p:cNvPr id="14" name="Text 12"/>
          <p:cNvSpPr/>
          <p:nvPr/>
        </p:nvSpPr>
        <p:spPr>
          <a:xfrm>
            <a:off x="3931920" y="3639312"/>
            <a:ext cx="33832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NAME</a:t>
            </a:r>
            <a:endParaRPr lang="en-US" sz="1000" dirty="0"/>
          </a:p>
        </p:txBody>
      </p:sp>
      <p:sp>
        <p:nvSpPr>
          <p:cNvPr id="15" name="Shape 13"/>
          <p:cNvSpPr/>
          <p:nvPr/>
        </p:nvSpPr>
        <p:spPr>
          <a:xfrm>
            <a:off x="7315200" y="3639312"/>
            <a:ext cx="3383280" cy="292608"/>
          </a:xfrm>
          <a:prstGeom prst="rect">
            <a:avLst/>
          </a:prstGeom>
          <a:solidFill>
            <a:srgbClr val="1E56A0"/>
          </a:solidFill>
          <a:ln w="6350">
            <a:solidFill>
              <a:srgbClr val="FFFFFF"/>
            </a:solidFill>
            <a:prstDash val="solid"/>
          </a:ln>
        </p:spPr>
      </p:sp>
      <p:sp>
        <p:nvSpPr>
          <p:cNvPr id="16" name="Text 14"/>
          <p:cNvSpPr/>
          <p:nvPr/>
        </p:nvSpPr>
        <p:spPr>
          <a:xfrm>
            <a:off x="7315200" y="3639312"/>
            <a:ext cx="33832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PHONE NUMBER</a:t>
            </a:r>
            <a:endParaRPr lang="en-US" sz="1000" dirty="0"/>
          </a:p>
        </p:txBody>
      </p:sp>
      <p:sp>
        <p:nvSpPr>
          <p:cNvPr id="17" name="Shape 15"/>
          <p:cNvSpPr/>
          <p:nvPr/>
        </p:nvSpPr>
        <p:spPr>
          <a:xfrm>
            <a:off x="548640" y="3931920"/>
            <a:ext cx="3383280" cy="292608"/>
          </a:xfrm>
          <a:prstGeom prst="rect">
            <a:avLst/>
          </a:prstGeom>
          <a:solidFill>
            <a:srgbClr val="FFFFFF"/>
          </a:solidFill>
          <a:ln w="6350">
            <a:solidFill>
              <a:srgbClr val="E2E8E8"/>
            </a:solidFill>
            <a:prstDash val="solid"/>
          </a:ln>
        </p:spPr>
      </p:sp>
      <p:sp>
        <p:nvSpPr>
          <p:cNvPr id="18" name="Text 16"/>
          <p:cNvSpPr/>
          <p:nvPr/>
        </p:nvSpPr>
        <p:spPr>
          <a:xfrm>
            <a:off x="548640" y="3931920"/>
            <a:ext cx="3383280" cy="292608"/>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1</a:t>
            </a:r>
            <a:endParaRPr lang="en-US" sz="950" dirty="0"/>
          </a:p>
        </p:txBody>
      </p:sp>
      <p:sp>
        <p:nvSpPr>
          <p:cNvPr id="19" name="Shape 17"/>
          <p:cNvSpPr/>
          <p:nvPr/>
        </p:nvSpPr>
        <p:spPr>
          <a:xfrm>
            <a:off x="3931920" y="3931920"/>
            <a:ext cx="3383280" cy="292608"/>
          </a:xfrm>
          <a:prstGeom prst="rect">
            <a:avLst/>
          </a:prstGeom>
          <a:solidFill>
            <a:srgbClr val="FFFFFF"/>
          </a:solidFill>
          <a:ln w="6350">
            <a:solidFill>
              <a:srgbClr val="E2E8E8"/>
            </a:solidFill>
            <a:prstDash val="solid"/>
          </a:ln>
        </p:spPr>
      </p:sp>
      <p:sp>
        <p:nvSpPr>
          <p:cNvPr id="20" name="Text 18"/>
          <p:cNvSpPr/>
          <p:nvPr/>
        </p:nvSpPr>
        <p:spPr>
          <a:xfrm>
            <a:off x="3931920" y="3931920"/>
            <a:ext cx="3383280" cy="292608"/>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Love Muili</a:t>
            </a:r>
            <a:endParaRPr lang="en-US" sz="950" dirty="0"/>
          </a:p>
        </p:txBody>
      </p:sp>
      <p:sp>
        <p:nvSpPr>
          <p:cNvPr id="21" name="Shape 19"/>
          <p:cNvSpPr/>
          <p:nvPr/>
        </p:nvSpPr>
        <p:spPr>
          <a:xfrm>
            <a:off x="7315200" y="3931920"/>
            <a:ext cx="3383280" cy="292608"/>
          </a:xfrm>
          <a:prstGeom prst="rect">
            <a:avLst/>
          </a:prstGeom>
          <a:solidFill>
            <a:srgbClr val="FFFFFF"/>
          </a:solidFill>
          <a:ln w="6350">
            <a:solidFill>
              <a:srgbClr val="E2E8E8"/>
            </a:solidFill>
            <a:prstDash val="solid"/>
          </a:ln>
        </p:spPr>
      </p:sp>
      <p:sp>
        <p:nvSpPr>
          <p:cNvPr id="22" name="Text 20"/>
          <p:cNvSpPr/>
          <p:nvPr/>
        </p:nvSpPr>
        <p:spPr>
          <a:xfrm>
            <a:off x="7315200" y="3931920"/>
            <a:ext cx="3383280" cy="292608"/>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0912 345 6787</a:t>
            </a:r>
            <a:endParaRPr lang="en-US" sz="950" dirty="0"/>
          </a:p>
        </p:txBody>
      </p:sp>
      <p:sp>
        <p:nvSpPr>
          <p:cNvPr id="23" name="Text 21"/>
          <p:cNvSpPr/>
          <p:nvPr/>
        </p:nvSpPr>
        <p:spPr>
          <a:xfrm>
            <a:off x="548640" y="4407408"/>
            <a:ext cx="10607040" cy="256032"/>
          </a:xfrm>
          <a:prstGeom prst="rect">
            <a:avLst/>
          </a:prstGeom>
          <a:noFill/>
          <a:ln/>
        </p:spPr>
        <p:txBody>
          <a:bodyPr wrap="square" lIns="0" tIns="0" rIns="0" bIns="0" rtlCol="0" anchor="ctr"/>
          <a:lstStyle/>
          <a:p>
            <a:pPr indent="0" marL="0">
              <a:buNone/>
            </a:pPr>
            <a:r>
              <a:rPr lang="en-US" sz="1100" b="1" dirty="0">
                <a:solidFill>
                  <a:srgbClr val="0FA3B1"/>
                </a:solidFill>
                <a:latin typeface="Calibri" pitchFamily="34" charset="0"/>
                <a:ea typeface="Calibri" pitchFamily="34" charset="-122"/>
                <a:cs typeface="Calibri" pitchFamily="34" charset="-120"/>
              </a:rPr>
              <a:t>Master Data (Customer_id is a FOREIGN KEY → Customer Data.ID)</a:t>
            </a:r>
            <a:endParaRPr lang="en-US" sz="1100" dirty="0"/>
          </a:p>
        </p:txBody>
      </p:sp>
      <p:sp>
        <p:nvSpPr>
          <p:cNvPr id="24" name="Shape 22"/>
          <p:cNvSpPr/>
          <p:nvPr/>
        </p:nvSpPr>
        <p:spPr>
          <a:xfrm>
            <a:off x="548640" y="4681728"/>
            <a:ext cx="2537460" cy="274320"/>
          </a:xfrm>
          <a:prstGeom prst="rect">
            <a:avLst/>
          </a:prstGeom>
          <a:solidFill>
            <a:srgbClr val="1E56A0"/>
          </a:solidFill>
          <a:ln w="6350">
            <a:solidFill>
              <a:srgbClr val="FFFFFF"/>
            </a:solidFill>
            <a:prstDash val="solid"/>
          </a:ln>
        </p:spPr>
      </p:sp>
      <p:sp>
        <p:nvSpPr>
          <p:cNvPr id="25" name="Text 23"/>
          <p:cNvSpPr/>
          <p:nvPr/>
        </p:nvSpPr>
        <p:spPr>
          <a:xfrm>
            <a:off x="548640" y="4681728"/>
            <a:ext cx="25374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Customer_id</a:t>
            </a:r>
            <a:endParaRPr lang="en-US" sz="1000" dirty="0"/>
          </a:p>
        </p:txBody>
      </p:sp>
      <p:sp>
        <p:nvSpPr>
          <p:cNvPr id="26" name="Shape 24"/>
          <p:cNvSpPr/>
          <p:nvPr/>
        </p:nvSpPr>
        <p:spPr>
          <a:xfrm>
            <a:off x="3086100" y="4681728"/>
            <a:ext cx="2537460" cy="274320"/>
          </a:xfrm>
          <a:prstGeom prst="rect">
            <a:avLst/>
          </a:prstGeom>
          <a:solidFill>
            <a:srgbClr val="1E56A0"/>
          </a:solidFill>
          <a:ln w="6350">
            <a:solidFill>
              <a:srgbClr val="FFFFFF"/>
            </a:solidFill>
            <a:prstDash val="solid"/>
          </a:ln>
        </p:spPr>
      </p:sp>
      <p:sp>
        <p:nvSpPr>
          <p:cNvPr id="27" name="Text 25"/>
          <p:cNvSpPr/>
          <p:nvPr/>
        </p:nvSpPr>
        <p:spPr>
          <a:xfrm>
            <a:off x="3086100" y="4681728"/>
            <a:ext cx="25374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Name</a:t>
            </a:r>
            <a:endParaRPr lang="en-US" sz="1000" dirty="0"/>
          </a:p>
        </p:txBody>
      </p:sp>
      <p:sp>
        <p:nvSpPr>
          <p:cNvPr id="28" name="Shape 26"/>
          <p:cNvSpPr/>
          <p:nvPr/>
        </p:nvSpPr>
        <p:spPr>
          <a:xfrm>
            <a:off x="5623560" y="4681728"/>
            <a:ext cx="2537460" cy="274320"/>
          </a:xfrm>
          <a:prstGeom prst="rect">
            <a:avLst/>
          </a:prstGeom>
          <a:solidFill>
            <a:srgbClr val="1E56A0"/>
          </a:solidFill>
          <a:ln w="6350">
            <a:solidFill>
              <a:srgbClr val="FFFFFF"/>
            </a:solidFill>
            <a:prstDash val="solid"/>
          </a:ln>
        </p:spPr>
      </p:sp>
      <p:sp>
        <p:nvSpPr>
          <p:cNvPr id="29" name="Text 27"/>
          <p:cNvSpPr/>
          <p:nvPr/>
        </p:nvSpPr>
        <p:spPr>
          <a:xfrm>
            <a:off x="5623560" y="4681728"/>
            <a:ext cx="25374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Sales_amt</a:t>
            </a:r>
            <a:endParaRPr lang="en-US" sz="1000" dirty="0"/>
          </a:p>
        </p:txBody>
      </p:sp>
      <p:sp>
        <p:nvSpPr>
          <p:cNvPr id="30" name="Shape 28"/>
          <p:cNvSpPr/>
          <p:nvPr/>
        </p:nvSpPr>
        <p:spPr>
          <a:xfrm>
            <a:off x="8161020" y="4681728"/>
            <a:ext cx="2537460" cy="274320"/>
          </a:xfrm>
          <a:prstGeom prst="rect">
            <a:avLst/>
          </a:prstGeom>
          <a:solidFill>
            <a:srgbClr val="1E56A0"/>
          </a:solidFill>
          <a:ln w="6350">
            <a:solidFill>
              <a:srgbClr val="FFFFFF"/>
            </a:solidFill>
            <a:prstDash val="solid"/>
          </a:ln>
        </p:spPr>
      </p:sp>
      <p:sp>
        <p:nvSpPr>
          <p:cNvPr id="31" name="Text 29"/>
          <p:cNvSpPr/>
          <p:nvPr/>
        </p:nvSpPr>
        <p:spPr>
          <a:xfrm>
            <a:off x="8161020" y="4681728"/>
            <a:ext cx="25374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City_id</a:t>
            </a:r>
            <a:endParaRPr lang="en-US" sz="1000" dirty="0"/>
          </a:p>
        </p:txBody>
      </p:sp>
      <p:sp>
        <p:nvSpPr>
          <p:cNvPr id="32" name="Shape 30"/>
          <p:cNvSpPr/>
          <p:nvPr/>
        </p:nvSpPr>
        <p:spPr>
          <a:xfrm>
            <a:off x="548640" y="4956048"/>
            <a:ext cx="2537460" cy="274320"/>
          </a:xfrm>
          <a:prstGeom prst="rect">
            <a:avLst/>
          </a:prstGeom>
          <a:solidFill>
            <a:srgbClr val="FFFFFF"/>
          </a:solidFill>
          <a:ln w="6350">
            <a:solidFill>
              <a:srgbClr val="E2E8E8"/>
            </a:solidFill>
            <a:prstDash val="solid"/>
          </a:ln>
        </p:spPr>
      </p:sp>
      <p:sp>
        <p:nvSpPr>
          <p:cNvPr id="33" name="Text 31"/>
          <p:cNvSpPr/>
          <p:nvPr/>
        </p:nvSpPr>
        <p:spPr>
          <a:xfrm>
            <a:off x="548640" y="495604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1</a:t>
            </a:r>
            <a:endParaRPr lang="en-US" sz="950" dirty="0"/>
          </a:p>
        </p:txBody>
      </p:sp>
      <p:sp>
        <p:nvSpPr>
          <p:cNvPr id="34" name="Shape 32"/>
          <p:cNvSpPr/>
          <p:nvPr/>
        </p:nvSpPr>
        <p:spPr>
          <a:xfrm>
            <a:off x="3086100" y="4956048"/>
            <a:ext cx="2537460" cy="274320"/>
          </a:xfrm>
          <a:prstGeom prst="rect">
            <a:avLst/>
          </a:prstGeom>
          <a:solidFill>
            <a:srgbClr val="FFFFFF"/>
          </a:solidFill>
          <a:ln w="6350">
            <a:solidFill>
              <a:srgbClr val="E2E8E8"/>
            </a:solidFill>
            <a:prstDash val="solid"/>
          </a:ln>
        </p:spPr>
      </p:sp>
      <p:sp>
        <p:nvSpPr>
          <p:cNvPr id="35" name="Text 33"/>
          <p:cNvSpPr/>
          <p:nvPr/>
        </p:nvSpPr>
        <p:spPr>
          <a:xfrm>
            <a:off x="3086100" y="495604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Love Muili</a:t>
            </a:r>
            <a:endParaRPr lang="en-US" sz="950" dirty="0"/>
          </a:p>
        </p:txBody>
      </p:sp>
      <p:sp>
        <p:nvSpPr>
          <p:cNvPr id="36" name="Shape 34"/>
          <p:cNvSpPr/>
          <p:nvPr/>
        </p:nvSpPr>
        <p:spPr>
          <a:xfrm>
            <a:off x="5623560" y="4956048"/>
            <a:ext cx="2537460" cy="274320"/>
          </a:xfrm>
          <a:prstGeom prst="rect">
            <a:avLst/>
          </a:prstGeom>
          <a:solidFill>
            <a:srgbClr val="FFFFFF"/>
          </a:solidFill>
          <a:ln w="6350">
            <a:solidFill>
              <a:srgbClr val="E2E8E8"/>
            </a:solidFill>
            <a:prstDash val="solid"/>
          </a:ln>
        </p:spPr>
      </p:sp>
      <p:sp>
        <p:nvSpPr>
          <p:cNvPr id="37" name="Text 35"/>
          <p:cNvSpPr/>
          <p:nvPr/>
        </p:nvSpPr>
        <p:spPr>
          <a:xfrm>
            <a:off x="5623560" y="495604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20000</a:t>
            </a:r>
            <a:endParaRPr lang="en-US" sz="950" dirty="0"/>
          </a:p>
        </p:txBody>
      </p:sp>
      <p:sp>
        <p:nvSpPr>
          <p:cNvPr id="38" name="Shape 36"/>
          <p:cNvSpPr/>
          <p:nvPr/>
        </p:nvSpPr>
        <p:spPr>
          <a:xfrm>
            <a:off x="8161020" y="4956048"/>
            <a:ext cx="2537460" cy="274320"/>
          </a:xfrm>
          <a:prstGeom prst="rect">
            <a:avLst/>
          </a:prstGeom>
          <a:solidFill>
            <a:srgbClr val="FFFFFF"/>
          </a:solidFill>
          <a:ln w="6350">
            <a:solidFill>
              <a:srgbClr val="E2E8E8"/>
            </a:solidFill>
            <a:prstDash val="solid"/>
          </a:ln>
        </p:spPr>
      </p:sp>
      <p:sp>
        <p:nvSpPr>
          <p:cNvPr id="39" name="Text 37"/>
          <p:cNvSpPr/>
          <p:nvPr/>
        </p:nvSpPr>
        <p:spPr>
          <a:xfrm>
            <a:off x="8161020" y="495604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1</a:t>
            </a:r>
            <a:endParaRPr lang="en-US" sz="950" dirty="0"/>
          </a:p>
        </p:txBody>
      </p:sp>
      <p:sp>
        <p:nvSpPr>
          <p:cNvPr id="40" name="Shape 38"/>
          <p:cNvSpPr/>
          <p:nvPr/>
        </p:nvSpPr>
        <p:spPr>
          <a:xfrm>
            <a:off x="548640" y="5230368"/>
            <a:ext cx="2537460" cy="274320"/>
          </a:xfrm>
          <a:prstGeom prst="rect">
            <a:avLst/>
          </a:prstGeom>
          <a:solidFill>
            <a:srgbClr val="F2F6FA"/>
          </a:solidFill>
          <a:ln w="6350">
            <a:solidFill>
              <a:srgbClr val="E2E8E8"/>
            </a:solidFill>
            <a:prstDash val="solid"/>
          </a:ln>
        </p:spPr>
      </p:sp>
      <p:sp>
        <p:nvSpPr>
          <p:cNvPr id="41" name="Text 39"/>
          <p:cNvSpPr/>
          <p:nvPr/>
        </p:nvSpPr>
        <p:spPr>
          <a:xfrm>
            <a:off x="548640" y="523036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2</a:t>
            </a:r>
            <a:endParaRPr lang="en-US" sz="950" dirty="0"/>
          </a:p>
        </p:txBody>
      </p:sp>
      <p:sp>
        <p:nvSpPr>
          <p:cNvPr id="42" name="Shape 40"/>
          <p:cNvSpPr/>
          <p:nvPr/>
        </p:nvSpPr>
        <p:spPr>
          <a:xfrm>
            <a:off x="3086100" y="5230368"/>
            <a:ext cx="2537460" cy="274320"/>
          </a:xfrm>
          <a:prstGeom prst="rect">
            <a:avLst/>
          </a:prstGeom>
          <a:solidFill>
            <a:srgbClr val="F2F6FA"/>
          </a:solidFill>
          <a:ln w="6350">
            <a:solidFill>
              <a:srgbClr val="E2E8E8"/>
            </a:solidFill>
            <a:prstDash val="solid"/>
          </a:ln>
        </p:spPr>
      </p:sp>
      <p:sp>
        <p:nvSpPr>
          <p:cNvPr id="43" name="Text 41"/>
          <p:cNvSpPr/>
          <p:nvPr/>
        </p:nvSpPr>
        <p:spPr>
          <a:xfrm>
            <a:off x="3086100" y="523036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Gold Ichulo</a:t>
            </a:r>
            <a:endParaRPr lang="en-US" sz="950" dirty="0"/>
          </a:p>
        </p:txBody>
      </p:sp>
      <p:sp>
        <p:nvSpPr>
          <p:cNvPr id="44" name="Shape 42"/>
          <p:cNvSpPr/>
          <p:nvPr/>
        </p:nvSpPr>
        <p:spPr>
          <a:xfrm>
            <a:off x="5623560" y="5230368"/>
            <a:ext cx="2537460" cy="274320"/>
          </a:xfrm>
          <a:prstGeom prst="rect">
            <a:avLst/>
          </a:prstGeom>
          <a:solidFill>
            <a:srgbClr val="F2F6FA"/>
          </a:solidFill>
          <a:ln w="6350">
            <a:solidFill>
              <a:srgbClr val="E2E8E8"/>
            </a:solidFill>
            <a:prstDash val="solid"/>
          </a:ln>
        </p:spPr>
      </p:sp>
      <p:sp>
        <p:nvSpPr>
          <p:cNvPr id="45" name="Text 43"/>
          <p:cNvSpPr/>
          <p:nvPr/>
        </p:nvSpPr>
        <p:spPr>
          <a:xfrm>
            <a:off x="5623560" y="523036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15000</a:t>
            </a:r>
            <a:endParaRPr lang="en-US" sz="950" dirty="0"/>
          </a:p>
        </p:txBody>
      </p:sp>
      <p:sp>
        <p:nvSpPr>
          <p:cNvPr id="46" name="Shape 44"/>
          <p:cNvSpPr/>
          <p:nvPr/>
        </p:nvSpPr>
        <p:spPr>
          <a:xfrm>
            <a:off x="8161020" y="5230368"/>
            <a:ext cx="2537460" cy="274320"/>
          </a:xfrm>
          <a:prstGeom prst="rect">
            <a:avLst/>
          </a:prstGeom>
          <a:solidFill>
            <a:srgbClr val="F2F6FA"/>
          </a:solidFill>
          <a:ln w="6350">
            <a:solidFill>
              <a:srgbClr val="E2E8E8"/>
            </a:solidFill>
            <a:prstDash val="solid"/>
          </a:ln>
        </p:spPr>
      </p:sp>
      <p:sp>
        <p:nvSpPr>
          <p:cNvPr id="47" name="Text 45"/>
          <p:cNvSpPr/>
          <p:nvPr/>
        </p:nvSpPr>
        <p:spPr>
          <a:xfrm>
            <a:off x="8161020" y="523036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3</a:t>
            </a:r>
            <a:endParaRPr lang="en-US" sz="950" dirty="0"/>
          </a:p>
        </p:txBody>
      </p:sp>
      <p:sp>
        <p:nvSpPr>
          <p:cNvPr id="48" name="Shape 46"/>
          <p:cNvSpPr/>
          <p:nvPr/>
        </p:nvSpPr>
        <p:spPr>
          <a:xfrm>
            <a:off x="548640" y="5504688"/>
            <a:ext cx="2537460" cy="274320"/>
          </a:xfrm>
          <a:prstGeom prst="rect">
            <a:avLst/>
          </a:prstGeom>
          <a:solidFill>
            <a:srgbClr val="FFFFFF"/>
          </a:solidFill>
          <a:ln w="6350">
            <a:solidFill>
              <a:srgbClr val="E2E8E8"/>
            </a:solidFill>
            <a:prstDash val="solid"/>
          </a:ln>
        </p:spPr>
      </p:sp>
      <p:sp>
        <p:nvSpPr>
          <p:cNvPr id="49" name="Text 47"/>
          <p:cNvSpPr/>
          <p:nvPr/>
        </p:nvSpPr>
        <p:spPr>
          <a:xfrm>
            <a:off x="548640" y="550468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3</a:t>
            </a:r>
            <a:endParaRPr lang="en-US" sz="950" dirty="0"/>
          </a:p>
        </p:txBody>
      </p:sp>
      <p:sp>
        <p:nvSpPr>
          <p:cNvPr id="50" name="Shape 48"/>
          <p:cNvSpPr/>
          <p:nvPr/>
        </p:nvSpPr>
        <p:spPr>
          <a:xfrm>
            <a:off x="3086100" y="5504688"/>
            <a:ext cx="2537460" cy="274320"/>
          </a:xfrm>
          <a:prstGeom prst="rect">
            <a:avLst/>
          </a:prstGeom>
          <a:solidFill>
            <a:srgbClr val="FFFFFF"/>
          </a:solidFill>
          <a:ln w="6350">
            <a:solidFill>
              <a:srgbClr val="E2E8E8"/>
            </a:solidFill>
            <a:prstDash val="solid"/>
          </a:ln>
        </p:spPr>
      </p:sp>
      <p:sp>
        <p:nvSpPr>
          <p:cNvPr id="51" name="Text 49"/>
          <p:cNvSpPr/>
          <p:nvPr/>
        </p:nvSpPr>
        <p:spPr>
          <a:xfrm>
            <a:off x="3086100" y="550468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Fatima Anibaba</a:t>
            </a:r>
            <a:endParaRPr lang="en-US" sz="950" dirty="0"/>
          </a:p>
        </p:txBody>
      </p:sp>
      <p:sp>
        <p:nvSpPr>
          <p:cNvPr id="52" name="Shape 50"/>
          <p:cNvSpPr/>
          <p:nvPr/>
        </p:nvSpPr>
        <p:spPr>
          <a:xfrm>
            <a:off x="5623560" y="5504688"/>
            <a:ext cx="2537460" cy="274320"/>
          </a:xfrm>
          <a:prstGeom prst="rect">
            <a:avLst/>
          </a:prstGeom>
          <a:solidFill>
            <a:srgbClr val="FFFFFF"/>
          </a:solidFill>
          <a:ln w="6350">
            <a:solidFill>
              <a:srgbClr val="E2E8E8"/>
            </a:solidFill>
            <a:prstDash val="solid"/>
          </a:ln>
        </p:spPr>
      </p:sp>
      <p:sp>
        <p:nvSpPr>
          <p:cNvPr id="53" name="Text 51"/>
          <p:cNvSpPr/>
          <p:nvPr/>
        </p:nvSpPr>
        <p:spPr>
          <a:xfrm>
            <a:off x="5623560" y="550468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40000</a:t>
            </a:r>
            <a:endParaRPr lang="en-US" sz="950" dirty="0"/>
          </a:p>
        </p:txBody>
      </p:sp>
      <p:sp>
        <p:nvSpPr>
          <p:cNvPr id="54" name="Shape 52"/>
          <p:cNvSpPr/>
          <p:nvPr/>
        </p:nvSpPr>
        <p:spPr>
          <a:xfrm>
            <a:off x="8161020" y="5504688"/>
            <a:ext cx="2537460" cy="274320"/>
          </a:xfrm>
          <a:prstGeom prst="rect">
            <a:avLst/>
          </a:prstGeom>
          <a:solidFill>
            <a:srgbClr val="FFFFFF"/>
          </a:solidFill>
          <a:ln w="6350">
            <a:solidFill>
              <a:srgbClr val="E2E8E8"/>
            </a:solidFill>
            <a:prstDash val="solid"/>
          </a:ln>
        </p:spPr>
      </p:sp>
      <p:sp>
        <p:nvSpPr>
          <p:cNvPr id="55" name="Text 53"/>
          <p:cNvSpPr/>
          <p:nvPr/>
        </p:nvSpPr>
        <p:spPr>
          <a:xfrm>
            <a:off x="8161020" y="5504688"/>
            <a:ext cx="2537460" cy="274320"/>
          </a:xfrm>
          <a:prstGeom prst="rect">
            <a:avLst/>
          </a:prstGeom>
          <a:noFill/>
          <a:ln/>
        </p:spPr>
        <p:txBody>
          <a:bodyPr wrap="square" lIns="0" tIns="0" rIns="0" bIns="0" rtlCol="0" anchor="ctr"/>
          <a:lstStyle/>
          <a:p>
            <a:pPr algn="ctr" indent="0" marL="0">
              <a:buNone/>
            </a:pPr>
            <a:r>
              <a:rPr lang="en-US" sz="950" dirty="0">
                <a:solidFill>
                  <a:srgbClr val="16202A"/>
                </a:solidFill>
                <a:latin typeface="Calibri" pitchFamily="34" charset="0"/>
                <a:ea typeface="Calibri" pitchFamily="34" charset="-122"/>
                <a:cs typeface="Calibri" pitchFamily="34" charset="-120"/>
              </a:rPr>
              <a:t>2</a:t>
            </a:r>
            <a:endParaRPr lang="en-US" sz="950" dirty="0"/>
          </a:p>
        </p:txBody>
      </p:sp>
      <p:sp>
        <p:nvSpPr>
          <p:cNvPr id="56" name="Text 5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57" name="Text 5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2</a:t>
            </a:r>
            <a:endParaRPr lang="en-US" sz="1050" dirty="0"/>
          </a:p>
        </p:txBody>
      </p:sp>
      <p:sp>
        <p:nvSpPr>
          <p:cNvPr id="4" name="Text 2"/>
          <p:cNvSpPr/>
          <p:nvPr/>
        </p:nvSpPr>
        <p:spPr>
          <a:xfrm>
            <a:off x="548640" y="914400"/>
            <a:ext cx="10515600" cy="777240"/>
          </a:xfrm>
          <a:prstGeom prst="rect">
            <a:avLst/>
          </a:prstGeom>
          <a:noFill/>
          <a:ln/>
        </p:spPr>
        <p:txBody>
          <a:bodyPr wrap="square" lIns="0" tIns="0" rIns="0" bIns="0" rtlCol="0" anchor="t"/>
          <a:lstStyle/>
          <a:p>
            <a:pPr indent="0" marL="0">
              <a:buNone/>
            </a:pPr>
            <a:r>
              <a:rPr lang="en-US" sz="2400" b="1" dirty="0">
                <a:solidFill>
                  <a:srgbClr val="16202A"/>
                </a:solidFill>
                <a:latin typeface="Cambria" pitchFamily="34" charset="0"/>
                <a:ea typeface="Cambria" pitchFamily="34" charset="-122"/>
                <a:cs typeface="Cambria" pitchFamily="34" charset="-120"/>
              </a:rPr>
              <a:t>Choosing a GUI Client &amp; Installing MySQL</a:t>
            </a:r>
            <a:endParaRPr lang="en-US" sz="2400" dirty="0"/>
          </a:p>
        </p:txBody>
      </p:sp>
      <p:sp>
        <p:nvSpPr>
          <p:cNvPr id="5" name="Text 3"/>
          <p:cNvSpPr/>
          <p:nvPr/>
        </p:nvSpPr>
        <p:spPr>
          <a:xfrm>
            <a:off x="548640" y="1417320"/>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A GUI client gives you a visual window into your database, instead of typing every command blind</a:t>
            </a:r>
            <a:endParaRPr lang="en-US" sz="1250" dirty="0"/>
          </a:p>
        </p:txBody>
      </p:sp>
      <p:sp>
        <p:nvSpPr>
          <p:cNvPr id="6" name="Shape 4"/>
          <p:cNvSpPr/>
          <p:nvPr/>
        </p:nvSpPr>
        <p:spPr>
          <a:xfrm>
            <a:off x="548640" y="1920240"/>
            <a:ext cx="3291840" cy="2103120"/>
          </a:xfrm>
          <a:prstGeom prst="roundRect">
            <a:avLst>
              <a:gd name="adj" fmla="val 3478"/>
            </a:avLst>
          </a:prstGeom>
          <a:solidFill>
            <a:srgbClr val="F2F6FA"/>
          </a:solidFill>
          <a:ln/>
        </p:spPr>
      </p:sp>
      <p:pic>
        <p:nvPicPr>
          <p:cNvPr id="7" name="Image 0" descr="/home/claude/sqlcourse/media/workbench.jpg">    </p:cNvPr>
          <p:cNvPicPr>
            <a:picLocks noChangeAspect="1"/>
          </p:cNvPicPr>
          <p:nvPr/>
        </p:nvPicPr>
        <p:blipFill>
          <a:blip r:embed="rId1"/>
          <a:srcRect l="0" r="0" t="0" b="0"/>
          <a:stretch/>
        </p:blipFill>
        <p:spPr>
          <a:xfrm>
            <a:off x="1051560" y="2103120"/>
            <a:ext cx="2286000" cy="1371600"/>
          </a:xfrm>
          <a:prstGeom prst="rect">
            <a:avLst/>
          </a:prstGeom>
        </p:spPr>
      </p:pic>
      <p:sp>
        <p:nvSpPr>
          <p:cNvPr id="8" name="Text 5"/>
          <p:cNvSpPr/>
          <p:nvPr/>
        </p:nvSpPr>
        <p:spPr>
          <a:xfrm>
            <a:off x="548640" y="3566160"/>
            <a:ext cx="3291840" cy="365760"/>
          </a:xfrm>
          <a:prstGeom prst="rect">
            <a:avLst/>
          </a:prstGeom>
          <a:noFill/>
          <a:ln/>
        </p:spPr>
        <p:txBody>
          <a:bodyPr wrap="square" lIns="0" tIns="0" rIns="0" bIns="0" rtlCol="0" anchor="ctr"/>
          <a:lstStyle/>
          <a:p>
            <a:pPr algn="ctr" indent="0" marL="0">
              <a:buNone/>
            </a:pPr>
            <a:r>
              <a:rPr lang="en-US" sz="1250" b="1" dirty="0">
                <a:solidFill>
                  <a:srgbClr val="16202A"/>
                </a:solidFill>
                <a:latin typeface="Calibri" pitchFamily="34" charset="0"/>
                <a:ea typeface="Calibri" pitchFamily="34" charset="-122"/>
                <a:cs typeface="Calibri" pitchFamily="34" charset="-120"/>
              </a:rPr>
              <a:t>MySQL Workbench</a:t>
            </a:r>
            <a:endParaRPr lang="en-US" sz="1250" dirty="0"/>
          </a:p>
        </p:txBody>
      </p:sp>
      <p:sp>
        <p:nvSpPr>
          <p:cNvPr id="9" name="Shape 6"/>
          <p:cNvSpPr/>
          <p:nvPr/>
        </p:nvSpPr>
        <p:spPr>
          <a:xfrm>
            <a:off x="4023360" y="1920240"/>
            <a:ext cx="7178040" cy="2103120"/>
          </a:xfrm>
          <a:prstGeom prst="roundRect">
            <a:avLst>
              <a:gd name="adj" fmla="val 3478"/>
            </a:avLst>
          </a:prstGeom>
          <a:solidFill>
            <a:srgbClr val="E3F8F1"/>
          </a:solidFill>
          <a:ln/>
        </p:spPr>
      </p:sp>
      <p:sp>
        <p:nvSpPr>
          <p:cNvPr id="10" name="Text 7"/>
          <p:cNvSpPr/>
          <p:nvPr/>
        </p:nvSpPr>
        <p:spPr>
          <a:xfrm>
            <a:off x="4251960" y="2084832"/>
            <a:ext cx="6766560" cy="274320"/>
          </a:xfrm>
          <a:prstGeom prst="rect">
            <a:avLst/>
          </a:prstGeom>
          <a:noFill/>
          <a:ln/>
        </p:spPr>
        <p:txBody>
          <a:bodyPr wrap="square" lIns="0" tIns="0" rIns="0" bIns="0" rtlCol="0" anchor="ctr"/>
          <a:lstStyle/>
          <a:p>
            <a:pPr indent="0" marL="0">
              <a:buNone/>
            </a:pPr>
            <a:r>
              <a:rPr lang="en-US" sz="1050" b="1" spc="150" kern="0" dirty="0">
                <a:solidFill>
                  <a:srgbClr val="106A56"/>
                </a:solidFill>
                <a:latin typeface="Calibri" pitchFamily="34" charset="0"/>
                <a:ea typeface="Calibri" pitchFamily="34" charset="-122"/>
                <a:cs typeface="Calibri" pitchFamily="34" charset="-120"/>
              </a:rPr>
              <a:t>WHAT WE’LL USE THIS COURSE</a:t>
            </a:r>
            <a:endParaRPr lang="en-US" sz="1050" dirty="0"/>
          </a:p>
        </p:txBody>
      </p:sp>
      <p:sp>
        <p:nvSpPr>
          <p:cNvPr id="11" name="Text 8"/>
          <p:cNvSpPr/>
          <p:nvPr/>
        </p:nvSpPr>
        <p:spPr>
          <a:xfrm>
            <a:off x="4251960" y="2423160"/>
            <a:ext cx="6766560" cy="822960"/>
          </a:xfrm>
          <a:prstGeom prst="rect">
            <a:avLst/>
          </a:prstGeom>
          <a:noFill/>
          <a:ln/>
        </p:spPr>
        <p:txBody>
          <a:bodyPr wrap="square" lIns="0" tIns="0" rIns="0" bIns="0" rtlCol="0" anchor="ctr"/>
          <a:lstStyle/>
          <a:p>
            <a:pPr indent="0" marL="0">
              <a:buNone/>
            </a:pPr>
            <a:r>
              <a:rPr lang="en-US" sz="1200" dirty="0">
                <a:solidFill>
                  <a:srgbClr val="106A56"/>
                </a:solidFill>
                <a:latin typeface="Calibri" pitchFamily="34" charset="0"/>
                <a:ea typeface="Calibri" pitchFamily="34" charset="-122"/>
                <a:cs typeface="Calibri" pitchFamily="34" charset="-120"/>
              </a:rPr>
              <a:t>MySQL Workbench — the official, free GUI client from MySQL. It lets you browse tables visually, write and run queries, and see results in a spreadsheet-like grid without ever touching the command line.</a:t>
            </a:r>
            <a:endParaRPr lang="en-US" sz="1200" dirty="0"/>
          </a:p>
        </p:txBody>
      </p:sp>
      <p:sp>
        <p:nvSpPr>
          <p:cNvPr id="12" name="Text 9"/>
          <p:cNvSpPr/>
          <p:nvPr/>
        </p:nvSpPr>
        <p:spPr>
          <a:xfrm>
            <a:off x="4251960" y="3246120"/>
            <a:ext cx="6766560" cy="731520"/>
          </a:xfrm>
          <a:prstGeom prst="rect">
            <a:avLst/>
          </a:prstGeom>
          <a:noFill/>
          <a:ln/>
        </p:spPr>
        <p:txBody>
          <a:bodyPr wrap="square" lIns="0" tIns="0" rIns="0" bIns="0" rtlCol="0" anchor="ctr"/>
          <a:lstStyle/>
          <a:p>
            <a:pPr indent="0" marL="0">
              <a:buNone/>
            </a:pPr>
            <a:r>
              <a:rPr lang="en-US" sz="1100" i="1" dirty="0">
                <a:solidFill>
                  <a:srgbClr val="106A56"/>
                </a:solidFill>
                <a:latin typeface="Calibri" pitchFamily="34" charset="0"/>
                <a:ea typeface="Calibri" pitchFamily="34" charset="-122"/>
                <a:cs typeface="Calibri" pitchFamily="34" charset="-120"/>
              </a:rPr>
              <a:t>To get set up: download the MySQL Installer from the official MySQL site, install MySQL Server plus MySQL Workbench, then download the sample ‘employees’ database link we’ll use throughout this course.</a:t>
            </a:r>
            <a:endParaRPr lang="en-US" sz="1100" dirty="0"/>
          </a:p>
        </p:txBody>
      </p:sp>
      <p:sp>
        <p:nvSpPr>
          <p:cNvPr id="13" name="Shape 10"/>
          <p:cNvSpPr/>
          <p:nvPr/>
        </p:nvSpPr>
        <p:spPr>
          <a:xfrm>
            <a:off x="548640" y="4251960"/>
            <a:ext cx="10652760" cy="777240"/>
          </a:xfrm>
          <a:prstGeom prst="roundRect">
            <a:avLst>
              <a:gd name="adj" fmla="val 8235"/>
            </a:avLst>
          </a:prstGeom>
          <a:solidFill>
            <a:srgbClr val="FFF4E8"/>
          </a:solidFill>
          <a:ln/>
        </p:spPr>
      </p:sp>
      <p:sp>
        <p:nvSpPr>
          <p:cNvPr id="14" name="Text 11"/>
          <p:cNvSpPr/>
          <p:nvPr/>
        </p:nvSpPr>
        <p:spPr>
          <a:xfrm>
            <a:off x="777240" y="4251960"/>
            <a:ext cx="10241280" cy="777240"/>
          </a:xfrm>
          <a:prstGeom prst="rect">
            <a:avLst/>
          </a:prstGeom>
          <a:noFill/>
          <a:ln/>
        </p:spPr>
        <p:txBody>
          <a:bodyPr wrap="square" lIns="0" tIns="0" rIns="0" bIns="0" rtlCol="0" anchor="ctr"/>
          <a:lstStyle/>
          <a:p>
            <a:pPr indent="0" marL="0">
              <a:buNone/>
            </a:pPr>
            <a:r>
              <a:rPr lang="en-US" sz="1200" b="1" dirty="0">
                <a:solidFill>
                  <a:srgbClr val="8A5A1E"/>
                </a:solidFill>
                <a:latin typeface="Calibri" pitchFamily="34" charset="0"/>
                <a:ea typeface="Calibri" pitchFamily="34" charset="-122"/>
                <a:cs typeface="Calibri" pitchFamily="34" charset="-120"/>
              </a:rPr>
              <a:t>Other options you’ll see in the wild:  </a:t>
            </a:r>
            <a:pPr indent="0" marL="0">
              <a:buNone/>
            </a:pPr>
            <a:r>
              <a:rPr lang="en-US" sz="1200" dirty="0">
                <a:solidFill>
                  <a:srgbClr val="8A5A1E"/>
                </a:solidFill>
                <a:latin typeface="Calibri" pitchFamily="34" charset="0"/>
                <a:ea typeface="Calibri" pitchFamily="34" charset="-122"/>
                <a:cs typeface="Calibri" pitchFamily="34" charset="-120"/>
              </a:rPr>
              <a:t>DBeaver, TablePlus, and pgAdmin (for PostgreSQL specifically) all do a similar job — pick one client and get comfortable with it.</a:t>
            </a:r>
            <a:endParaRPr lang="en-US" sz="1200" dirty="0"/>
          </a:p>
        </p:txBody>
      </p:sp>
      <p:sp>
        <p:nvSpPr>
          <p:cNvPr id="15" name="Text 1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6"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2</a:t>
            </a:r>
            <a:endParaRPr lang="en-US" sz="1050" dirty="0"/>
          </a:p>
        </p:txBody>
      </p:sp>
      <p:sp>
        <p:nvSpPr>
          <p:cNvPr id="4" name="Text 2"/>
          <p:cNvSpPr/>
          <p:nvPr/>
        </p:nvSpPr>
        <p:spPr>
          <a:xfrm>
            <a:off x="548640" y="914400"/>
            <a:ext cx="10515600" cy="777240"/>
          </a:xfrm>
          <a:prstGeom prst="rect">
            <a:avLst/>
          </a:prstGeom>
          <a:noFill/>
          <a:ln/>
        </p:spPr>
        <p:txBody>
          <a:bodyPr wrap="square" lIns="0" tIns="0" rIns="0" bIns="0" rtlCol="0" anchor="t"/>
          <a:lstStyle/>
          <a:p>
            <a:pPr indent="0" marL="0">
              <a:buNone/>
            </a:pPr>
            <a:r>
              <a:rPr lang="en-US" sz="2500" b="1" dirty="0">
                <a:solidFill>
                  <a:srgbClr val="16202A"/>
                </a:solidFill>
                <a:latin typeface="Cambria" pitchFamily="34" charset="0"/>
                <a:ea typeface="Cambria" pitchFamily="34" charset="-122"/>
                <a:cs typeface="Cambria" pitchFamily="34" charset="-120"/>
              </a:rPr>
              <a:t>Importing a Database via Command Line</a:t>
            </a:r>
            <a:endParaRPr lang="en-US" sz="2500" dirty="0"/>
          </a:p>
        </p:txBody>
      </p:sp>
      <p:sp>
        <p:nvSpPr>
          <p:cNvPr id="5" name="Text 3"/>
          <p:cNvSpPr/>
          <p:nvPr/>
        </p:nvSpPr>
        <p:spPr>
          <a:xfrm>
            <a:off x="548640" y="1444752"/>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The GUI has an import wizard too — but knowing the command-line path builds real understanding</a:t>
            </a:r>
            <a:endParaRPr lang="en-US" sz="1250" dirty="0"/>
          </a:p>
        </p:txBody>
      </p:sp>
      <p:sp>
        <p:nvSpPr>
          <p:cNvPr id="6" name="Shape 4"/>
          <p:cNvSpPr/>
          <p:nvPr/>
        </p:nvSpPr>
        <p:spPr>
          <a:xfrm>
            <a:off x="548640" y="1965960"/>
            <a:ext cx="10652760" cy="868680"/>
          </a:xfrm>
          <a:prstGeom prst="roundRect">
            <a:avLst>
              <a:gd name="adj" fmla="val 7368"/>
            </a:avLst>
          </a:prstGeom>
          <a:solidFill>
            <a:srgbClr val="F2F6FA"/>
          </a:solidFill>
          <a:ln/>
        </p:spPr>
      </p:sp>
      <p:sp>
        <p:nvSpPr>
          <p:cNvPr id="7" name="Shape 5"/>
          <p:cNvSpPr/>
          <p:nvPr/>
        </p:nvSpPr>
        <p:spPr>
          <a:xfrm>
            <a:off x="758952" y="2130552"/>
            <a:ext cx="502920" cy="502920"/>
          </a:xfrm>
          <a:prstGeom prst="ellipse">
            <a:avLst/>
          </a:prstGeom>
          <a:solidFill>
            <a:srgbClr val="1E56A0"/>
          </a:solidFill>
          <a:ln/>
        </p:spPr>
      </p:sp>
      <p:sp>
        <p:nvSpPr>
          <p:cNvPr id="8" name="Text 6"/>
          <p:cNvSpPr/>
          <p:nvPr/>
        </p:nvSpPr>
        <p:spPr>
          <a:xfrm>
            <a:off x="758952" y="21305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1463040" y="2057400"/>
            <a:ext cx="9509760" cy="32004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Confirm MySQL is on your PATH</a:t>
            </a:r>
            <a:endParaRPr lang="en-US" sz="1300" dirty="0"/>
          </a:p>
        </p:txBody>
      </p:sp>
      <p:sp>
        <p:nvSpPr>
          <p:cNvPr id="10" name="Text 8"/>
          <p:cNvSpPr/>
          <p:nvPr/>
        </p:nvSpPr>
        <p:spPr>
          <a:xfrm>
            <a:off x="1463040" y="2395728"/>
            <a:ext cx="9509760" cy="365760"/>
          </a:xfrm>
          <a:prstGeom prst="rect">
            <a:avLst/>
          </a:prstGeom>
          <a:noFill/>
          <a:ln/>
        </p:spPr>
        <p:txBody>
          <a:bodyPr wrap="square" lIns="0" tIns="0" rIns="0" bIns="0" rtlCol="0" anchor="ctr"/>
          <a:lstStyle/>
          <a:p>
            <a:pPr indent="0" marL="0">
              <a:buNone/>
            </a:pPr>
            <a:r>
              <a:rPr lang="en-US" sz="1050" dirty="0">
                <a:solidFill>
                  <a:srgbClr val="0FA3B1"/>
                </a:solidFill>
                <a:latin typeface="Courier New" pitchFamily="34" charset="0"/>
                <a:ea typeface="Courier New" pitchFamily="34" charset="-122"/>
                <a:cs typeface="Courier New" pitchFamily="34" charset="-120"/>
              </a:rPr>
              <a:t>mysql –V  (Windows: also try where mysql; Mac: which mysql)</a:t>
            </a:r>
            <a:endParaRPr lang="en-US" sz="1050" dirty="0"/>
          </a:p>
        </p:txBody>
      </p:sp>
      <p:sp>
        <p:nvSpPr>
          <p:cNvPr id="11" name="Shape 9"/>
          <p:cNvSpPr/>
          <p:nvPr/>
        </p:nvSpPr>
        <p:spPr>
          <a:xfrm>
            <a:off x="548640" y="2935224"/>
            <a:ext cx="10652760" cy="868680"/>
          </a:xfrm>
          <a:prstGeom prst="roundRect">
            <a:avLst>
              <a:gd name="adj" fmla="val 7368"/>
            </a:avLst>
          </a:prstGeom>
          <a:solidFill>
            <a:srgbClr val="F2F6FA"/>
          </a:solidFill>
          <a:ln/>
        </p:spPr>
      </p:sp>
      <p:sp>
        <p:nvSpPr>
          <p:cNvPr id="12" name="Shape 10"/>
          <p:cNvSpPr/>
          <p:nvPr/>
        </p:nvSpPr>
        <p:spPr>
          <a:xfrm>
            <a:off x="758952" y="3099816"/>
            <a:ext cx="502920" cy="502920"/>
          </a:xfrm>
          <a:prstGeom prst="ellipse">
            <a:avLst/>
          </a:prstGeom>
          <a:solidFill>
            <a:srgbClr val="1E56A0"/>
          </a:solidFill>
          <a:ln/>
        </p:spPr>
      </p:sp>
      <p:sp>
        <p:nvSpPr>
          <p:cNvPr id="13" name="Text 11"/>
          <p:cNvSpPr/>
          <p:nvPr/>
        </p:nvSpPr>
        <p:spPr>
          <a:xfrm>
            <a:off x="758952" y="30998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1463040" y="3026664"/>
            <a:ext cx="9509760" cy="32004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Add MySQL to your PATH if needed</a:t>
            </a:r>
            <a:endParaRPr lang="en-US" sz="1300" dirty="0"/>
          </a:p>
        </p:txBody>
      </p:sp>
      <p:sp>
        <p:nvSpPr>
          <p:cNvPr id="15" name="Text 13"/>
          <p:cNvSpPr/>
          <p:nvPr/>
        </p:nvSpPr>
        <p:spPr>
          <a:xfrm>
            <a:off x="1463040" y="3364992"/>
            <a:ext cx="9509760" cy="365760"/>
          </a:xfrm>
          <a:prstGeom prst="rect">
            <a:avLst/>
          </a:prstGeom>
          <a:noFill/>
          <a:ln/>
        </p:spPr>
        <p:txBody>
          <a:bodyPr wrap="square" lIns="0" tIns="0" rIns="0" bIns="0" rtlCol="0" anchor="ctr"/>
          <a:lstStyle/>
          <a:p>
            <a:pPr indent="0" marL="0">
              <a:buNone/>
            </a:pPr>
            <a:r>
              <a:rPr lang="en-US" sz="1050" dirty="0">
                <a:solidFill>
                  <a:srgbClr val="0FA3B1"/>
                </a:solidFill>
                <a:latin typeface="Courier New" pitchFamily="34" charset="0"/>
                <a:ea typeface="Courier New" pitchFamily="34" charset="-122"/>
                <a:cs typeface="Courier New" pitchFamily="34" charset="-120"/>
              </a:rPr>
              <a:t>Point your environment variables to: C:\Program Files\MySQL\MySQL Server 8.0\bin</a:t>
            </a:r>
            <a:endParaRPr lang="en-US" sz="1050" dirty="0"/>
          </a:p>
        </p:txBody>
      </p:sp>
      <p:sp>
        <p:nvSpPr>
          <p:cNvPr id="16" name="Shape 14"/>
          <p:cNvSpPr/>
          <p:nvPr/>
        </p:nvSpPr>
        <p:spPr>
          <a:xfrm>
            <a:off x="548640" y="3904488"/>
            <a:ext cx="10652760" cy="868680"/>
          </a:xfrm>
          <a:prstGeom prst="roundRect">
            <a:avLst>
              <a:gd name="adj" fmla="val 7368"/>
            </a:avLst>
          </a:prstGeom>
          <a:solidFill>
            <a:srgbClr val="F2F6FA"/>
          </a:solidFill>
          <a:ln/>
        </p:spPr>
      </p:sp>
      <p:sp>
        <p:nvSpPr>
          <p:cNvPr id="17" name="Shape 15"/>
          <p:cNvSpPr/>
          <p:nvPr/>
        </p:nvSpPr>
        <p:spPr>
          <a:xfrm>
            <a:off x="758952" y="4069080"/>
            <a:ext cx="502920" cy="502920"/>
          </a:xfrm>
          <a:prstGeom prst="ellipse">
            <a:avLst/>
          </a:prstGeom>
          <a:solidFill>
            <a:srgbClr val="1E56A0"/>
          </a:solidFill>
          <a:ln/>
        </p:spPr>
      </p:sp>
      <p:sp>
        <p:nvSpPr>
          <p:cNvPr id="18" name="Text 16"/>
          <p:cNvSpPr/>
          <p:nvPr/>
        </p:nvSpPr>
        <p:spPr>
          <a:xfrm>
            <a:off x="758952" y="40690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1463040" y="3995928"/>
            <a:ext cx="9509760" cy="32004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Connect and create a database</a:t>
            </a:r>
            <a:endParaRPr lang="en-US" sz="1300" dirty="0"/>
          </a:p>
        </p:txBody>
      </p:sp>
      <p:sp>
        <p:nvSpPr>
          <p:cNvPr id="20" name="Text 18"/>
          <p:cNvSpPr/>
          <p:nvPr/>
        </p:nvSpPr>
        <p:spPr>
          <a:xfrm>
            <a:off x="1463040" y="4334256"/>
            <a:ext cx="9509760" cy="365760"/>
          </a:xfrm>
          <a:prstGeom prst="rect">
            <a:avLst/>
          </a:prstGeom>
          <a:noFill/>
          <a:ln/>
        </p:spPr>
        <p:txBody>
          <a:bodyPr wrap="square" lIns="0" tIns="0" rIns="0" bIns="0" rtlCol="0" anchor="ctr"/>
          <a:lstStyle/>
          <a:p>
            <a:pPr indent="0" marL="0">
              <a:buNone/>
            </a:pPr>
            <a:r>
              <a:rPr lang="en-US" sz="1050" dirty="0">
                <a:solidFill>
                  <a:srgbClr val="0FA3B1"/>
                </a:solidFill>
                <a:latin typeface="Courier New" pitchFamily="34" charset="0"/>
                <a:ea typeface="Courier New" pitchFamily="34" charset="-122"/>
                <a:cs typeface="Courier New" pitchFamily="34" charset="-120"/>
              </a:rPr>
              <a:t>mysql -u root -p   → enter password   →   CREATE DATABASE employees;</a:t>
            </a:r>
            <a:endParaRPr lang="en-US" sz="1050" dirty="0"/>
          </a:p>
        </p:txBody>
      </p:sp>
      <p:sp>
        <p:nvSpPr>
          <p:cNvPr id="21" name="Shape 19"/>
          <p:cNvSpPr/>
          <p:nvPr/>
        </p:nvSpPr>
        <p:spPr>
          <a:xfrm>
            <a:off x="548640" y="4873752"/>
            <a:ext cx="10652760" cy="868680"/>
          </a:xfrm>
          <a:prstGeom prst="roundRect">
            <a:avLst>
              <a:gd name="adj" fmla="val 7368"/>
            </a:avLst>
          </a:prstGeom>
          <a:solidFill>
            <a:srgbClr val="F2F6FA"/>
          </a:solidFill>
          <a:ln/>
        </p:spPr>
      </p:sp>
      <p:sp>
        <p:nvSpPr>
          <p:cNvPr id="22" name="Shape 20"/>
          <p:cNvSpPr/>
          <p:nvPr/>
        </p:nvSpPr>
        <p:spPr>
          <a:xfrm>
            <a:off x="758952" y="5038344"/>
            <a:ext cx="502920" cy="502920"/>
          </a:xfrm>
          <a:prstGeom prst="ellipse">
            <a:avLst/>
          </a:prstGeom>
          <a:solidFill>
            <a:srgbClr val="1E56A0"/>
          </a:solidFill>
          <a:ln/>
        </p:spPr>
      </p:sp>
      <p:sp>
        <p:nvSpPr>
          <p:cNvPr id="23" name="Text 21"/>
          <p:cNvSpPr/>
          <p:nvPr/>
        </p:nvSpPr>
        <p:spPr>
          <a:xfrm>
            <a:off x="758952" y="503834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1463040" y="4965192"/>
            <a:ext cx="9509760" cy="320040"/>
          </a:xfrm>
          <a:prstGeom prst="rect">
            <a:avLst/>
          </a:prstGeom>
          <a:noFill/>
          <a:ln/>
        </p:spPr>
        <p:txBody>
          <a:bodyPr wrap="square" lIns="0" tIns="0" rIns="0" bIns="0" rtlCol="0" anchor="ctr"/>
          <a:lstStyle/>
          <a:p>
            <a:pPr indent="0" marL="0">
              <a:buNone/>
            </a:pPr>
            <a:r>
              <a:rPr lang="en-US" sz="1300" b="1" dirty="0">
                <a:solidFill>
                  <a:srgbClr val="16202A"/>
                </a:solidFill>
                <a:latin typeface="Calibri" pitchFamily="34" charset="0"/>
                <a:ea typeface="Calibri" pitchFamily="34" charset="-122"/>
                <a:cs typeface="Calibri" pitchFamily="34" charset="-120"/>
              </a:rPr>
              <a:t>Exit, then import the data</a:t>
            </a:r>
            <a:endParaRPr lang="en-US" sz="1300" dirty="0"/>
          </a:p>
        </p:txBody>
      </p:sp>
      <p:sp>
        <p:nvSpPr>
          <p:cNvPr id="25" name="Text 23"/>
          <p:cNvSpPr/>
          <p:nvPr/>
        </p:nvSpPr>
        <p:spPr>
          <a:xfrm>
            <a:off x="1463040" y="5303520"/>
            <a:ext cx="9509760" cy="365760"/>
          </a:xfrm>
          <a:prstGeom prst="rect">
            <a:avLst/>
          </a:prstGeom>
          <a:noFill/>
          <a:ln/>
        </p:spPr>
        <p:txBody>
          <a:bodyPr wrap="square" lIns="0" tIns="0" rIns="0" bIns="0" rtlCol="0" anchor="ctr"/>
          <a:lstStyle/>
          <a:p>
            <a:pPr indent="0" marL="0">
              <a:buNone/>
            </a:pPr>
            <a:r>
              <a:rPr lang="en-US" sz="1050" dirty="0">
                <a:solidFill>
                  <a:srgbClr val="0FA3B1"/>
                </a:solidFill>
                <a:latin typeface="Courier New" pitchFamily="34" charset="0"/>
                <a:ea typeface="Courier New" pitchFamily="34" charset="-122"/>
                <a:cs typeface="Courier New" pitchFamily="34" charset="-120"/>
              </a:rPr>
              <a:t>\q   to exit, then:   mysql -u root -p employees &lt; employees.sql</a:t>
            </a:r>
            <a:endParaRPr lang="en-US" sz="1050" dirty="0"/>
          </a:p>
        </p:txBody>
      </p:sp>
      <p:sp>
        <p:nvSpPr>
          <p:cNvPr id="26" name="Text 2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7" name="Text 2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2</a:t>
            </a:r>
            <a:endParaRPr lang="en-US" sz="1050" dirty="0"/>
          </a:p>
        </p:txBody>
      </p:sp>
      <p:sp>
        <p:nvSpPr>
          <p:cNvPr id="4" name="Text 2"/>
          <p:cNvSpPr/>
          <p:nvPr/>
        </p:nvSpPr>
        <p:spPr>
          <a:xfrm>
            <a:off x="548640" y="914400"/>
            <a:ext cx="82296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Comments &amp; Schema</a:t>
            </a:r>
            <a:endParaRPr lang="en-US" sz="2900" dirty="0"/>
          </a:p>
        </p:txBody>
      </p:sp>
      <p:sp>
        <p:nvSpPr>
          <p:cNvPr id="5" name="Text 3"/>
          <p:cNvSpPr/>
          <p:nvPr/>
        </p:nvSpPr>
        <p:spPr>
          <a:xfrm>
            <a:off x="548640" y="1508760"/>
            <a:ext cx="1005840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Two small pieces of housekeeping before we start writing real queries</a:t>
            </a:r>
            <a:endParaRPr lang="en-US" sz="1300" dirty="0"/>
          </a:p>
        </p:txBody>
      </p:sp>
      <p:sp>
        <p:nvSpPr>
          <p:cNvPr id="6" name="Text 4"/>
          <p:cNvSpPr/>
          <p:nvPr/>
        </p:nvSpPr>
        <p:spPr>
          <a:xfrm>
            <a:off x="548640" y="2057400"/>
            <a:ext cx="4572000" cy="274320"/>
          </a:xfrm>
          <a:prstGeom prst="rect">
            <a:avLst/>
          </a:prstGeom>
          <a:noFill/>
          <a:ln/>
        </p:spPr>
        <p:txBody>
          <a:bodyPr wrap="square" lIns="0" tIns="0" rIns="0" bIns="0" rtlCol="0" anchor="ctr"/>
          <a:lstStyle/>
          <a:p>
            <a:pPr indent="0" marL="0">
              <a:buNone/>
            </a:pPr>
            <a:r>
              <a:rPr lang="en-US" sz="1100" b="1" spc="150" kern="0" dirty="0">
                <a:solidFill>
                  <a:srgbClr val="1E56A0"/>
                </a:solidFill>
                <a:latin typeface="Calibri" pitchFamily="34" charset="0"/>
                <a:ea typeface="Calibri" pitchFamily="34" charset="-122"/>
                <a:cs typeface="Calibri" pitchFamily="34" charset="-120"/>
              </a:rPr>
              <a:t>COMMENTS</a:t>
            </a:r>
            <a:endParaRPr lang="en-US" sz="1100" dirty="0"/>
          </a:p>
        </p:txBody>
      </p:sp>
      <p:sp>
        <p:nvSpPr>
          <p:cNvPr id="7" name="Text 5"/>
          <p:cNvSpPr/>
          <p:nvPr/>
        </p:nvSpPr>
        <p:spPr>
          <a:xfrm>
            <a:off x="548640" y="2377440"/>
            <a:ext cx="5029200" cy="27432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Single-line:</a:t>
            </a:r>
            <a:endParaRPr lang="en-US" sz="1150" dirty="0"/>
          </a:p>
        </p:txBody>
      </p:sp>
      <p:sp>
        <p:nvSpPr>
          <p:cNvPr id="8" name="Shape 6"/>
          <p:cNvSpPr/>
          <p:nvPr/>
        </p:nvSpPr>
        <p:spPr>
          <a:xfrm>
            <a:off x="548640" y="2670048"/>
            <a:ext cx="5166360" cy="594360"/>
          </a:xfrm>
          <a:prstGeom prst="roundRect">
            <a:avLst>
              <a:gd name="adj" fmla="val 12308"/>
            </a:avLst>
          </a:prstGeom>
          <a:solidFill>
            <a:srgbClr val="0E2A3D"/>
          </a:solidFill>
          <a:ln/>
        </p:spPr>
      </p:sp>
      <p:sp>
        <p:nvSpPr>
          <p:cNvPr id="9" name="Text 7"/>
          <p:cNvSpPr/>
          <p:nvPr/>
        </p:nvSpPr>
        <p:spPr>
          <a:xfrm>
            <a:off x="749808" y="2743200"/>
            <a:ext cx="4764024" cy="448056"/>
          </a:xfrm>
          <a:prstGeom prst="rect">
            <a:avLst/>
          </a:prstGeom>
          <a:noFill/>
          <a:ln/>
        </p:spPr>
        <p:txBody>
          <a:bodyPr wrap="square" lIns="0" tIns="0" rIns="0" bIns="0" rtlCol="0" anchor="ctr"/>
          <a:lstStyle/>
          <a:p>
            <a:pPr algn="l" indent="0" marL="0">
              <a:lnSpc>
                <a:spcPct val="125000"/>
              </a:lnSpc>
              <a:buNone/>
            </a:pPr>
            <a:r>
              <a:rPr lang="en-US" sz="1050" dirty="0">
                <a:solidFill>
                  <a:srgbClr val="BEE9FF"/>
                </a:solidFill>
                <a:latin typeface="Courier New" pitchFamily="34" charset="0"/>
                <a:ea typeface="Courier New" pitchFamily="34" charset="-122"/>
                <a:cs typeface="Courier New" pitchFamily="34" charset="-120"/>
              </a:rPr>
              <a:t>-- your comment here</a:t>
            </a:r>
            <a:endParaRPr lang="en-US" sz="1050" dirty="0"/>
          </a:p>
          <a:p>
            <a:pPr algn="l" indent="0" marL="0">
              <a:lnSpc>
                <a:spcPct val="125000"/>
              </a:lnSpc>
              <a:buNone/>
            </a:pPr>
            <a:r>
              <a:rPr lang="en-US" sz="1050" dirty="0">
                <a:solidFill>
                  <a:srgbClr val="BEE9FF"/>
                </a:solidFill>
                <a:latin typeface="Courier New" pitchFamily="34" charset="0"/>
                <a:ea typeface="Courier New" pitchFamily="34" charset="-122"/>
                <a:cs typeface="Courier New" pitchFamily="34" charset="-120"/>
              </a:rPr>
              <a:t>(note the space after --)</a:t>
            </a:r>
            <a:endParaRPr lang="en-US" sz="1050" dirty="0"/>
          </a:p>
        </p:txBody>
      </p:sp>
      <p:sp>
        <p:nvSpPr>
          <p:cNvPr id="10" name="Text 8"/>
          <p:cNvSpPr/>
          <p:nvPr/>
        </p:nvSpPr>
        <p:spPr>
          <a:xfrm>
            <a:off x="548640" y="3383280"/>
            <a:ext cx="5029200" cy="27432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Multi-line:</a:t>
            </a:r>
            <a:endParaRPr lang="en-US" sz="1150" dirty="0"/>
          </a:p>
        </p:txBody>
      </p:sp>
      <p:sp>
        <p:nvSpPr>
          <p:cNvPr id="11" name="Shape 9"/>
          <p:cNvSpPr/>
          <p:nvPr/>
        </p:nvSpPr>
        <p:spPr>
          <a:xfrm>
            <a:off x="548640" y="3675888"/>
            <a:ext cx="5166360" cy="1005840"/>
          </a:xfrm>
          <a:prstGeom prst="roundRect">
            <a:avLst>
              <a:gd name="adj" fmla="val 7273"/>
            </a:avLst>
          </a:prstGeom>
          <a:solidFill>
            <a:srgbClr val="0E2A3D"/>
          </a:solidFill>
          <a:ln/>
        </p:spPr>
      </p:sp>
      <p:sp>
        <p:nvSpPr>
          <p:cNvPr id="12" name="Text 10"/>
          <p:cNvSpPr/>
          <p:nvPr/>
        </p:nvSpPr>
        <p:spPr>
          <a:xfrm>
            <a:off x="749808" y="3749040"/>
            <a:ext cx="4764024" cy="859536"/>
          </a:xfrm>
          <a:prstGeom prst="rect">
            <a:avLst/>
          </a:prstGeom>
          <a:noFill/>
          <a:ln/>
        </p:spPr>
        <p:txBody>
          <a:bodyPr wrap="square" lIns="0" tIns="0" rIns="0" bIns="0" rtlCol="0" anchor="t"/>
          <a:lstStyle/>
          <a:p>
            <a:pPr algn="l" indent="0" marL="0">
              <a:lnSpc>
                <a:spcPct val="125000"/>
              </a:lnSpc>
              <a:buNone/>
            </a:pPr>
            <a:r>
              <a:rPr lang="en-US" sz="1050" dirty="0">
                <a:solidFill>
                  <a:srgbClr val="BEE9FF"/>
                </a:solidFill>
                <a:latin typeface="Courier New" pitchFamily="34" charset="0"/>
                <a:ea typeface="Courier New" pitchFamily="34" charset="-122"/>
                <a:cs typeface="Courier New" pitchFamily="34" charset="-120"/>
              </a:rPr>
              <a:t>/*</a:t>
            </a:r>
            <a:endParaRPr lang="en-US" sz="1050" dirty="0"/>
          </a:p>
          <a:p>
            <a:pPr algn="l" indent="0" marL="0">
              <a:lnSpc>
                <a:spcPct val="125000"/>
              </a:lnSpc>
              <a:buNone/>
            </a:pPr>
            <a:r>
              <a:rPr lang="en-US" sz="1050" dirty="0">
                <a:solidFill>
                  <a:srgbClr val="BEE9FF"/>
                </a:solidFill>
                <a:latin typeface="Courier New" pitchFamily="34" charset="0"/>
                <a:ea typeface="Courier New" pitchFamily="34" charset="-122"/>
                <a:cs typeface="Courier New" pitchFamily="34" charset="-120"/>
              </a:rPr>
              <a:t>love is</a:t>
            </a:r>
            <a:endParaRPr lang="en-US" sz="1050" dirty="0"/>
          </a:p>
          <a:p>
            <a:pPr algn="l" indent="0" marL="0">
              <a:lnSpc>
                <a:spcPct val="125000"/>
              </a:lnSpc>
              <a:buNone/>
            </a:pPr>
            <a:r>
              <a:rPr lang="en-US" sz="1050" dirty="0">
                <a:solidFill>
                  <a:srgbClr val="BEE9FF"/>
                </a:solidFill>
                <a:latin typeface="Courier New" pitchFamily="34" charset="0"/>
                <a:ea typeface="Courier New" pitchFamily="34" charset="-122"/>
                <a:cs typeface="Courier New" pitchFamily="34" charset="-120"/>
              </a:rPr>
              <a:t>good</a:t>
            </a:r>
            <a:endParaRPr lang="en-US" sz="1050" dirty="0"/>
          </a:p>
          <a:p>
            <a:pPr algn="l" indent="0" marL="0">
              <a:lnSpc>
                <a:spcPct val="125000"/>
              </a:lnSpc>
              <a:buNone/>
            </a:pPr>
            <a:r>
              <a:rPr lang="en-US" sz="1050" dirty="0">
                <a:solidFill>
                  <a:srgbClr val="BEE9FF"/>
                </a:solidFill>
                <a:latin typeface="Courier New" pitchFamily="34" charset="0"/>
                <a:ea typeface="Courier New" pitchFamily="34" charset="-122"/>
                <a:cs typeface="Courier New" pitchFamily="34" charset="-120"/>
              </a:rPr>
              <a:t>*/</a:t>
            </a:r>
            <a:endParaRPr lang="en-US" sz="1050" dirty="0"/>
          </a:p>
        </p:txBody>
      </p:sp>
      <p:sp>
        <p:nvSpPr>
          <p:cNvPr id="13" name="Text 11"/>
          <p:cNvSpPr/>
          <p:nvPr/>
        </p:nvSpPr>
        <p:spPr>
          <a:xfrm>
            <a:off x="5852160" y="2057400"/>
            <a:ext cx="4572000" cy="274320"/>
          </a:xfrm>
          <a:prstGeom prst="rect">
            <a:avLst/>
          </a:prstGeom>
          <a:noFill/>
          <a:ln/>
        </p:spPr>
        <p:txBody>
          <a:bodyPr wrap="square" lIns="0" tIns="0" rIns="0" bIns="0" rtlCol="0" anchor="ctr"/>
          <a:lstStyle/>
          <a:p>
            <a:pPr indent="0" marL="0">
              <a:buNone/>
            </a:pPr>
            <a:r>
              <a:rPr lang="en-US" sz="1100" b="1" spc="150" kern="0" dirty="0">
                <a:solidFill>
                  <a:srgbClr val="1E56A0"/>
                </a:solidFill>
                <a:latin typeface="Calibri" pitchFamily="34" charset="0"/>
                <a:ea typeface="Calibri" pitchFamily="34" charset="-122"/>
                <a:cs typeface="Calibri" pitchFamily="34" charset="-120"/>
              </a:rPr>
              <a:t>SCHEMA</a:t>
            </a:r>
            <a:endParaRPr lang="en-US" sz="1100" dirty="0"/>
          </a:p>
        </p:txBody>
      </p:sp>
      <p:sp>
        <p:nvSpPr>
          <p:cNvPr id="14" name="Text 12"/>
          <p:cNvSpPr/>
          <p:nvPr/>
        </p:nvSpPr>
        <p:spPr>
          <a:xfrm>
            <a:off x="5852160" y="2377440"/>
            <a:ext cx="5349240" cy="77724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 schema is the structure that defines how data is organized in a database — its tables, columns, indexes, and data types.</a:t>
            </a:r>
            <a:endParaRPr lang="en-US" sz="1150" dirty="0"/>
          </a:p>
        </p:txBody>
      </p:sp>
      <p:sp>
        <p:nvSpPr>
          <p:cNvPr id="15" name="Shape 13"/>
          <p:cNvSpPr/>
          <p:nvPr/>
        </p:nvSpPr>
        <p:spPr>
          <a:xfrm>
            <a:off x="5852160" y="3246120"/>
            <a:ext cx="5349240" cy="566928"/>
          </a:xfrm>
          <a:prstGeom prst="roundRect">
            <a:avLst>
              <a:gd name="adj" fmla="val 12903"/>
            </a:avLst>
          </a:prstGeom>
          <a:solidFill>
            <a:srgbClr val="0E2A3D"/>
          </a:solidFill>
          <a:ln/>
        </p:spPr>
      </p:sp>
      <p:sp>
        <p:nvSpPr>
          <p:cNvPr id="16" name="Text 14"/>
          <p:cNvSpPr/>
          <p:nvPr/>
        </p:nvSpPr>
        <p:spPr>
          <a:xfrm>
            <a:off x="6053328" y="3319272"/>
            <a:ext cx="4946904" cy="420624"/>
          </a:xfrm>
          <a:prstGeom prst="rect">
            <a:avLst/>
          </a:prstGeom>
          <a:noFill/>
          <a:ln/>
        </p:spPr>
        <p:txBody>
          <a:bodyPr wrap="square" lIns="0" tIns="0" rIns="0" bIns="0" rtlCol="0" anchor="ctr"/>
          <a:lstStyle/>
          <a:p>
            <a:pPr algn="l" indent="0" marL="0">
              <a:lnSpc>
                <a:spcPct val="125000"/>
              </a:lnSpc>
              <a:buNone/>
            </a:pPr>
            <a:r>
              <a:rPr lang="en-US" sz="1250" dirty="0">
                <a:solidFill>
                  <a:srgbClr val="BEE9FF"/>
                </a:solidFill>
                <a:latin typeface="Courier New" pitchFamily="34" charset="0"/>
                <a:ea typeface="Courier New" pitchFamily="34" charset="-122"/>
                <a:cs typeface="Courier New" pitchFamily="34" charset="-120"/>
              </a:rPr>
              <a:t>CREATE SCHEMA employees;</a:t>
            </a:r>
            <a:endParaRPr lang="en-US" sz="1250" dirty="0"/>
          </a:p>
        </p:txBody>
      </p:sp>
      <p:sp>
        <p:nvSpPr>
          <p:cNvPr id="17" name="Text 15"/>
          <p:cNvSpPr/>
          <p:nvPr/>
        </p:nvSpPr>
        <p:spPr>
          <a:xfrm>
            <a:off x="5852160" y="3931920"/>
            <a:ext cx="5349240" cy="548640"/>
          </a:xfrm>
          <a:prstGeom prst="rect">
            <a:avLst/>
          </a:prstGeom>
          <a:noFill/>
          <a:ln/>
        </p:spPr>
        <p:txBody>
          <a:bodyPr wrap="square" lIns="0" tIns="0" rIns="0" bIns="0" rtlCol="0" anchor="ctr"/>
          <a:lstStyle/>
          <a:p>
            <a:pPr indent="0" marL="0">
              <a:buNone/>
            </a:pPr>
            <a:r>
              <a:rPr lang="en-US" sz="1050" i="1" dirty="0">
                <a:solidFill>
                  <a:srgbClr val="5B6B79"/>
                </a:solidFill>
                <a:latin typeface="Calibri" pitchFamily="34" charset="0"/>
                <a:ea typeface="Calibri" pitchFamily="34" charset="-122"/>
                <a:cs typeface="Calibri" pitchFamily="34" charset="-120"/>
              </a:rPr>
              <a:t>You can also create a schema through the GUI when importing a database, instead of writing this query by hand.</a:t>
            </a:r>
            <a:endParaRPr lang="en-US" sz="1050" dirty="0"/>
          </a:p>
        </p:txBody>
      </p:sp>
      <p:sp>
        <p:nvSpPr>
          <p:cNvPr id="18" name="Shape 16"/>
          <p:cNvSpPr/>
          <p:nvPr/>
        </p:nvSpPr>
        <p:spPr>
          <a:xfrm>
            <a:off x="548640" y="4736592"/>
            <a:ext cx="10652760" cy="640080"/>
          </a:xfrm>
          <a:prstGeom prst="roundRect">
            <a:avLst>
              <a:gd name="adj" fmla="val 10000"/>
            </a:avLst>
          </a:prstGeom>
          <a:solidFill>
            <a:srgbClr val="FFF4E8"/>
          </a:solidFill>
          <a:ln/>
        </p:spPr>
      </p:sp>
      <p:sp>
        <p:nvSpPr>
          <p:cNvPr id="19" name="Text 17"/>
          <p:cNvSpPr/>
          <p:nvPr/>
        </p:nvSpPr>
        <p:spPr>
          <a:xfrm>
            <a:off x="777240" y="4736592"/>
            <a:ext cx="10241280" cy="640080"/>
          </a:xfrm>
          <a:prstGeom prst="rect">
            <a:avLst/>
          </a:prstGeom>
          <a:noFill/>
          <a:ln/>
        </p:spPr>
        <p:txBody>
          <a:bodyPr wrap="square" lIns="0" tIns="0" rIns="0" bIns="0" rtlCol="0" anchor="ctr"/>
          <a:lstStyle/>
          <a:p>
            <a:pPr indent="0" marL="0">
              <a:buNone/>
            </a:pPr>
            <a:r>
              <a:rPr lang="en-US" sz="1200" b="1" dirty="0">
                <a:solidFill>
                  <a:srgbClr val="8A5A1E"/>
                </a:solidFill>
                <a:latin typeface="Calibri" pitchFamily="34" charset="0"/>
                <a:ea typeface="Calibri" pitchFamily="34" charset="-122"/>
                <a:cs typeface="Calibri" pitchFamily="34" charset="-120"/>
              </a:rPr>
              <a:t>Good habit:  </a:t>
            </a:r>
            <a:pPr indent="0" marL="0">
              <a:buNone/>
            </a:pPr>
            <a:r>
              <a:rPr lang="en-US" sz="1200" dirty="0">
                <a:solidFill>
                  <a:srgbClr val="8A5A1E"/>
                </a:solidFill>
                <a:latin typeface="Calibri" pitchFamily="34" charset="0"/>
                <a:ea typeface="Calibri" pitchFamily="34" charset="-122"/>
                <a:cs typeface="Calibri" pitchFamily="34" charset="-120"/>
              </a:rPr>
              <a:t>comment your queries as you learn — future you (and any teammate reading your work) will thank you.</a:t>
            </a:r>
            <a:endParaRPr lang="en-US" sz="1200" dirty="0"/>
          </a:p>
        </p:txBody>
      </p:sp>
      <p:sp>
        <p:nvSpPr>
          <p:cNvPr id="20" name="Text 1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1" name="Text 1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C2C"/>
        </a:solidFill>
      </p:bgPr>
    </p:bg>
    <p:spTree>
      <p:nvGrpSpPr>
        <p:cNvPr id="1" name=""/>
        <p:cNvGrpSpPr/>
        <p:nvPr/>
      </p:nvGrpSpPr>
      <p:grpSpPr>
        <a:xfrm>
          <a:off x="0" y="0"/>
          <a:ext cx="0" cy="0"/>
          <a:chOff x="0" y="0"/>
          <a:chExt cx="0" cy="0"/>
        </a:xfrm>
      </p:grpSpPr>
      <p:sp>
        <p:nvSpPr>
          <p:cNvPr id="2" name="Shape 0"/>
          <p:cNvSpPr/>
          <p:nvPr/>
        </p:nvSpPr>
        <p:spPr>
          <a:xfrm>
            <a:off x="9692640" y="731520"/>
            <a:ext cx="146304" cy="146304"/>
          </a:xfrm>
          <a:prstGeom prst="ellipse">
            <a:avLst/>
          </a:prstGeom>
          <a:solidFill>
            <a:srgbClr val="0FA3B1"/>
          </a:solidFill>
          <a:ln/>
        </p:spPr>
      </p:sp>
      <p:sp>
        <p:nvSpPr>
          <p:cNvPr id="3" name="Shape 1"/>
          <p:cNvSpPr/>
          <p:nvPr/>
        </p:nvSpPr>
        <p:spPr>
          <a:xfrm>
            <a:off x="10424160" y="1188720"/>
            <a:ext cx="146304" cy="146304"/>
          </a:xfrm>
          <a:prstGeom prst="ellipse">
            <a:avLst/>
          </a:prstGeom>
          <a:solidFill>
            <a:srgbClr val="0FA3B1"/>
          </a:solidFill>
          <a:ln/>
        </p:spPr>
      </p:sp>
      <p:sp>
        <p:nvSpPr>
          <p:cNvPr id="4" name="Shape 2"/>
          <p:cNvSpPr/>
          <p:nvPr/>
        </p:nvSpPr>
        <p:spPr>
          <a:xfrm>
            <a:off x="9326880" y="1645920"/>
            <a:ext cx="146304" cy="146304"/>
          </a:xfrm>
          <a:prstGeom prst="ellipse">
            <a:avLst/>
          </a:prstGeom>
          <a:solidFill>
            <a:srgbClr val="0FA3B1"/>
          </a:solidFill>
          <a:ln/>
        </p:spPr>
      </p:sp>
      <p:sp>
        <p:nvSpPr>
          <p:cNvPr id="5" name="Shape 3"/>
          <p:cNvSpPr/>
          <p:nvPr/>
        </p:nvSpPr>
        <p:spPr>
          <a:xfrm>
            <a:off x="11064240" y="822960"/>
            <a:ext cx="146304" cy="146304"/>
          </a:xfrm>
          <a:prstGeom prst="ellipse">
            <a:avLst/>
          </a:prstGeom>
          <a:solidFill>
            <a:srgbClr val="0FA3B1"/>
          </a:solidFill>
          <a:ln/>
        </p:spPr>
      </p:sp>
      <p:sp>
        <p:nvSpPr>
          <p:cNvPr id="6" name="Shape 4"/>
          <p:cNvSpPr/>
          <p:nvPr/>
        </p:nvSpPr>
        <p:spPr>
          <a:xfrm>
            <a:off x="10881360" y="2011680"/>
            <a:ext cx="146304" cy="146304"/>
          </a:xfrm>
          <a:prstGeom prst="ellipse">
            <a:avLst/>
          </a:prstGeom>
          <a:solidFill>
            <a:srgbClr val="0FA3B1"/>
          </a:solidFill>
          <a:ln/>
        </p:spPr>
      </p:sp>
      <p:sp>
        <p:nvSpPr>
          <p:cNvPr id="7" name="Shape 5"/>
          <p:cNvSpPr/>
          <p:nvPr/>
        </p:nvSpPr>
        <p:spPr>
          <a:xfrm>
            <a:off x="9875520" y="2377440"/>
            <a:ext cx="146304" cy="146304"/>
          </a:xfrm>
          <a:prstGeom prst="ellipse">
            <a:avLst/>
          </a:prstGeom>
          <a:solidFill>
            <a:srgbClr val="0FA3B1"/>
          </a:solidFill>
          <a:ln/>
        </p:spPr>
      </p:sp>
      <p:sp>
        <p:nvSpPr>
          <p:cNvPr id="8" name="Text 6"/>
          <p:cNvSpPr/>
          <p:nvPr/>
        </p:nvSpPr>
        <p:spPr>
          <a:xfrm>
            <a:off x="822960" y="2651760"/>
            <a:ext cx="7315200" cy="457200"/>
          </a:xfrm>
          <a:prstGeom prst="rect">
            <a:avLst/>
          </a:prstGeom>
          <a:noFill/>
          <a:ln/>
        </p:spPr>
        <p:txBody>
          <a:bodyPr wrap="square" lIns="0" tIns="0" rIns="0" bIns="0" rtlCol="0" anchor="ctr"/>
          <a:lstStyle/>
          <a:p>
            <a:pPr indent="0" marL="0">
              <a:buNone/>
            </a:pPr>
            <a:r>
              <a:rPr lang="en-US" sz="1400" b="1" spc="300" kern="0" dirty="0">
                <a:solidFill>
                  <a:srgbClr val="2FBF8F"/>
                </a:solidFill>
                <a:latin typeface="Calibri" pitchFamily="34" charset="0"/>
                <a:ea typeface="Calibri" pitchFamily="34" charset="-122"/>
                <a:cs typeface="Calibri" pitchFamily="34" charset="-120"/>
              </a:rPr>
              <a:t>PART 3</a:t>
            </a:r>
            <a:endParaRPr lang="en-US" sz="1400" dirty="0"/>
          </a:p>
        </p:txBody>
      </p:sp>
      <p:sp>
        <p:nvSpPr>
          <p:cNvPr id="9" name="Text 7"/>
          <p:cNvSpPr/>
          <p:nvPr/>
        </p:nvSpPr>
        <p:spPr>
          <a:xfrm>
            <a:off x="822960" y="3063240"/>
            <a:ext cx="10058400" cy="10972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Your First Queries</a:t>
            </a:r>
            <a:endParaRPr lang="en-US" sz="3800" dirty="0"/>
          </a:p>
        </p:txBody>
      </p:sp>
      <p:sp>
        <p:nvSpPr>
          <p:cNvPr id="10" name="Shape 8"/>
          <p:cNvSpPr/>
          <p:nvPr/>
        </p:nvSpPr>
        <p:spPr>
          <a:xfrm>
            <a:off x="822960" y="3977640"/>
            <a:ext cx="2011680" cy="0"/>
          </a:xfrm>
          <a:prstGeom prst="line">
            <a:avLst/>
          </a:prstGeom>
          <a:noFill/>
          <a:ln w="25400">
            <a:solidFill>
              <a:srgbClr val="2FBF8F"/>
            </a:solidFill>
            <a:prstDash val="solid"/>
          </a:ln>
        </p:spPr>
      </p:sp>
      <p:sp>
        <p:nvSpPr>
          <p:cNvPr id="11" name="Text 9"/>
          <p:cNvSpPr/>
          <p:nvPr/>
        </p:nvSpPr>
        <p:spPr>
          <a:xfrm>
            <a:off x="822960" y="4160520"/>
            <a:ext cx="9144000" cy="548640"/>
          </a:xfrm>
          <a:prstGeom prst="rect">
            <a:avLst/>
          </a:prstGeom>
          <a:noFill/>
          <a:ln/>
        </p:spPr>
        <p:txBody>
          <a:bodyPr wrap="square" lIns="0" tIns="0" rIns="0" bIns="0" rtlCol="0" anchor="ctr"/>
          <a:lstStyle/>
          <a:p>
            <a:pPr indent="0" marL="0">
              <a:buNone/>
            </a:pPr>
            <a:r>
              <a:rPr lang="en-US" sz="1500" i="1" dirty="0">
                <a:solidFill>
                  <a:srgbClr val="BFD6E8"/>
                </a:solidFill>
                <a:latin typeface="Calibri" pitchFamily="34" charset="0"/>
                <a:ea typeface="Calibri" pitchFamily="34" charset="-122"/>
                <a:cs typeface="Calibri" pitchFamily="34" charset="-120"/>
              </a:rPr>
              <a:t>SELECT, aliases, concatenation, and aggregate functions</a:t>
            </a:r>
            <a:endParaRPr lang="en-US" sz="15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3"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The SELECT Statement</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Retrieve specific columns — or all columns — from a table</a:t>
            </a:r>
            <a:endParaRPr lang="en-US" sz="1350" dirty="0"/>
          </a:p>
        </p:txBody>
      </p:sp>
      <p:sp>
        <p:nvSpPr>
          <p:cNvPr id="6" name="Shape 4"/>
          <p:cNvSpPr/>
          <p:nvPr/>
        </p:nvSpPr>
        <p:spPr>
          <a:xfrm>
            <a:off x="548640" y="1965960"/>
            <a:ext cx="10652760" cy="621792"/>
          </a:xfrm>
          <a:prstGeom prst="roundRect">
            <a:avLst>
              <a:gd name="adj" fmla="val 11765"/>
            </a:avLst>
          </a:prstGeom>
          <a:solidFill>
            <a:srgbClr val="0E2A3D"/>
          </a:solidFill>
          <a:ln/>
        </p:spPr>
      </p:sp>
      <p:sp>
        <p:nvSpPr>
          <p:cNvPr id="7" name="Text 5"/>
          <p:cNvSpPr/>
          <p:nvPr/>
        </p:nvSpPr>
        <p:spPr>
          <a:xfrm>
            <a:off x="749808" y="2039112"/>
            <a:ext cx="10250424" cy="475488"/>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SELECT column1, column2</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FROM table_name;</a:t>
            </a:r>
            <a:endParaRPr lang="en-US" sz="1500" dirty="0"/>
          </a:p>
        </p:txBody>
      </p:sp>
      <p:sp>
        <p:nvSpPr>
          <p:cNvPr id="8" name="Shape 6"/>
          <p:cNvSpPr/>
          <p:nvPr/>
        </p:nvSpPr>
        <p:spPr>
          <a:xfrm>
            <a:off x="548640" y="2752344"/>
            <a:ext cx="10652760" cy="530352"/>
          </a:xfrm>
          <a:prstGeom prst="roundRect">
            <a:avLst>
              <a:gd name="adj" fmla="val 10345"/>
            </a:avLst>
          </a:prstGeom>
          <a:solidFill>
            <a:srgbClr val="F2F6FA"/>
          </a:solidFill>
          <a:ln/>
        </p:spPr>
      </p:sp>
      <p:sp>
        <p:nvSpPr>
          <p:cNvPr id="9" name="Text 7"/>
          <p:cNvSpPr/>
          <p:nvPr/>
        </p:nvSpPr>
        <p:spPr>
          <a:xfrm>
            <a:off x="777240" y="2752344"/>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column1, column2</a:t>
            </a:r>
            <a:endParaRPr lang="en-US" sz="1250" dirty="0"/>
          </a:p>
        </p:txBody>
      </p:sp>
      <p:sp>
        <p:nvSpPr>
          <p:cNvPr id="10" name="Text 8"/>
          <p:cNvSpPr/>
          <p:nvPr/>
        </p:nvSpPr>
        <p:spPr>
          <a:xfrm>
            <a:off x="3291840" y="2752344"/>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The specific fields you want returned — or use * for every column</a:t>
            </a:r>
            <a:endParaRPr lang="en-US" sz="1200" dirty="0"/>
          </a:p>
        </p:txBody>
      </p:sp>
      <p:sp>
        <p:nvSpPr>
          <p:cNvPr id="11" name="Shape 9"/>
          <p:cNvSpPr/>
          <p:nvPr/>
        </p:nvSpPr>
        <p:spPr>
          <a:xfrm>
            <a:off x="548640" y="3364992"/>
            <a:ext cx="10652760" cy="530352"/>
          </a:xfrm>
          <a:prstGeom prst="roundRect">
            <a:avLst>
              <a:gd name="adj" fmla="val 10345"/>
            </a:avLst>
          </a:prstGeom>
          <a:solidFill>
            <a:srgbClr val="F2F6FA"/>
          </a:solidFill>
          <a:ln/>
        </p:spPr>
      </p:sp>
      <p:sp>
        <p:nvSpPr>
          <p:cNvPr id="12" name="Text 10"/>
          <p:cNvSpPr/>
          <p:nvPr/>
        </p:nvSpPr>
        <p:spPr>
          <a:xfrm>
            <a:off x="777240" y="3364992"/>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FROM table_name</a:t>
            </a:r>
            <a:endParaRPr lang="en-US" sz="1250" dirty="0"/>
          </a:p>
        </p:txBody>
      </p:sp>
      <p:sp>
        <p:nvSpPr>
          <p:cNvPr id="13" name="Text 11"/>
          <p:cNvSpPr/>
          <p:nvPr/>
        </p:nvSpPr>
        <p:spPr>
          <a:xfrm>
            <a:off x="3291840" y="3364992"/>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Which table to pull those columns from</a:t>
            </a:r>
            <a:endParaRPr lang="en-US" sz="1200" dirty="0"/>
          </a:p>
        </p:txBody>
      </p:sp>
      <p:sp>
        <p:nvSpPr>
          <p:cNvPr id="14" name="Shape 12"/>
          <p:cNvSpPr/>
          <p:nvPr/>
        </p:nvSpPr>
        <p:spPr>
          <a:xfrm>
            <a:off x="548640" y="4050792"/>
            <a:ext cx="10652760" cy="685800"/>
          </a:xfrm>
          <a:prstGeom prst="roundRect">
            <a:avLst>
              <a:gd name="adj" fmla="val 8000"/>
            </a:avLst>
          </a:prstGeom>
          <a:solidFill>
            <a:srgbClr val="FFF4E8"/>
          </a:solidFill>
          <a:ln/>
        </p:spPr>
      </p:sp>
      <p:sp>
        <p:nvSpPr>
          <p:cNvPr id="15" name="Text 13"/>
          <p:cNvSpPr/>
          <p:nvPr/>
        </p:nvSpPr>
        <p:spPr>
          <a:xfrm>
            <a:off x="777240" y="4050792"/>
            <a:ext cx="10241280" cy="685800"/>
          </a:xfrm>
          <a:prstGeom prst="rect">
            <a:avLst/>
          </a:prstGeom>
          <a:noFill/>
          <a:ln/>
        </p:spPr>
        <p:txBody>
          <a:bodyPr wrap="square" lIns="0" tIns="0" rIns="0" bIns="0" rtlCol="0" anchor="ctr"/>
          <a:lstStyle/>
          <a:p>
            <a:pPr indent="0" marL="0">
              <a:buNone/>
            </a:pPr>
            <a:r>
              <a:rPr lang="en-US" sz="1150" dirty="0">
                <a:solidFill>
                  <a:srgbClr val="8A5A1E"/>
                </a:solidFill>
                <a:latin typeface="Calibri" pitchFamily="34" charset="0"/>
                <a:ea typeface="Calibri" pitchFamily="34" charset="-122"/>
                <a:cs typeface="Calibri" pitchFamily="34" charset="-120"/>
              </a:rPr>
              <a:t>SELECT * FROM employees; returns every column for every row — great for exploring a new table, but name your columns explicitly once you know what you need.</a:t>
            </a:r>
            <a:endParaRPr lang="en-US" sz="115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CONCAT &amp; Alias</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Join text values together into one string, then give the result a friendly name</a:t>
            </a:r>
            <a:endParaRPr lang="en-US" sz="1350" dirty="0"/>
          </a:p>
        </p:txBody>
      </p:sp>
      <p:sp>
        <p:nvSpPr>
          <p:cNvPr id="6" name="Shape 4"/>
          <p:cNvSpPr/>
          <p:nvPr/>
        </p:nvSpPr>
        <p:spPr>
          <a:xfrm>
            <a:off x="548640" y="1965960"/>
            <a:ext cx="10652760" cy="621792"/>
          </a:xfrm>
          <a:prstGeom prst="roundRect">
            <a:avLst>
              <a:gd name="adj" fmla="val 11765"/>
            </a:avLst>
          </a:prstGeom>
          <a:solidFill>
            <a:srgbClr val="0E2A3D"/>
          </a:solidFill>
          <a:ln/>
        </p:spPr>
      </p:sp>
      <p:sp>
        <p:nvSpPr>
          <p:cNvPr id="7" name="Text 5"/>
          <p:cNvSpPr/>
          <p:nvPr/>
        </p:nvSpPr>
        <p:spPr>
          <a:xfrm>
            <a:off x="749808" y="2039112"/>
            <a:ext cx="10250424" cy="475488"/>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SELECT CONCAT(first_name, ' ', last_name) AS "name"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FROM employees;</a:t>
            </a:r>
            <a:endParaRPr lang="en-US" sz="1500" dirty="0"/>
          </a:p>
        </p:txBody>
      </p:sp>
      <p:sp>
        <p:nvSpPr>
          <p:cNvPr id="8" name="Shape 6"/>
          <p:cNvSpPr/>
          <p:nvPr/>
        </p:nvSpPr>
        <p:spPr>
          <a:xfrm>
            <a:off x="548640" y="2752344"/>
            <a:ext cx="10652760" cy="530352"/>
          </a:xfrm>
          <a:prstGeom prst="roundRect">
            <a:avLst>
              <a:gd name="adj" fmla="val 10345"/>
            </a:avLst>
          </a:prstGeom>
          <a:solidFill>
            <a:srgbClr val="F2F6FA"/>
          </a:solidFill>
          <a:ln/>
        </p:spPr>
      </p:sp>
      <p:sp>
        <p:nvSpPr>
          <p:cNvPr id="9" name="Text 7"/>
          <p:cNvSpPr/>
          <p:nvPr/>
        </p:nvSpPr>
        <p:spPr>
          <a:xfrm>
            <a:off x="777240" y="2752344"/>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CONCAT(a, b, ...)</a:t>
            </a:r>
            <a:endParaRPr lang="en-US" sz="1250" dirty="0"/>
          </a:p>
        </p:txBody>
      </p:sp>
      <p:sp>
        <p:nvSpPr>
          <p:cNvPr id="10" name="Text 8"/>
          <p:cNvSpPr/>
          <p:nvPr/>
        </p:nvSpPr>
        <p:spPr>
          <a:xfrm>
            <a:off x="3291840" y="2752344"/>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Joins multiple values into a single text string</a:t>
            </a:r>
            <a:endParaRPr lang="en-US" sz="1200" dirty="0"/>
          </a:p>
        </p:txBody>
      </p:sp>
      <p:sp>
        <p:nvSpPr>
          <p:cNvPr id="11" name="Shape 9"/>
          <p:cNvSpPr/>
          <p:nvPr/>
        </p:nvSpPr>
        <p:spPr>
          <a:xfrm>
            <a:off x="548640" y="3364992"/>
            <a:ext cx="10652760" cy="530352"/>
          </a:xfrm>
          <a:prstGeom prst="roundRect">
            <a:avLst>
              <a:gd name="adj" fmla="val 10345"/>
            </a:avLst>
          </a:prstGeom>
          <a:solidFill>
            <a:srgbClr val="F2F6FA"/>
          </a:solidFill>
          <a:ln/>
        </p:spPr>
      </p:sp>
      <p:sp>
        <p:nvSpPr>
          <p:cNvPr id="12" name="Text 10"/>
          <p:cNvSpPr/>
          <p:nvPr/>
        </p:nvSpPr>
        <p:spPr>
          <a:xfrm>
            <a:off x="777240" y="3364992"/>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AS "name"</a:t>
            </a:r>
            <a:endParaRPr lang="en-US" sz="1250" dirty="0"/>
          </a:p>
        </p:txBody>
      </p:sp>
      <p:sp>
        <p:nvSpPr>
          <p:cNvPr id="13" name="Text 11"/>
          <p:cNvSpPr/>
          <p:nvPr/>
        </p:nvSpPr>
        <p:spPr>
          <a:xfrm>
            <a:off x="3291840" y="3364992"/>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Alias — renames the column in your results only, never the table itself</a:t>
            </a:r>
            <a:endParaRPr lang="en-US" sz="1200" dirty="0"/>
          </a:p>
        </p:txBody>
      </p:sp>
      <p:sp>
        <p:nvSpPr>
          <p:cNvPr id="14" name="Shape 12"/>
          <p:cNvSpPr/>
          <p:nvPr/>
        </p:nvSpPr>
        <p:spPr>
          <a:xfrm>
            <a:off x="548640" y="4050792"/>
            <a:ext cx="10652760" cy="685800"/>
          </a:xfrm>
          <a:prstGeom prst="roundRect">
            <a:avLst>
              <a:gd name="adj" fmla="val 8000"/>
            </a:avLst>
          </a:prstGeom>
          <a:solidFill>
            <a:srgbClr val="FFF4E8"/>
          </a:solidFill>
          <a:ln/>
        </p:spPr>
      </p:sp>
      <p:sp>
        <p:nvSpPr>
          <p:cNvPr id="15" name="Text 13"/>
          <p:cNvSpPr/>
          <p:nvPr/>
        </p:nvSpPr>
        <p:spPr>
          <a:xfrm>
            <a:off x="777240" y="4050792"/>
            <a:ext cx="10241280" cy="685800"/>
          </a:xfrm>
          <a:prstGeom prst="rect">
            <a:avLst/>
          </a:prstGeom>
          <a:noFill/>
          <a:ln/>
        </p:spPr>
        <p:txBody>
          <a:bodyPr wrap="square" lIns="0" tIns="0" rIns="0" bIns="0" rtlCol="0" anchor="ctr"/>
          <a:lstStyle/>
          <a:p>
            <a:pPr indent="0" marL="0">
              <a:buNone/>
            </a:pPr>
            <a:r>
              <a:rPr lang="en-US" sz="1150" dirty="0">
                <a:solidFill>
                  <a:srgbClr val="8A5A1E"/>
                </a:solidFill>
                <a:latin typeface="Calibri" pitchFamily="34" charset="0"/>
                <a:ea typeface="Calibri" pitchFamily="34" charset="-122"/>
                <a:cs typeface="Calibri" pitchFamily="34" charset="-120"/>
              </a:rPr>
              <a:t>Aliases work on columns, calculations, or even whole tables — they're one of the easiest ways to make a messy result set instantly readable.</a:t>
            </a:r>
            <a:endParaRPr lang="en-US" sz="115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Aggregate Functions</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A function is a set of steps that produces a single value. Aggregate functions summarize many rows into one number.</a:t>
            </a:r>
            <a:endParaRPr lang="en-US" sz="1350" dirty="0"/>
          </a:p>
        </p:txBody>
      </p:sp>
      <p:sp>
        <p:nvSpPr>
          <p:cNvPr id="6" name="Shape 4"/>
          <p:cNvSpPr/>
          <p:nvPr/>
        </p:nvSpPr>
        <p:spPr>
          <a:xfrm>
            <a:off x="548640" y="1965960"/>
            <a:ext cx="10652760" cy="621792"/>
          </a:xfrm>
          <a:prstGeom prst="roundRect">
            <a:avLst>
              <a:gd name="adj" fmla="val 11765"/>
            </a:avLst>
          </a:prstGeom>
          <a:solidFill>
            <a:srgbClr val="0E2A3D"/>
          </a:solidFill>
          <a:ln/>
        </p:spPr>
      </p:sp>
      <p:sp>
        <p:nvSpPr>
          <p:cNvPr id="7" name="Text 5"/>
          <p:cNvSpPr/>
          <p:nvPr/>
        </p:nvSpPr>
        <p:spPr>
          <a:xfrm>
            <a:off x="749808" y="2039112"/>
            <a:ext cx="10250424" cy="475488"/>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SELECT COUNT(col), MAX(col), MIN(col), AVG(col), SUM(col)</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FROM table_name;</a:t>
            </a:r>
            <a:endParaRPr lang="en-US" sz="1500" dirty="0"/>
          </a:p>
        </p:txBody>
      </p:sp>
      <p:sp>
        <p:nvSpPr>
          <p:cNvPr id="8" name="Shape 6"/>
          <p:cNvSpPr/>
          <p:nvPr/>
        </p:nvSpPr>
        <p:spPr>
          <a:xfrm>
            <a:off x="548640" y="2752344"/>
            <a:ext cx="10652760" cy="530352"/>
          </a:xfrm>
          <a:prstGeom prst="roundRect">
            <a:avLst>
              <a:gd name="adj" fmla="val 10345"/>
            </a:avLst>
          </a:prstGeom>
          <a:solidFill>
            <a:srgbClr val="F2F6FA"/>
          </a:solidFill>
          <a:ln/>
        </p:spPr>
      </p:sp>
      <p:sp>
        <p:nvSpPr>
          <p:cNvPr id="9" name="Text 7"/>
          <p:cNvSpPr/>
          <p:nvPr/>
        </p:nvSpPr>
        <p:spPr>
          <a:xfrm>
            <a:off x="777240" y="2752344"/>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COUNT()</a:t>
            </a:r>
            <a:endParaRPr lang="en-US" sz="1250" dirty="0"/>
          </a:p>
        </p:txBody>
      </p:sp>
      <p:sp>
        <p:nvSpPr>
          <p:cNvPr id="10" name="Text 8"/>
          <p:cNvSpPr/>
          <p:nvPr/>
        </p:nvSpPr>
        <p:spPr>
          <a:xfrm>
            <a:off x="3291840" y="2752344"/>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How many rows (or non-empty values) are there?</a:t>
            </a:r>
            <a:endParaRPr lang="en-US" sz="1200" dirty="0"/>
          </a:p>
        </p:txBody>
      </p:sp>
      <p:sp>
        <p:nvSpPr>
          <p:cNvPr id="11" name="Shape 9"/>
          <p:cNvSpPr/>
          <p:nvPr/>
        </p:nvSpPr>
        <p:spPr>
          <a:xfrm>
            <a:off x="548640" y="3364992"/>
            <a:ext cx="10652760" cy="530352"/>
          </a:xfrm>
          <a:prstGeom prst="roundRect">
            <a:avLst>
              <a:gd name="adj" fmla="val 10345"/>
            </a:avLst>
          </a:prstGeom>
          <a:solidFill>
            <a:srgbClr val="F2F6FA"/>
          </a:solidFill>
          <a:ln/>
        </p:spPr>
      </p:sp>
      <p:sp>
        <p:nvSpPr>
          <p:cNvPr id="12" name="Text 10"/>
          <p:cNvSpPr/>
          <p:nvPr/>
        </p:nvSpPr>
        <p:spPr>
          <a:xfrm>
            <a:off x="777240" y="3364992"/>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MAX() / MIN()</a:t>
            </a:r>
            <a:endParaRPr lang="en-US" sz="1250" dirty="0"/>
          </a:p>
        </p:txBody>
      </p:sp>
      <p:sp>
        <p:nvSpPr>
          <p:cNvPr id="13" name="Text 11"/>
          <p:cNvSpPr/>
          <p:nvPr/>
        </p:nvSpPr>
        <p:spPr>
          <a:xfrm>
            <a:off x="3291840" y="3364992"/>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What’s the largest / smallest value?</a:t>
            </a:r>
            <a:endParaRPr lang="en-US" sz="1200" dirty="0"/>
          </a:p>
        </p:txBody>
      </p:sp>
      <p:sp>
        <p:nvSpPr>
          <p:cNvPr id="14" name="Shape 12"/>
          <p:cNvSpPr/>
          <p:nvPr/>
        </p:nvSpPr>
        <p:spPr>
          <a:xfrm>
            <a:off x="548640" y="3977640"/>
            <a:ext cx="10652760" cy="530352"/>
          </a:xfrm>
          <a:prstGeom prst="roundRect">
            <a:avLst>
              <a:gd name="adj" fmla="val 10345"/>
            </a:avLst>
          </a:prstGeom>
          <a:solidFill>
            <a:srgbClr val="F2F6FA"/>
          </a:solidFill>
          <a:ln/>
        </p:spPr>
      </p:sp>
      <p:sp>
        <p:nvSpPr>
          <p:cNvPr id="15" name="Text 13"/>
          <p:cNvSpPr/>
          <p:nvPr/>
        </p:nvSpPr>
        <p:spPr>
          <a:xfrm>
            <a:off x="777240" y="3977640"/>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AVG() / SUM()</a:t>
            </a:r>
            <a:endParaRPr lang="en-US" sz="1250" dirty="0"/>
          </a:p>
        </p:txBody>
      </p:sp>
      <p:sp>
        <p:nvSpPr>
          <p:cNvPr id="16" name="Text 14"/>
          <p:cNvSpPr/>
          <p:nvPr/>
        </p:nvSpPr>
        <p:spPr>
          <a:xfrm>
            <a:off x="3291840" y="3977640"/>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What’s the average / total across all rows?</a:t>
            </a:r>
            <a:endParaRPr lang="en-US" sz="1200" dirty="0"/>
          </a:p>
        </p:txBody>
      </p:sp>
      <p:sp>
        <p:nvSpPr>
          <p:cNvPr id="17" name="Text 15"/>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8"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a:t>
            </a:r>
            <a:endParaRPr lang="en-US" sz="1050" dirty="0"/>
          </a:p>
        </p:txBody>
      </p:sp>
      <p:sp>
        <p:nvSpPr>
          <p:cNvPr id="4" name="Text 2"/>
          <p:cNvSpPr/>
          <p:nvPr/>
        </p:nvSpPr>
        <p:spPr>
          <a:xfrm>
            <a:off x="548640" y="914400"/>
            <a:ext cx="10515600" cy="777240"/>
          </a:xfrm>
          <a:prstGeom prst="rect">
            <a:avLst/>
          </a:prstGeom>
          <a:noFill/>
          <a:ln/>
        </p:spPr>
        <p:txBody>
          <a:bodyPr wrap="square" lIns="0" tIns="0" rIns="0" bIns="0" rtlCol="0" anchor="t"/>
          <a:lstStyle/>
          <a:p>
            <a:pPr indent="0" marL="0">
              <a:buNone/>
            </a:pPr>
            <a:r>
              <a:rPr lang="en-US" sz="2400" b="1" dirty="0">
                <a:solidFill>
                  <a:srgbClr val="16202A"/>
                </a:solidFill>
                <a:latin typeface="Cambria" pitchFamily="34" charset="0"/>
                <a:ea typeface="Cambria" pitchFamily="34" charset="-122"/>
                <a:cs typeface="Cambria" pitchFamily="34" charset="-120"/>
              </a:rPr>
              <a:t>Aggregate Functions — Answering Real Questions</a:t>
            </a:r>
            <a:endParaRPr lang="en-US" sz="2400" dirty="0"/>
          </a:p>
        </p:txBody>
      </p:sp>
      <p:sp>
        <p:nvSpPr>
          <p:cNvPr id="5" name="Text 3"/>
          <p:cNvSpPr/>
          <p:nvPr/>
        </p:nvSpPr>
        <p:spPr>
          <a:xfrm>
            <a:off x="548640" y="1444752"/>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Evolve Corp’s manager just asked you three questions — here’s how you’d answer each one</a:t>
            </a:r>
            <a:endParaRPr lang="en-US" sz="1250" dirty="0"/>
          </a:p>
        </p:txBody>
      </p:sp>
      <p:sp>
        <p:nvSpPr>
          <p:cNvPr id="6" name="Text 4"/>
          <p:cNvSpPr/>
          <p:nvPr/>
        </p:nvSpPr>
        <p:spPr>
          <a:xfrm>
            <a:off x="548640" y="1965960"/>
            <a:ext cx="10607040" cy="292608"/>
          </a:xfrm>
          <a:prstGeom prst="rect">
            <a:avLst/>
          </a:prstGeom>
          <a:noFill/>
          <a:ln/>
        </p:spPr>
        <p:txBody>
          <a:bodyPr wrap="square" lIns="0" tIns="0" rIns="0" bIns="0" rtlCol="0" anchor="ctr"/>
          <a:lstStyle/>
          <a:p>
            <a:pPr indent="0" marL="0">
              <a:buNone/>
            </a:pPr>
            <a:r>
              <a:rPr lang="en-US" sz="1250" b="1" dirty="0">
                <a:solidFill>
                  <a:srgbClr val="1E56A0"/>
                </a:solidFill>
                <a:latin typeface="Calibri" pitchFamily="34" charset="0"/>
                <a:ea typeface="Calibri" pitchFamily="34" charset="-122"/>
                <a:cs typeface="Calibri" pitchFamily="34" charset="-120"/>
              </a:rPr>
              <a:t>Q:  </a:t>
            </a:r>
            <a:pPr indent="0" marL="0">
              <a:buNone/>
            </a:pPr>
            <a:r>
              <a:rPr lang="en-US" sz="1250" i="1" dirty="0">
                <a:solidFill>
                  <a:srgbClr val="16202A"/>
                </a:solidFill>
                <a:latin typeface="Calibri" pitchFamily="34" charset="0"/>
                <a:ea typeface="Calibri" pitchFamily="34" charset="-122"/>
                <a:cs typeface="Calibri" pitchFamily="34" charset="-120"/>
              </a:rPr>
              <a:t>What’s the total number of employees?</a:t>
            </a:r>
            <a:endParaRPr lang="en-US" sz="1250" dirty="0"/>
          </a:p>
        </p:txBody>
      </p:sp>
      <p:sp>
        <p:nvSpPr>
          <p:cNvPr id="7" name="Shape 5"/>
          <p:cNvSpPr/>
          <p:nvPr/>
        </p:nvSpPr>
        <p:spPr>
          <a:xfrm>
            <a:off x="548640" y="2286000"/>
            <a:ext cx="10652760" cy="530352"/>
          </a:xfrm>
          <a:prstGeom prst="roundRect">
            <a:avLst>
              <a:gd name="adj" fmla="val 13793"/>
            </a:avLst>
          </a:prstGeom>
          <a:solidFill>
            <a:srgbClr val="0E2A3D"/>
          </a:solidFill>
          <a:ln/>
        </p:spPr>
      </p:sp>
      <p:sp>
        <p:nvSpPr>
          <p:cNvPr id="8" name="Text 6"/>
          <p:cNvSpPr/>
          <p:nvPr/>
        </p:nvSpPr>
        <p:spPr>
          <a:xfrm>
            <a:off x="749808" y="2359152"/>
            <a:ext cx="10250424" cy="384048"/>
          </a:xfrm>
          <a:prstGeom prst="rect">
            <a:avLst/>
          </a:prstGeom>
          <a:noFill/>
          <a:ln/>
        </p:spPr>
        <p:txBody>
          <a:bodyPr wrap="square" lIns="0" tIns="0" rIns="0" bIns="0" rtlCol="0" anchor="ctr"/>
          <a:lstStyle/>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SELECT COUNT(emp_no) AS "total_employees"</a:t>
            </a:r>
            <a:endParaRPr lang="en-US" sz="1200" dirty="0"/>
          </a:p>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FROM employees;</a:t>
            </a:r>
            <a:endParaRPr lang="en-US" sz="1200" dirty="0"/>
          </a:p>
        </p:txBody>
      </p:sp>
      <p:sp>
        <p:nvSpPr>
          <p:cNvPr id="9" name="Text 7"/>
          <p:cNvSpPr/>
          <p:nvPr/>
        </p:nvSpPr>
        <p:spPr>
          <a:xfrm>
            <a:off x="548640" y="2953512"/>
            <a:ext cx="10607040" cy="292608"/>
          </a:xfrm>
          <a:prstGeom prst="rect">
            <a:avLst/>
          </a:prstGeom>
          <a:noFill/>
          <a:ln/>
        </p:spPr>
        <p:txBody>
          <a:bodyPr wrap="square" lIns="0" tIns="0" rIns="0" bIns="0" rtlCol="0" anchor="ctr"/>
          <a:lstStyle/>
          <a:p>
            <a:pPr indent="0" marL="0">
              <a:buNone/>
            </a:pPr>
            <a:r>
              <a:rPr lang="en-US" sz="1250" b="1" dirty="0">
                <a:solidFill>
                  <a:srgbClr val="1E56A0"/>
                </a:solidFill>
                <a:latin typeface="Calibri" pitchFamily="34" charset="0"/>
                <a:ea typeface="Calibri" pitchFamily="34" charset="-122"/>
                <a:cs typeface="Calibri" pitchFamily="34" charset="-120"/>
              </a:rPr>
              <a:t>Q:  </a:t>
            </a:r>
            <a:pPr indent="0" marL="0">
              <a:buNone/>
            </a:pPr>
            <a:r>
              <a:rPr lang="en-US" sz="1250" i="1" dirty="0">
                <a:solidFill>
                  <a:srgbClr val="16202A"/>
                </a:solidFill>
                <a:latin typeface="Calibri" pitchFamily="34" charset="0"/>
                <a:ea typeface="Calibri" pitchFamily="34" charset="-122"/>
                <a:cs typeface="Calibri" pitchFamily="34" charset="-120"/>
              </a:rPr>
              <a:t>How many departments are there?</a:t>
            </a:r>
            <a:endParaRPr lang="en-US" sz="1250" dirty="0"/>
          </a:p>
        </p:txBody>
      </p:sp>
      <p:sp>
        <p:nvSpPr>
          <p:cNvPr id="10" name="Shape 8"/>
          <p:cNvSpPr/>
          <p:nvPr/>
        </p:nvSpPr>
        <p:spPr>
          <a:xfrm>
            <a:off x="548640" y="3273552"/>
            <a:ext cx="10652760" cy="530352"/>
          </a:xfrm>
          <a:prstGeom prst="roundRect">
            <a:avLst>
              <a:gd name="adj" fmla="val 13793"/>
            </a:avLst>
          </a:prstGeom>
          <a:solidFill>
            <a:srgbClr val="0E2A3D"/>
          </a:solidFill>
          <a:ln/>
        </p:spPr>
      </p:sp>
      <p:sp>
        <p:nvSpPr>
          <p:cNvPr id="11" name="Text 9"/>
          <p:cNvSpPr/>
          <p:nvPr/>
        </p:nvSpPr>
        <p:spPr>
          <a:xfrm>
            <a:off x="749808" y="3346704"/>
            <a:ext cx="10250424" cy="384048"/>
          </a:xfrm>
          <a:prstGeom prst="rect">
            <a:avLst/>
          </a:prstGeom>
          <a:noFill/>
          <a:ln/>
        </p:spPr>
        <p:txBody>
          <a:bodyPr wrap="square" lIns="0" tIns="0" rIns="0" bIns="0" rtlCol="0" anchor="ctr"/>
          <a:lstStyle/>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SELECT COUNT(dept_no) AS "total_departments"</a:t>
            </a:r>
            <a:endParaRPr lang="en-US" sz="1200" dirty="0"/>
          </a:p>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FROM departments;</a:t>
            </a:r>
            <a:endParaRPr lang="en-US" sz="1200" dirty="0"/>
          </a:p>
        </p:txBody>
      </p:sp>
      <p:sp>
        <p:nvSpPr>
          <p:cNvPr id="12" name="Text 10"/>
          <p:cNvSpPr/>
          <p:nvPr/>
        </p:nvSpPr>
        <p:spPr>
          <a:xfrm>
            <a:off x="548640" y="3941064"/>
            <a:ext cx="10607040" cy="292608"/>
          </a:xfrm>
          <a:prstGeom prst="rect">
            <a:avLst/>
          </a:prstGeom>
          <a:noFill/>
          <a:ln/>
        </p:spPr>
        <p:txBody>
          <a:bodyPr wrap="square" lIns="0" tIns="0" rIns="0" bIns="0" rtlCol="0" anchor="ctr"/>
          <a:lstStyle/>
          <a:p>
            <a:pPr indent="0" marL="0">
              <a:buNone/>
            </a:pPr>
            <a:r>
              <a:rPr lang="en-US" sz="1250" b="1" dirty="0">
                <a:solidFill>
                  <a:srgbClr val="1E56A0"/>
                </a:solidFill>
                <a:latin typeface="Calibri" pitchFamily="34" charset="0"/>
                <a:ea typeface="Calibri" pitchFamily="34" charset="-122"/>
                <a:cs typeface="Calibri" pitchFamily="34" charset="-120"/>
              </a:rPr>
              <a:t>Q:  </a:t>
            </a:r>
            <a:pPr indent="0" marL="0">
              <a:buNone/>
            </a:pPr>
            <a:r>
              <a:rPr lang="en-US" sz="1250" i="1" dirty="0">
                <a:solidFill>
                  <a:srgbClr val="16202A"/>
                </a:solidFill>
                <a:latin typeface="Calibri" pitchFamily="34" charset="0"/>
                <a:ea typeface="Calibri" pitchFamily="34" charset="-122"/>
                <a:cs typeface="Calibri" pitchFamily="34" charset="-120"/>
              </a:rPr>
              <a:t>What’s the average salary?</a:t>
            </a:r>
            <a:endParaRPr lang="en-US" sz="1250" dirty="0"/>
          </a:p>
        </p:txBody>
      </p:sp>
      <p:sp>
        <p:nvSpPr>
          <p:cNvPr id="13" name="Shape 11"/>
          <p:cNvSpPr/>
          <p:nvPr/>
        </p:nvSpPr>
        <p:spPr>
          <a:xfrm>
            <a:off x="548640" y="4261104"/>
            <a:ext cx="10652760" cy="530352"/>
          </a:xfrm>
          <a:prstGeom prst="roundRect">
            <a:avLst>
              <a:gd name="adj" fmla="val 13793"/>
            </a:avLst>
          </a:prstGeom>
          <a:solidFill>
            <a:srgbClr val="0E2A3D"/>
          </a:solidFill>
          <a:ln/>
        </p:spPr>
      </p:sp>
      <p:sp>
        <p:nvSpPr>
          <p:cNvPr id="14" name="Text 12"/>
          <p:cNvSpPr/>
          <p:nvPr/>
        </p:nvSpPr>
        <p:spPr>
          <a:xfrm>
            <a:off x="749808" y="4334256"/>
            <a:ext cx="10250424" cy="384048"/>
          </a:xfrm>
          <a:prstGeom prst="rect">
            <a:avLst/>
          </a:prstGeom>
          <a:noFill/>
          <a:ln/>
        </p:spPr>
        <p:txBody>
          <a:bodyPr wrap="square" lIns="0" tIns="0" rIns="0" bIns="0" rtlCol="0" anchor="ctr"/>
          <a:lstStyle/>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SELECT AVG(salary) AS "avg_salary"</a:t>
            </a:r>
            <a:endParaRPr lang="en-US" sz="1200" dirty="0"/>
          </a:p>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FROM salaries;</a:t>
            </a:r>
            <a:endParaRPr lang="en-US" sz="1200" dirty="0"/>
          </a:p>
        </p:txBody>
      </p:sp>
      <p:sp>
        <p:nvSpPr>
          <p:cNvPr id="15" name="Shape 13"/>
          <p:cNvSpPr/>
          <p:nvPr/>
        </p:nvSpPr>
        <p:spPr>
          <a:xfrm>
            <a:off x="548640" y="4946904"/>
            <a:ext cx="10652760" cy="594360"/>
          </a:xfrm>
          <a:prstGeom prst="roundRect">
            <a:avLst>
              <a:gd name="adj" fmla="val 10769"/>
            </a:avLst>
          </a:prstGeom>
          <a:solidFill>
            <a:srgbClr val="FFF4E8"/>
          </a:solidFill>
          <a:ln/>
        </p:spPr>
      </p:sp>
      <p:sp>
        <p:nvSpPr>
          <p:cNvPr id="16" name="Text 14"/>
          <p:cNvSpPr/>
          <p:nvPr/>
        </p:nvSpPr>
        <p:spPr>
          <a:xfrm>
            <a:off x="777240" y="4946904"/>
            <a:ext cx="10241280" cy="594360"/>
          </a:xfrm>
          <a:prstGeom prst="rect">
            <a:avLst/>
          </a:prstGeom>
          <a:noFill/>
          <a:ln/>
        </p:spPr>
        <p:txBody>
          <a:bodyPr wrap="square" lIns="0" tIns="0" rIns="0" bIns="0" rtlCol="0" anchor="ctr"/>
          <a:lstStyle/>
          <a:p>
            <a:pPr indent="0" marL="0">
              <a:buNone/>
            </a:pPr>
            <a:r>
              <a:rPr lang="en-US" sz="1200" b="1" dirty="0">
                <a:solidFill>
                  <a:srgbClr val="8A5A1E"/>
                </a:solidFill>
                <a:latin typeface="Calibri" pitchFamily="34" charset="0"/>
                <a:ea typeface="Calibri" pitchFamily="34" charset="-122"/>
                <a:cs typeface="Calibri" pitchFamily="34" charset="-120"/>
              </a:rPr>
              <a:t>Try it yourself:  </a:t>
            </a:r>
            <a:pPr indent="0" marL="0">
              <a:buNone/>
            </a:pPr>
            <a:r>
              <a:rPr lang="en-US" sz="1200" dirty="0">
                <a:solidFill>
                  <a:srgbClr val="8A5A1E"/>
                </a:solidFill>
                <a:latin typeface="Calibri" pitchFamily="34" charset="0"/>
                <a:ea typeface="Calibri" pitchFamily="34" charset="-122"/>
                <a:cs typeface="Calibri" pitchFamily="34" charset="-120"/>
              </a:rPr>
              <a:t>run each query against the employees database and see what comes back — the numbers will surprise you.</a:t>
            </a:r>
            <a:endParaRPr lang="en-US" sz="1200" dirty="0"/>
          </a:p>
        </p:txBody>
      </p:sp>
      <p:sp>
        <p:nvSpPr>
          <p:cNvPr id="17" name="Text 15"/>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8"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500" b="1" dirty="0">
                <a:solidFill>
                  <a:srgbClr val="16202A"/>
                </a:solidFill>
                <a:latin typeface="Cambria" pitchFamily="34" charset="0"/>
                <a:ea typeface="Cambria" pitchFamily="34" charset="-122"/>
                <a:cs typeface="Cambria" pitchFamily="34" charset="-120"/>
              </a:rPr>
              <a:t>COUNT vs. COUNT(DISTINCT)</a:t>
            </a:r>
            <a:endParaRPr lang="en-US" sz="25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Scenario: several employees happen to share the same first name</a:t>
            </a:r>
            <a:endParaRPr lang="en-US" sz="1250" dirty="0"/>
          </a:p>
        </p:txBody>
      </p:sp>
      <p:sp>
        <p:nvSpPr>
          <p:cNvPr id="6" name="Shape 4"/>
          <p:cNvSpPr/>
          <p:nvPr/>
        </p:nvSpPr>
        <p:spPr>
          <a:xfrm>
            <a:off x="548640" y="1874520"/>
            <a:ext cx="5074920" cy="347472"/>
          </a:xfrm>
          <a:prstGeom prst="rect">
            <a:avLst/>
          </a:prstGeom>
          <a:solidFill>
            <a:srgbClr val="1E56A0"/>
          </a:solidFill>
          <a:ln w="9525">
            <a:solidFill>
              <a:srgbClr val="FFFFFF"/>
            </a:solidFill>
            <a:prstDash val="solid"/>
          </a:ln>
        </p:spPr>
      </p:sp>
      <p:sp>
        <p:nvSpPr>
          <p:cNvPr id="7" name="Text 5"/>
          <p:cNvSpPr/>
          <p:nvPr/>
        </p:nvSpPr>
        <p:spPr>
          <a:xfrm>
            <a:off x="548640" y="1874520"/>
            <a:ext cx="50749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emp_no</a:t>
            </a:r>
            <a:endParaRPr lang="en-US" sz="1150" dirty="0"/>
          </a:p>
        </p:txBody>
      </p:sp>
      <p:sp>
        <p:nvSpPr>
          <p:cNvPr id="8" name="Shape 6"/>
          <p:cNvSpPr/>
          <p:nvPr/>
        </p:nvSpPr>
        <p:spPr>
          <a:xfrm>
            <a:off x="5623560" y="1874520"/>
            <a:ext cx="5074920" cy="347472"/>
          </a:xfrm>
          <a:prstGeom prst="rect">
            <a:avLst/>
          </a:prstGeom>
          <a:solidFill>
            <a:srgbClr val="1E56A0"/>
          </a:solidFill>
          <a:ln w="9525">
            <a:solidFill>
              <a:srgbClr val="FFFFFF"/>
            </a:solidFill>
            <a:prstDash val="solid"/>
          </a:ln>
        </p:spPr>
      </p:sp>
      <p:sp>
        <p:nvSpPr>
          <p:cNvPr id="9" name="Text 7"/>
          <p:cNvSpPr/>
          <p:nvPr/>
        </p:nvSpPr>
        <p:spPr>
          <a:xfrm>
            <a:off x="5623560" y="1874520"/>
            <a:ext cx="50749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first_name</a:t>
            </a:r>
            <a:endParaRPr lang="en-US" sz="1150" dirty="0"/>
          </a:p>
        </p:txBody>
      </p:sp>
      <p:sp>
        <p:nvSpPr>
          <p:cNvPr id="10" name="Shape 8"/>
          <p:cNvSpPr/>
          <p:nvPr/>
        </p:nvSpPr>
        <p:spPr>
          <a:xfrm>
            <a:off x="548640" y="2221992"/>
            <a:ext cx="5074920" cy="347472"/>
          </a:xfrm>
          <a:prstGeom prst="rect">
            <a:avLst/>
          </a:prstGeom>
          <a:solidFill>
            <a:srgbClr val="D9E9F7"/>
          </a:solidFill>
          <a:ln w="9525">
            <a:solidFill>
              <a:srgbClr val="E2E8E8"/>
            </a:solidFill>
            <a:prstDash val="solid"/>
          </a:ln>
        </p:spPr>
      </p:sp>
      <p:sp>
        <p:nvSpPr>
          <p:cNvPr id="11" name="Text 9"/>
          <p:cNvSpPr/>
          <p:nvPr/>
        </p:nvSpPr>
        <p:spPr>
          <a:xfrm>
            <a:off x="548640" y="2221992"/>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1001</a:t>
            </a:r>
            <a:endParaRPr lang="en-US" sz="1100" dirty="0"/>
          </a:p>
        </p:txBody>
      </p:sp>
      <p:sp>
        <p:nvSpPr>
          <p:cNvPr id="12" name="Shape 10"/>
          <p:cNvSpPr/>
          <p:nvPr/>
        </p:nvSpPr>
        <p:spPr>
          <a:xfrm>
            <a:off x="5623560" y="2221992"/>
            <a:ext cx="5074920" cy="347472"/>
          </a:xfrm>
          <a:prstGeom prst="rect">
            <a:avLst/>
          </a:prstGeom>
          <a:solidFill>
            <a:srgbClr val="D9E9F7"/>
          </a:solidFill>
          <a:ln w="9525">
            <a:solidFill>
              <a:srgbClr val="E2E8E8"/>
            </a:solidFill>
            <a:prstDash val="solid"/>
          </a:ln>
        </p:spPr>
      </p:sp>
      <p:sp>
        <p:nvSpPr>
          <p:cNvPr id="13" name="Text 11"/>
          <p:cNvSpPr/>
          <p:nvPr/>
        </p:nvSpPr>
        <p:spPr>
          <a:xfrm>
            <a:off x="5623560" y="2221992"/>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Alex</a:t>
            </a:r>
            <a:endParaRPr lang="en-US" sz="1100" dirty="0"/>
          </a:p>
        </p:txBody>
      </p:sp>
      <p:sp>
        <p:nvSpPr>
          <p:cNvPr id="14" name="Shape 12"/>
          <p:cNvSpPr/>
          <p:nvPr/>
        </p:nvSpPr>
        <p:spPr>
          <a:xfrm>
            <a:off x="548640" y="2569464"/>
            <a:ext cx="5074920" cy="347472"/>
          </a:xfrm>
          <a:prstGeom prst="rect">
            <a:avLst/>
          </a:prstGeom>
          <a:solidFill>
            <a:srgbClr val="D9E9F7"/>
          </a:solidFill>
          <a:ln w="9525">
            <a:solidFill>
              <a:srgbClr val="E2E8E8"/>
            </a:solidFill>
            <a:prstDash val="solid"/>
          </a:ln>
        </p:spPr>
      </p:sp>
      <p:sp>
        <p:nvSpPr>
          <p:cNvPr id="15" name="Text 13"/>
          <p:cNvSpPr/>
          <p:nvPr/>
        </p:nvSpPr>
        <p:spPr>
          <a:xfrm>
            <a:off x="548640" y="2569464"/>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1002</a:t>
            </a:r>
            <a:endParaRPr lang="en-US" sz="1100" dirty="0"/>
          </a:p>
        </p:txBody>
      </p:sp>
      <p:sp>
        <p:nvSpPr>
          <p:cNvPr id="16" name="Shape 14"/>
          <p:cNvSpPr/>
          <p:nvPr/>
        </p:nvSpPr>
        <p:spPr>
          <a:xfrm>
            <a:off x="5623560" y="2569464"/>
            <a:ext cx="5074920" cy="347472"/>
          </a:xfrm>
          <a:prstGeom prst="rect">
            <a:avLst/>
          </a:prstGeom>
          <a:solidFill>
            <a:srgbClr val="D9E9F7"/>
          </a:solidFill>
          <a:ln w="9525">
            <a:solidFill>
              <a:srgbClr val="E2E8E8"/>
            </a:solidFill>
            <a:prstDash val="solid"/>
          </a:ln>
        </p:spPr>
      </p:sp>
      <p:sp>
        <p:nvSpPr>
          <p:cNvPr id="17" name="Text 15"/>
          <p:cNvSpPr/>
          <p:nvPr/>
        </p:nvSpPr>
        <p:spPr>
          <a:xfrm>
            <a:off x="5623560" y="2569464"/>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Alex</a:t>
            </a:r>
            <a:endParaRPr lang="en-US" sz="1100" dirty="0"/>
          </a:p>
        </p:txBody>
      </p:sp>
      <p:sp>
        <p:nvSpPr>
          <p:cNvPr id="18" name="Shape 16"/>
          <p:cNvSpPr/>
          <p:nvPr/>
        </p:nvSpPr>
        <p:spPr>
          <a:xfrm>
            <a:off x="548640" y="2916936"/>
            <a:ext cx="5074920" cy="347472"/>
          </a:xfrm>
          <a:prstGeom prst="rect">
            <a:avLst/>
          </a:prstGeom>
          <a:solidFill>
            <a:srgbClr val="FFFFFF"/>
          </a:solidFill>
          <a:ln w="9525">
            <a:solidFill>
              <a:srgbClr val="E2E8E8"/>
            </a:solidFill>
            <a:prstDash val="solid"/>
          </a:ln>
        </p:spPr>
      </p:sp>
      <p:sp>
        <p:nvSpPr>
          <p:cNvPr id="19" name="Text 17"/>
          <p:cNvSpPr/>
          <p:nvPr/>
        </p:nvSpPr>
        <p:spPr>
          <a:xfrm>
            <a:off x="548640" y="2916936"/>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1003</a:t>
            </a:r>
            <a:endParaRPr lang="en-US" sz="1100" dirty="0"/>
          </a:p>
        </p:txBody>
      </p:sp>
      <p:sp>
        <p:nvSpPr>
          <p:cNvPr id="20" name="Shape 18"/>
          <p:cNvSpPr/>
          <p:nvPr/>
        </p:nvSpPr>
        <p:spPr>
          <a:xfrm>
            <a:off x="5623560" y="2916936"/>
            <a:ext cx="5074920" cy="347472"/>
          </a:xfrm>
          <a:prstGeom prst="rect">
            <a:avLst/>
          </a:prstGeom>
          <a:solidFill>
            <a:srgbClr val="FFFFFF"/>
          </a:solidFill>
          <a:ln w="9525">
            <a:solidFill>
              <a:srgbClr val="E2E8E8"/>
            </a:solidFill>
            <a:prstDash val="solid"/>
          </a:ln>
        </p:spPr>
      </p:sp>
      <p:sp>
        <p:nvSpPr>
          <p:cNvPr id="21" name="Text 19"/>
          <p:cNvSpPr/>
          <p:nvPr/>
        </p:nvSpPr>
        <p:spPr>
          <a:xfrm>
            <a:off x="5623560" y="2916936"/>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Jordan</a:t>
            </a:r>
            <a:endParaRPr lang="en-US" sz="1100" dirty="0"/>
          </a:p>
        </p:txBody>
      </p:sp>
      <p:sp>
        <p:nvSpPr>
          <p:cNvPr id="22" name="Text 20"/>
          <p:cNvSpPr/>
          <p:nvPr/>
        </p:nvSpPr>
        <p:spPr>
          <a:xfrm>
            <a:off x="548640" y="3465576"/>
            <a:ext cx="10607040" cy="347472"/>
          </a:xfrm>
          <a:prstGeom prst="rect">
            <a:avLst/>
          </a:prstGeom>
          <a:noFill/>
          <a:ln/>
        </p:spPr>
        <p:txBody>
          <a:bodyPr wrap="square" lIns="0" tIns="0" rIns="0" bIns="0" rtlCol="0" anchor="ctr"/>
          <a:lstStyle/>
          <a:p>
            <a:pPr indent="0" marL="0">
              <a:buNone/>
            </a:pPr>
            <a:r>
              <a:rPr lang="en-US" sz="1300" b="1" dirty="0">
                <a:solidFill>
                  <a:srgbClr val="1E56A0"/>
                </a:solidFill>
                <a:latin typeface="Calibri" pitchFamily="34" charset="0"/>
                <a:ea typeface="Calibri" pitchFamily="34" charset="-122"/>
                <a:cs typeface="Calibri" pitchFamily="34" charset="-120"/>
              </a:rPr>
              <a:t>Question:  </a:t>
            </a:r>
            <a:pPr indent="0" marL="0">
              <a:buNone/>
            </a:pPr>
            <a:r>
              <a:rPr lang="en-US" sz="1300" i="1" dirty="0">
                <a:solidFill>
                  <a:srgbClr val="16202A"/>
                </a:solidFill>
                <a:latin typeface="Calibri" pitchFamily="34" charset="0"/>
                <a:ea typeface="Calibri" pitchFamily="34" charset="-122"/>
                <a:cs typeface="Calibri" pitchFamily="34" charset="-120"/>
              </a:rPr>
              <a:t>How many employees vs. how many unique first names?</a:t>
            </a:r>
            <a:endParaRPr lang="en-US" sz="1300" dirty="0"/>
          </a:p>
        </p:txBody>
      </p:sp>
      <p:sp>
        <p:nvSpPr>
          <p:cNvPr id="23" name="Shape 21"/>
          <p:cNvSpPr/>
          <p:nvPr/>
        </p:nvSpPr>
        <p:spPr>
          <a:xfrm>
            <a:off x="548640" y="3849624"/>
            <a:ext cx="10652760" cy="1234440"/>
          </a:xfrm>
          <a:prstGeom prst="roundRect">
            <a:avLst>
              <a:gd name="adj" fmla="val 5926"/>
            </a:avLst>
          </a:prstGeom>
          <a:solidFill>
            <a:srgbClr val="0E2A3D"/>
          </a:solidFill>
          <a:ln/>
        </p:spPr>
      </p:sp>
      <p:sp>
        <p:nvSpPr>
          <p:cNvPr id="24" name="Text 22"/>
          <p:cNvSpPr/>
          <p:nvPr/>
        </p:nvSpPr>
        <p:spPr>
          <a:xfrm>
            <a:off x="749808" y="3922776"/>
            <a:ext cx="10250424" cy="1088136"/>
          </a:xfrm>
          <a:prstGeom prst="rect">
            <a:avLst/>
          </a:prstGeom>
          <a:noFill/>
          <a:ln/>
        </p:spPr>
        <p:txBody>
          <a:bodyPr wrap="square" lIns="0" tIns="0" rIns="0" bIns="0" rtlCol="0" anchor="t"/>
          <a:lstStyle/>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SELECT COUNT(first_name) AS "counts"      -- 3</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FROM employees;</a:t>
            </a:r>
            <a:endParaRPr lang="en-US" sz="1100" dirty="0"/>
          </a:p>
          <a:p>
            <a:pPr algn="l" indent="0" marL="0">
              <a:lnSpc>
                <a:spcPct val="125000"/>
              </a:lnSpc>
              <a:buNone/>
            </a:pP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SELECT COUNT(DISTINCT(first_name)) AS "counts"  -- 2</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FROM employees;</a:t>
            </a:r>
            <a:endParaRPr lang="en-US" sz="1100" dirty="0"/>
          </a:p>
        </p:txBody>
      </p:sp>
      <p:sp>
        <p:nvSpPr>
          <p:cNvPr id="25" name="Text 23"/>
          <p:cNvSpPr/>
          <p:nvPr/>
        </p:nvSpPr>
        <p:spPr>
          <a:xfrm>
            <a:off x="548640" y="5193792"/>
            <a:ext cx="10607040" cy="45720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Plain COUNT counts every non-empty value, duplicates included. COUNT(DISTINCT ...) counts only the unique values — here, 3 employees but only 2 distinct first names.</a:t>
            </a:r>
            <a:endParaRPr lang="en-US" sz="1100" dirty="0"/>
          </a:p>
        </p:txBody>
      </p:sp>
      <p:sp>
        <p:nvSpPr>
          <p:cNvPr id="26" name="Text 2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7" name="Text 2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a:t>
            </a:r>
            <a:endParaRPr lang="en-US" sz="1050" dirty="0"/>
          </a:p>
        </p:txBody>
      </p:sp>
      <p:sp>
        <p:nvSpPr>
          <p:cNvPr id="4" name="Text 2"/>
          <p:cNvSpPr/>
          <p:nvPr/>
        </p:nvSpPr>
        <p:spPr>
          <a:xfrm>
            <a:off x="548640" y="914400"/>
            <a:ext cx="8229600" cy="777240"/>
          </a:xfrm>
          <a:prstGeom prst="rect">
            <a:avLst/>
          </a:prstGeom>
          <a:noFill/>
          <a:ln/>
        </p:spPr>
        <p:txBody>
          <a:bodyPr wrap="square" lIns="0" tIns="0" rIns="0" bIns="0" rtlCol="0" anchor="t"/>
          <a:lstStyle/>
          <a:p>
            <a:pPr indent="0" marL="0">
              <a:buNone/>
            </a:pPr>
            <a:r>
              <a:rPr lang="en-US" sz="2800" b="1" dirty="0">
                <a:solidFill>
                  <a:srgbClr val="16202A"/>
                </a:solidFill>
                <a:latin typeface="Cambria" pitchFamily="34" charset="0"/>
                <a:ea typeface="Cambria" pitchFamily="34" charset="-122"/>
                <a:cs typeface="Cambria" pitchFamily="34" charset="-120"/>
              </a:rPr>
              <a:t>Common SQL Mistakes</a:t>
            </a:r>
            <a:endParaRPr lang="en-US" sz="2800" dirty="0"/>
          </a:p>
        </p:txBody>
      </p:sp>
      <p:sp>
        <p:nvSpPr>
          <p:cNvPr id="5" name="Text 3"/>
          <p:cNvSpPr/>
          <p:nvPr/>
        </p:nvSpPr>
        <p:spPr>
          <a:xfrm>
            <a:off x="548640" y="1508760"/>
            <a:ext cx="1005840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Save yourself the debugging time — these trip up nearly every beginner at least once</a:t>
            </a:r>
            <a:endParaRPr lang="en-US" sz="1300" dirty="0"/>
          </a:p>
        </p:txBody>
      </p:sp>
      <p:sp>
        <p:nvSpPr>
          <p:cNvPr id="6" name="Shape 4"/>
          <p:cNvSpPr/>
          <p:nvPr/>
        </p:nvSpPr>
        <p:spPr>
          <a:xfrm>
            <a:off x="548640" y="2057400"/>
            <a:ext cx="10652760" cy="777240"/>
          </a:xfrm>
          <a:prstGeom prst="roundRect">
            <a:avLst>
              <a:gd name="adj" fmla="val 8235"/>
            </a:avLst>
          </a:prstGeom>
          <a:solidFill>
            <a:srgbClr val="F2F6FA"/>
          </a:solidFill>
          <a:ln/>
        </p:spPr>
      </p:sp>
      <p:sp>
        <p:nvSpPr>
          <p:cNvPr id="7" name="Shape 5"/>
          <p:cNvSpPr/>
          <p:nvPr/>
        </p:nvSpPr>
        <p:spPr>
          <a:xfrm>
            <a:off x="758952" y="2194560"/>
            <a:ext cx="457200" cy="457200"/>
          </a:xfrm>
          <a:prstGeom prst="ellipse">
            <a:avLst/>
          </a:prstGeom>
          <a:solidFill>
            <a:srgbClr val="E0653A"/>
          </a:solidFill>
          <a:ln/>
        </p:spPr>
      </p:sp>
      <p:sp>
        <p:nvSpPr>
          <p:cNvPr id="8" name="Text 6"/>
          <p:cNvSpPr/>
          <p:nvPr/>
        </p:nvSpPr>
        <p:spPr>
          <a:xfrm>
            <a:off x="758952" y="2194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417320" y="2139696"/>
            <a:ext cx="9601200" cy="320040"/>
          </a:xfrm>
          <a:prstGeom prst="rect">
            <a:avLst/>
          </a:prstGeom>
          <a:noFill/>
          <a:ln/>
        </p:spPr>
        <p:txBody>
          <a:bodyPr wrap="square" lIns="0" tIns="0" rIns="0" bIns="0" rtlCol="0" anchor="ctr"/>
          <a:lstStyle/>
          <a:p>
            <a:pPr indent="0" marL="0">
              <a:buNone/>
            </a:pPr>
            <a:r>
              <a:rPr lang="en-US" sz="1250" b="1" dirty="0">
                <a:solidFill>
                  <a:srgbClr val="16202A"/>
                </a:solidFill>
                <a:latin typeface="Calibri" pitchFamily="34" charset="0"/>
                <a:ea typeface="Calibri" pitchFamily="34" charset="-122"/>
                <a:cs typeface="Calibri" pitchFamily="34" charset="-120"/>
              </a:rPr>
              <a:t>Forgetting the semicolon</a:t>
            </a:r>
            <a:endParaRPr lang="en-US" sz="1250" dirty="0"/>
          </a:p>
        </p:txBody>
      </p:sp>
      <p:sp>
        <p:nvSpPr>
          <p:cNvPr id="10" name="Text 8"/>
          <p:cNvSpPr/>
          <p:nvPr/>
        </p:nvSpPr>
        <p:spPr>
          <a:xfrm>
            <a:off x="1417320" y="2459736"/>
            <a:ext cx="9601200" cy="320040"/>
          </a:xfrm>
          <a:prstGeom prst="rect">
            <a:avLst/>
          </a:prstGeom>
          <a:noFill/>
          <a:ln/>
        </p:spPr>
        <p:txBody>
          <a:bodyPr wrap="square" lIns="0" tIns="0" rIns="0" bIns="0" rtlCol="0" anchor="ctr"/>
          <a:lstStyle/>
          <a:p>
            <a:pPr indent="0" marL="0">
              <a:buNone/>
            </a:pPr>
            <a:r>
              <a:rPr lang="en-US" sz="1050" dirty="0">
                <a:solidFill>
                  <a:srgbClr val="5B6B79"/>
                </a:solidFill>
                <a:latin typeface="Calibri" pitchFamily="34" charset="0"/>
                <a:ea typeface="Calibri" pitchFamily="34" charset="-122"/>
                <a:cs typeface="Calibri" pitchFamily="34" charset="-120"/>
              </a:rPr>
              <a:t>Most clients won’t run a statement until it ends with ;</a:t>
            </a:r>
            <a:endParaRPr lang="en-US" sz="1050" dirty="0"/>
          </a:p>
        </p:txBody>
      </p:sp>
      <p:sp>
        <p:nvSpPr>
          <p:cNvPr id="11" name="Shape 9"/>
          <p:cNvSpPr/>
          <p:nvPr/>
        </p:nvSpPr>
        <p:spPr>
          <a:xfrm>
            <a:off x="548640" y="2926080"/>
            <a:ext cx="10652760" cy="777240"/>
          </a:xfrm>
          <a:prstGeom prst="roundRect">
            <a:avLst>
              <a:gd name="adj" fmla="val 8235"/>
            </a:avLst>
          </a:prstGeom>
          <a:solidFill>
            <a:srgbClr val="F2F6FA"/>
          </a:solidFill>
          <a:ln/>
        </p:spPr>
      </p:sp>
      <p:sp>
        <p:nvSpPr>
          <p:cNvPr id="12" name="Shape 10"/>
          <p:cNvSpPr/>
          <p:nvPr/>
        </p:nvSpPr>
        <p:spPr>
          <a:xfrm>
            <a:off x="758952" y="3063240"/>
            <a:ext cx="457200" cy="457200"/>
          </a:xfrm>
          <a:prstGeom prst="ellipse">
            <a:avLst/>
          </a:prstGeom>
          <a:solidFill>
            <a:srgbClr val="E0653A"/>
          </a:solidFill>
          <a:ln/>
        </p:spPr>
      </p:sp>
      <p:sp>
        <p:nvSpPr>
          <p:cNvPr id="13" name="Text 11"/>
          <p:cNvSpPr/>
          <p:nvPr/>
        </p:nvSpPr>
        <p:spPr>
          <a:xfrm>
            <a:off x="758952" y="30632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4" name="Text 12"/>
          <p:cNvSpPr/>
          <p:nvPr/>
        </p:nvSpPr>
        <p:spPr>
          <a:xfrm>
            <a:off x="1417320" y="3008376"/>
            <a:ext cx="9601200" cy="320040"/>
          </a:xfrm>
          <a:prstGeom prst="rect">
            <a:avLst/>
          </a:prstGeom>
          <a:noFill/>
          <a:ln/>
        </p:spPr>
        <p:txBody>
          <a:bodyPr wrap="square" lIns="0" tIns="0" rIns="0" bIns="0" rtlCol="0" anchor="ctr"/>
          <a:lstStyle/>
          <a:p>
            <a:pPr indent="0" marL="0">
              <a:buNone/>
            </a:pPr>
            <a:r>
              <a:rPr lang="en-US" sz="1250" b="1" dirty="0">
                <a:solidFill>
                  <a:srgbClr val="16202A"/>
                </a:solidFill>
                <a:latin typeface="Calibri" pitchFamily="34" charset="0"/>
                <a:ea typeface="Calibri" pitchFamily="34" charset="-122"/>
                <a:cs typeface="Calibri" pitchFamily="34" charset="-120"/>
              </a:rPr>
              <a:t>Using double quotes for text values</a:t>
            </a:r>
            <a:endParaRPr lang="en-US" sz="1250" dirty="0"/>
          </a:p>
        </p:txBody>
      </p:sp>
      <p:sp>
        <p:nvSpPr>
          <p:cNvPr id="15" name="Text 13"/>
          <p:cNvSpPr/>
          <p:nvPr/>
        </p:nvSpPr>
        <p:spPr>
          <a:xfrm>
            <a:off x="1417320" y="3328416"/>
            <a:ext cx="9601200" cy="320040"/>
          </a:xfrm>
          <a:prstGeom prst="rect">
            <a:avLst/>
          </a:prstGeom>
          <a:noFill/>
          <a:ln/>
        </p:spPr>
        <p:txBody>
          <a:bodyPr wrap="square" lIns="0" tIns="0" rIns="0" bIns="0" rtlCol="0" anchor="ctr"/>
          <a:lstStyle/>
          <a:p>
            <a:pPr indent="0" marL="0">
              <a:buNone/>
            </a:pPr>
            <a:r>
              <a:rPr lang="en-US" sz="1050" dirty="0">
                <a:solidFill>
                  <a:srgbClr val="5B6B79"/>
                </a:solidFill>
                <a:latin typeface="Calibri" pitchFamily="34" charset="0"/>
                <a:ea typeface="Calibri" pitchFamily="34" charset="-122"/>
                <a:cs typeface="Calibri" pitchFamily="34" charset="-120"/>
              </a:rPr>
              <a:t>Use single quotes for string values: 'North', not "North" (double quotes are for aliases)</a:t>
            </a:r>
            <a:endParaRPr lang="en-US" sz="1050" dirty="0"/>
          </a:p>
        </p:txBody>
      </p:sp>
      <p:sp>
        <p:nvSpPr>
          <p:cNvPr id="16" name="Shape 14"/>
          <p:cNvSpPr/>
          <p:nvPr/>
        </p:nvSpPr>
        <p:spPr>
          <a:xfrm>
            <a:off x="548640" y="3794760"/>
            <a:ext cx="10652760" cy="777240"/>
          </a:xfrm>
          <a:prstGeom prst="roundRect">
            <a:avLst>
              <a:gd name="adj" fmla="val 8235"/>
            </a:avLst>
          </a:prstGeom>
          <a:solidFill>
            <a:srgbClr val="F2F6FA"/>
          </a:solidFill>
          <a:ln/>
        </p:spPr>
      </p:sp>
      <p:sp>
        <p:nvSpPr>
          <p:cNvPr id="17" name="Shape 15"/>
          <p:cNvSpPr/>
          <p:nvPr/>
        </p:nvSpPr>
        <p:spPr>
          <a:xfrm>
            <a:off x="758952" y="3931920"/>
            <a:ext cx="457200" cy="457200"/>
          </a:xfrm>
          <a:prstGeom prst="ellipse">
            <a:avLst/>
          </a:prstGeom>
          <a:solidFill>
            <a:srgbClr val="E0653A"/>
          </a:solidFill>
          <a:ln/>
        </p:spPr>
      </p:sp>
      <p:sp>
        <p:nvSpPr>
          <p:cNvPr id="18" name="Text 16"/>
          <p:cNvSpPr/>
          <p:nvPr/>
        </p:nvSpPr>
        <p:spPr>
          <a:xfrm>
            <a:off x="758952"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1417320" y="3877056"/>
            <a:ext cx="9601200" cy="320040"/>
          </a:xfrm>
          <a:prstGeom prst="rect">
            <a:avLst/>
          </a:prstGeom>
          <a:noFill/>
          <a:ln/>
        </p:spPr>
        <p:txBody>
          <a:bodyPr wrap="square" lIns="0" tIns="0" rIns="0" bIns="0" rtlCol="0" anchor="ctr"/>
          <a:lstStyle/>
          <a:p>
            <a:pPr indent="0" marL="0">
              <a:buNone/>
            </a:pPr>
            <a:r>
              <a:rPr lang="en-US" sz="1250" b="1" dirty="0">
                <a:solidFill>
                  <a:srgbClr val="16202A"/>
                </a:solidFill>
                <a:latin typeface="Calibri" pitchFamily="34" charset="0"/>
                <a:ea typeface="Calibri" pitchFamily="34" charset="-122"/>
                <a:cs typeface="Calibri" pitchFamily="34" charset="-120"/>
              </a:rPr>
              <a:t>Mismatched or missing quotes around dates</a:t>
            </a:r>
            <a:endParaRPr lang="en-US" sz="1250" dirty="0"/>
          </a:p>
        </p:txBody>
      </p:sp>
      <p:sp>
        <p:nvSpPr>
          <p:cNvPr id="20" name="Text 18"/>
          <p:cNvSpPr/>
          <p:nvPr/>
        </p:nvSpPr>
        <p:spPr>
          <a:xfrm>
            <a:off x="1417320" y="4197096"/>
            <a:ext cx="9601200" cy="320040"/>
          </a:xfrm>
          <a:prstGeom prst="rect">
            <a:avLst/>
          </a:prstGeom>
          <a:noFill/>
          <a:ln/>
        </p:spPr>
        <p:txBody>
          <a:bodyPr wrap="square" lIns="0" tIns="0" rIns="0" bIns="0" rtlCol="0" anchor="ctr"/>
          <a:lstStyle/>
          <a:p>
            <a:pPr indent="0" marL="0">
              <a:buNone/>
            </a:pPr>
            <a:r>
              <a:rPr lang="en-US" sz="1050" dirty="0">
                <a:solidFill>
                  <a:srgbClr val="5B6B79"/>
                </a:solidFill>
                <a:latin typeface="Calibri" pitchFamily="34" charset="0"/>
                <a:ea typeface="Calibri" pitchFamily="34" charset="-122"/>
                <a:cs typeface="Calibri" pitchFamily="34" charset="-120"/>
              </a:rPr>
              <a:t>Dates need quotes too: WHERE hire_date = '1986-06-26'</a:t>
            </a:r>
            <a:endParaRPr lang="en-US" sz="1050" dirty="0"/>
          </a:p>
        </p:txBody>
      </p:sp>
      <p:sp>
        <p:nvSpPr>
          <p:cNvPr id="21" name="Shape 19"/>
          <p:cNvSpPr/>
          <p:nvPr/>
        </p:nvSpPr>
        <p:spPr>
          <a:xfrm>
            <a:off x="548640" y="4663440"/>
            <a:ext cx="10652760" cy="777240"/>
          </a:xfrm>
          <a:prstGeom prst="roundRect">
            <a:avLst>
              <a:gd name="adj" fmla="val 8235"/>
            </a:avLst>
          </a:prstGeom>
          <a:solidFill>
            <a:srgbClr val="F2F6FA"/>
          </a:solidFill>
          <a:ln/>
        </p:spPr>
      </p:sp>
      <p:sp>
        <p:nvSpPr>
          <p:cNvPr id="22" name="Shape 20"/>
          <p:cNvSpPr/>
          <p:nvPr/>
        </p:nvSpPr>
        <p:spPr>
          <a:xfrm>
            <a:off x="758952" y="4800600"/>
            <a:ext cx="457200" cy="457200"/>
          </a:xfrm>
          <a:prstGeom prst="ellipse">
            <a:avLst/>
          </a:prstGeom>
          <a:solidFill>
            <a:srgbClr val="E0653A"/>
          </a:solidFill>
          <a:ln/>
        </p:spPr>
      </p:sp>
      <p:sp>
        <p:nvSpPr>
          <p:cNvPr id="23" name="Text 21"/>
          <p:cNvSpPr/>
          <p:nvPr/>
        </p:nvSpPr>
        <p:spPr>
          <a:xfrm>
            <a:off x="758952" y="4800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4" name="Text 22"/>
          <p:cNvSpPr/>
          <p:nvPr/>
        </p:nvSpPr>
        <p:spPr>
          <a:xfrm>
            <a:off x="1417320" y="4745736"/>
            <a:ext cx="9601200" cy="320040"/>
          </a:xfrm>
          <a:prstGeom prst="rect">
            <a:avLst/>
          </a:prstGeom>
          <a:noFill/>
          <a:ln/>
        </p:spPr>
        <p:txBody>
          <a:bodyPr wrap="square" lIns="0" tIns="0" rIns="0" bIns="0" rtlCol="0" anchor="ctr"/>
          <a:lstStyle/>
          <a:p>
            <a:pPr indent="0" marL="0">
              <a:buNone/>
            </a:pPr>
            <a:r>
              <a:rPr lang="en-US" sz="1250" b="1" dirty="0">
                <a:solidFill>
                  <a:srgbClr val="16202A"/>
                </a:solidFill>
                <a:latin typeface="Calibri" pitchFamily="34" charset="0"/>
                <a:ea typeface="Calibri" pitchFamily="34" charset="-122"/>
                <a:cs typeface="Calibri" pitchFamily="34" charset="-120"/>
              </a:rPr>
              <a:t>Selecting a column that isn’t grouped or aggregated</a:t>
            </a:r>
            <a:endParaRPr lang="en-US" sz="1250" dirty="0"/>
          </a:p>
        </p:txBody>
      </p:sp>
      <p:sp>
        <p:nvSpPr>
          <p:cNvPr id="25" name="Text 23"/>
          <p:cNvSpPr/>
          <p:nvPr/>
        </p:nvSpPr>
        <p:spPr>
          <a:xfrm>
            <a:off x="1417320" y="5065776"/>
            <a:ext cx="9601200" cy="320040"/>
          </a:xfrm>
          <a:prstGeom prst="rect">
            <a:avLst/>
          </a:prstGeom>
          <a:noFill/>
          <a:ln/>
        </p:spPr>
        <p:txBody>
          <a:bodyPr wrap="square" lIns="0" tIns="0" rIns="0" bIns="0" rtlCol="0" anchor="ctr"/>
          <a:lstStyle/>
          <a:p>
            <a:pPr indent="0" marL="0">
              <a:buNone/>
            </a:pPr>
            <a:r>
              <a:rPr lang="en-US" sz="1050" dirty="0">
                <a:solidFill>
                  <a:srgbClr val="5B6B79"/>
                </a:solidFill>
                <a:latin typeface="Calibri" pitchFamily="34" charset="0"/>
                <a:ea typeface="Calibri" pitchFamily="34" charset="-122"/>
                <a:cs typeface="Calibri" pitchFamily="34" charset="-120"/>
              </a:rPr>
              <a:t>With GROUP BY, every selected column must be either grouped or wrapped in an aggregate function</a:t>
            </a:r>
            <a:endParaRPr lang="en-US" sz="1050" dirty="0"/>
          </a:p>
        </p:txBody>
      </p:sp>
      <p:sp>
        <p:nvSpPr>
          <p:cNvPr id="26" name="Shape 24"/>
          <p:cNvSpPr/>
          <p:nvPr/>
        </p:nvSpPr>
        <p:spPr>
          <a:xfrm>
            <a:off x="548640" y="5532120"/>
            <a:ext cx="10652760" cy="777240"/>
          </a:xfrm>
          <a:prstGeom prst="roundRect">
            <a:avLst>
              <a:gd name="adj" fmla="val 8235"/>
            </a:avLst>
          </a:prstGeom>
          <a:solidFill>
            <a:srgbClr val="F2F6FA"/>
          </a:solidFill>
          <a:ln/>
        </p:spPr>
      </p:sp>
      <p:sp>
        <p:nvSpPr>
          <p:cNvPr id="27" name="Shape 25"/>
          <p:cNvSpPr/>
          <p:nvPr/>
        </p:nvSpPr>
        <p:spPr>
          <a:xfrm>
            <a:off x="758952" y="5669280"/>
            <a:ext cx="457200" cy="457200"/>
          </a:xfrm>
          <a:prstGeom prst="ellipse">
            <a:avLst/>
          </a:prstGeom>
          <a:solidFill>
            <a:srgbClr val="E0653A"/>
          </a:solidFill>
          <a:ln/>
        </p:spPr>
      </p:sp>
      <p:sp>
        <p:nvSpPr>
          <p:cNvPr id="28" name="Text 26"/>
          <p:cNvSpPr/>
          <p:nvPr/>
        </p:nvSpPr>
        <p:spPr>
          <a:xfrm>
            <a:off x="758952" y="56692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9" name="Text 27"/>
          <p:cNvSpPr/>
          <p:nvPr/>
        </p:nvSpPr>
        <p:spPr>
          <a:xfrm>
            <a:off x="1417320" y="5614416"/>
            <a:ext cx="9601200" cy="320040"/>
          </a:xfrm>
          <a:prstGeom prst="rect">
            <a:avLst/>
          </a:prstGeom>
          <a:noFill/>
          <a:ln/>
        </p:spPr>
        <p:txBody>
          <a:bodyPr wrap="square" lIns="0" tIns="0" rIns="0" bIns="0" rtlCol="0" anchor="ctr"/>
          <a:lstStyle/>
          <a:p>
            <a:pPr indent="0" marL="0">
              <a:buNone/>
            </a:pPr>
            <a:r>
              <a:rPr lang="en-US" sz="1250" b="1" dirty="0">
                <a:solidFill>
                  <a:srgbClr val="16202A"/>
                </a:solidFill>
                <a:latin typeface="Calibri" pitchFamily="34" charset="0"/>
                <a:ea typeface="Calibri" pitchFamily="34" charset="-122"/>
                <a:cs typeface="Calibri" pitchFamily="34" charset="-120"/>
              </a:rPr>
              <a:t>Assuming column names are case-sensitive when they aren’t (usually)</a:t>
            </a:r>
            <a:endParaRPr lang="en-US" sz="1250" dirty="0"/>
          </a:p>
        </p:txBody>
      </p:sp>
      <p:sp>
        <p:nvSpPr>
          <p:cNvPr id="30" name="Text 28"/>
          <p:cNvSpPr/>
          <p:nvPr/>
        </p:nvSpPr>
        <p:spPr>
          <a:xfrm>
            <a:off x="1417320" y="5934456"/>
            <a:ext cx="9601200" cy="320040"/>
          </a:xfrm>
          <a:prstGeom prst="rect">
            <a:avLst/>
          </a:prstGeom>
          <a:noFill/>
          <a:ln/>
        </p:spPr>
        <p:txBody>
          <a:bodyPr wrap="square" lIns="0" tIns="0" rIns="0" bIns="0" rtlCol="0" anchor="ctr"/>
          <a:lstStyle/>
          <a:p>
            <a:pPr indent="0" marL="0">
              <a:buNone/>
            </a:pPr>
            <a:r>
              <a:rPr lang="en-US" sz="1050" dirty="0">
                <a:solidFill>
                  <a:srgbClr val="5B6B79"/>
                </a:solidFill>
                <a:latin typeface="Calibri" pitchFamily="34" charset="0"/>
                <a:ea typeface="Calibri" pitchFamily="34" charset="-122"/>
                <a:cs typeface="Calibri" pitchFamily="34" charset="-120"/>
              </a:rPr>
              <a:t>MySQL column names are typically case-insensitive — but string values inside quotes can be case-sensitive</a:t>
            </a:r>
            <a:endParaRPr lang="en-US" sz="1050" dirty="0"/>
          </a:p>
        </p:txBody>
      </p:sp>
      <p:sp>
        <p:nvSpPr>
          <p:cNvPr id="31" name="Text 2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32" name="Text 3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C2C"/>
        </a:solidFill>
      </p:bgPr>
    </p:bg>
    <p:spTree>
      <p:nvGrpSpPr>
        <p:cNvPr id="1" name=""/>
        <p:cNvGrpSpPr/>
        <p:nvPr/>
      </p:nvGrpSpPr>
      <p:grpSpPr>
        <a:xfrm>
          <a:off x="0" y="0"/>
          <a:ext cx="0" cy="0"/>
          <a:chOff x="0" y="0"/>
          <a:chExt cx="0" cy="0"/>
        </a:xfrm>
      </p:grpSpPr>
      <p:sp>
        <p:nvSpPr>
          <p:cNvPr id="2" name="Shape 0"/>
          <p:cNvSpPr/>
          <p:nvPr/>
        </p:nvSpPr>
        <p:spPr>
          <a:xfrm>
            <a:off x="9692640" y="731520"/>
            <a:ext cx="146304" cy="146304"/>
          </a:xfrm>
          <a:prstGeom prst="ellipse">
            <a:avLst/>
          </a:prstGeom>
          <a:solidFill>
            <a:srgbClr val="0FA3B1"/>
          </a:solidFill>
          <a:ln/>
        </p:spPr>
      </p:sp>
      <p:sp>
        <p:nvSpPr>
          <p:cNvPr id="3" name="Shape 1"/>
          <p:cNvSpPr/>
          <p:nvPr/>
        </p:nvSpPr>
        <p:spPr>
          <a:xfrm>
            <a:off x="10424160" y="1188720"/>
            <a:ext cx="146304" cy="146304"/>
          </a:xfrm>
          <a:prstGeom prst="ellipse">
            <a:avLst/>
          </a:prstGeom>
          <a:solidFill>
            <a:srgbClr val="0FA3B1"/>
          </a:solidFill>
          <a:ln/>
        </p:spPr>
      </p:sp>
      <p:sp>
        <p:nvSpPr>
          <p:cNvPr id="4" name="Shape 2"/>
          <p:cNvSpPr/>
          <p:nvPr/>
        </p:nvSpPr>
        <p:spPr>
          <a:xfrm>
            <a:off x="9326880" y="1645920"/>
            <a:ext cx="146304" cy="146304"/>
          </a:xfrm>
          <a:prstGeom prst="ellipse">
            <a:avLst/>
          </a:prstGeom>
          <a:solidFill>
            <a:srgbClr val="0FA3B1"/>
          </a:solidFill>
          <a:ln/>
        </p:spPr>
      </p:sp>
      <p:sp>
        <p:nvSpPr>
          <p:cNvPr id="5" name="Shape 3"/>
          <p:cNvSpPr/>
          <p:nvPr/>
        </p:nvSpPr>
        <p:spPr>
          <a:xfrm>
            <a:off x="11064240" y="822960"/>
            <a:ext cx="146304" cy="146304"/>
          </a:xfrm>
          <a:prstGeom prst="ellipse">
            <a:avLst/>
          </a:prstGeom>
          <a:solidFill>
            <a:srgbClr val="0FA3B1"/>
          </a:solidFill>
          <a:ln/>
        </p:spPr>
      </p:sp>
      <p:sp>
        <p:nvSpPr>
          <p:cNvPr id="6" name="Shape 4"/>
          <p:cNvSpPr/>
          <p:nvPr/>
        </p:nvSpPr>
        <p:spPr>
          <a:xfrm>
            <a:off x="10881360" y="2011680"/>
            <a:ext cx="146304" cy="146304"/>
          </a:xfrm>
          <a:prstGeom prst="ellipse">
            <a:avLst/>
          </a:prstGeom>
          <a:solidFill>
            <a:srgbClr val="0FA3B1"/>
          </a:solidFill>
          <a:ln/>
        </p:spPr>
      </p:sp>
      <p:sp>
        <p:nvSpPr>
          <p:cNvPr id="7" name="Shape 5"/>
          <p:cNvSpPr/>
          <p:nvPr/>
        </p:nvSpPr>
        <p:spPr>
          <a:xfrm>
            <a:off x="9875520" y="2377440"/>
            <a:ext cx="146304" cy="146304"/>
          </a:xfrm>
          <a:prstGeom prst="ellipse">
            <a:avLst/>
          </a:prstGeom>
          <a:solidFill>
            <a:srgbClr val="0FA3B1"/>
          </a:solidFill>
          <a:ln/>
        </p:spPr>
      </p:sp>
      <p:sp>
        <p:nvSpPr>
          <p:cNvPr id="8" name="Text 6"/>
          <p:cNvSpPr/>
          <p:nvPr/>
        </p:nvSpPr>
        <p:spPr>
          <a:xfrm>
            <a:off x="822960" y="2651760"/>
            <a:ext cx="7315200" cy="457200"/>
          </a:xfrm>
          <a:prstGeom prst="rect">
            <a:avLst/>
          </a:prstGeom>
          <a:noFill/>
          <a:ln/>
        </p:spPr>
        <p:txBody>
          <a:bodyPr wrap="square" lIns="0" tIns="0" rIns="0" bIns="0" rtlCol="0" anchor="ctr"/>
          <a:lstStyle/>
          <a:p>
            <a:pPr indent="0" marL="0">
              <a:buNone/>
            </a:pPr>
            <a:r>
              <a:rPr lang="en-US" sz="1400" b="1" spc="300" kern="0" dirty="0">
                <a:solidFill>
                  <a:srgbClr val="2FBF8F"/>
                </a:solidFill>
                <a:latin typeface="Calibri" pitchFamily="34" charset="0"/>
                <a:ea typeface="Calibri" pitchFamily="34" charset="-122"/>
                <a:cs typeface="Calibri" pitchFamily="34" charset="-120"/>
              </a:rPr>
              <a:t>PART 4</a:t>
            </a:r>
            <a:endParaRPr lang="en-US" sz="1400" dirty="0"/>
          </a:p>
        </p:txBody>
      </p:sp>
      <p:sp>
        <p:nvSpPr>
          <p:cNvPr id="9" name="Text 7"/>
          <p:cNvSpPr/>
          <p:nvPr/>
        </p:nvSpPr>
        <p:spPr>
          <a:xfrm>
            <a:off x="822960" y="3063240"/>
            <a:ext cx="10058400" cy="10972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Filtering Your Data</a:t>
            </a:r>
            <a:endParaRPr lang="en-US" sz="3800" dirty="0"/>
          </a:p>
        </p:txBody>
      </p:sp>
      <p:sp>
        <p:nvSpPr>
          <p:cNvPr id="10" name="Shape 8"/>
          <p:cNvSpPr/>
          <p:nvPr/>
        </p:nvSpPr>
        <p:spPr>
          <a:xfrm>
            <a:off x="822960" y="3977640"/>
            <a:ext cx="2011680" cy="0"/>
          </a:xfrm>
          <a:prstGeom prst="line">
            <a:avLst/>
          </a:prstGeom>
          <a:noFill/>
          <a:ln w="25400">
            <a:solidFill>
              <a:srgbClr val="1E56A0"/>
            </a:solidFill>
            <a:prstDash val="solid"/>
          </a:ln>
        </p:spPr>
      </p:sp>
      <p:sp>
        <p:nvSpPr>
          <p:cNvPr id="11" name="Text 9"/>
          <p:cNvSpPr/>
          <p:nvPr/>
        </p:nvSpPr>
        <p:spPr>
          <a:xfrm>
            <a:off x="822960" y="4160520"/>
            <a:ext cx="9144000" cy="548640"/>
          </a:xfrm>
          <a:prstGeom prst="rect">
            <a:avLst/>
          </a:prstGeom>
          <a:noFill/>
          <a:ln/>
        </p:spPr>
        <p:txBody>
          <a:bodyPr wrap="square" lIns="0" tIns="0" rIns="0" bIns="0" rtlCol="0" anchor="ctr"/>
          <a:lstStyle/>
          <a:p>
            <a:pPr indent="0" marL="0">
              <a:buNone/>
            </a:pPr>
            <a:r>
              <a:rPr lang="en-US" sz="1500" i="1" dirty="0">
                <a:solidFill>
                  <a:srgbClr val="BFD6E8"/>
                </a:solidFill>
                <a:latin typeface="Calibri" pitchFamily="34" charset="0"/>
                <a:ea typeface="Calibri" pitchFamily="34" charset="-122"/>
                <a:cs typeface="Calibri" pitchFamily="34" charset="-120"/>
              </a:rPr>
              <a:t>WHERE, AND/OR/IN/NOT, comparison operators, and BETWEEN</a:t>
            </a:r>
            <a:endParaRPr lang="en-US" sz="15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3"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4</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500" b="1" dirty="0">
                <a:solidFill>
                  <a:srgbClr val="16202A"/>
                </a:solidFill>
                <a:latin typeface="Cambria" pitchFamily="34" charset="0"/>
                <a:ea typeface="Cambria" pitchFamily="34" charset="-122"/>
                <a:cs typeface="Cambria" pitchFamily="34" charset="-120"/>
              </a:rPr>
              <a:t>The WHERE Clause</a:t>
            </a:r>
            <a:endParaRPr lang="en-US" sz="25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WHERE filters rows so only the ones matching your condition come back</a:t>
            </a:r>
            <a:endParaRPr lang="en-US" sz="1250" dirty="0"/>
          </a:p>
        </p:txBody>
      </p:sp>
      <p:sp>
        <p:nvSpPr>
          <p:cNvPr id="6" name="Shape 4"/>
          <p:cNvSpPr/>
          <p:nvPr/>
        </p:nvSpPr>
        <p:spPr>
          <a:xfrm>
            <a:off x="548640" y="1920240"/>
            <a:ext cx="3383280" cy="347472"/>
          </a:xfrm>
          <a:prstGeom prst="rect">
            <a:avLst/>
          </a:prstGeom>
          <a:solidFill>
            <a:srgbClr val="1E56A0"/>
          </a:solidFill>
          <a:ln w="9525">
            <a:solidFill>
              <a:srgbClr val="FFFFFF"/>
            </a:solidFill>
            <a:prstDash val="solid"/>
          </a:ln>
        </p:spPr>
      </p:sp>
      <p:sp>
        <p:nvSpPr>
          <p:cNvPr id="7" name="Text 5"/>
          <p:cNvSpPr/>
          <p:nvPr/>
        </p:nvSpPr>
        <p:spPr>
          <a:xfrm>
            <a:off x="548640" y="1920240"/>
            <a:ext cx="33832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emp_no</a:t>
            </a:r>
            <a:endParaRPr lang="en-US" sz="1150" dirty="0"/>
          </a:p>
        </p:txBody>
      </p:sp>
      <p:sp>
        <p:nvSpPr>
          <p:cNvPr id="8" name="Shape 6"/>
          <p:cNvSpPr/>
          <p:nvPr/>
        </p:nvSpPr>
        <p:spPr>
          <a:xfrm>
            <a:off x="3931920" y="1920240"/>
            <a:ext cx="3383280" cy="347472"/>
          </a:xfrm>
          <a:prstGeom prst="rect">
            <a:avLst/>
          </a:prstGeom>
          <a:solidFill>
            <a:srgbClr val="1E56A0"/>
          </a:solidFill>
          <a:ln w="9525">
            <a:solidFill>
              <a:srgbClr val="FFFFFF"/>
            </a:solidFill>
            <a:prstDash val="solid"/>
          </a:ln>
        </p:spPr>
      </p:sp>
      <p:sp>
        <p:nvSpPr>
          <p:cNvPr id="9" name="Text 7"/>
          <p:cNvSpPr/>
          <p:nvPr/>
        </p:nvSpPr>
        <p:spPr>
          <a:xfrm>
            <a:off x="3931920" y="1920240"/>
            <a:ext cx="33832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first_name</a:t>
            </a:r>
            <a:endParaRPr lang="en-US" sz="1150" dirty="0"/>
          </a:p>
        </p:txBody>
      </p:sp>
      <p:sp>
        <p:nvSpPr>
          <p:cNvPr id="10" name="Shape 8"/>
          <p:cNvSpPr/>
          <p:nvPr/>
        </p:nvSpPr>
        <p:spPr>
          <a:xfrm>
            <a:off x="7315200" y="1920240"/>
            <a:ext cx="3383280" cy="347472"/>
          </a:xfrm>
          <a:prstGeom prst="rect">
            <a:avLst/>
          </a:prstGeom>
          <a:solidFill>
            <a:srgbClr val="1E56A0"/>
          </a:solidFill>
          <a:ln w="9525">
            <a:solidFill>
              <a:srgbClr val="FFFFFF"/>
            </a:solidFill>
            <a:prstDash val="solid"/>
          </a:ln>
        </p:spPr>
      </p:sp>
      <p:sp>
        <p:nvSpPr>
          <p:cNvPr id="11" name="Text 9"/>
          <p:cNvSpPr/>
          <p:nvPr/>
        </p:nvSpPr>
        <p:spPr>
          <a:xfrm>
            <a:off x="7315200" y="1920240"/>
            <a:ext cx="33832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salary</a:t>
            </a:r>
            <a:endParaRPr lang="en-US" sz="1150" dirty="0"/>
          </a:p>
        </p:txBody>
      </p:sp>
      <p:sp>
        <p:nvSpPr>
          <p:cNvPr id="12" name="Shape 10"/>
          <p:cNvSpPr/>
          <p:nvPr/>
        </p:nvSpPr>
        <p:spPr>
          <a:xfrm>
            <a:off x="548640" y="2267712"/>
            <a:ext cx="3383280" cy="347472"/>
          </a:xfrm>
          <a:prstGeom prst="rect">
            <a:avLst/>
          </a:prstGeom>
          <a:solidFill>
            <a:srgbClr val="FFFFFF"/>
          </a:solidFill>
          <a:ln w="9525">
            <a:solidFill>
              <a:srgbClr val="E2E8E8"/>
            </a:solidFill>
            <a:prstDash val="solid"/>
          </a:ln>
        </p:spPr>
      </p:sp>
      <p:sp>
        <p:nvSpPr>
          <p:cNvPr id="13" name="Text 11"/>
          <p:cNvSpPr/>
          <p:nvPr/>
        </p:nvSpPr>
        <p:spPr>
          <a:xfrm>
            <a:off x="548640" y="2267712"/>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1001</a:t>
            </a:r>
            <a:endParaRPr lang="en-US" sz="1100" dirty="0"/>
          </a:p>
        </p:txBody>
      </p:sp>
      <p:sp>
        <p:nvSpPr>
          <p:cNvPr id="14" name="Shape 12"/>
          <p:cNvSpPr/>
          <p:nvPr/>
        </p:nvSpPr>
        <p:spPr>
          <a:xfrm>
            <a:off x="3931920" y="2267712"/>
            <a:ext cx="3383280" cy="347472"/>
          </a:xfrm>
          <a:prstGeom prst="rect">
            <a:avLst/>
          </a:prstGeom>
          <a:solidFill>
            <a:srgbClr val="FFFFFF"/>
          </a:solidFill>
          <a:ln w="9525">
            <a:solidFill>
              <a:srgbClr val="E2E8E8"/>
            </a:solidFill>
            <a:prstDash val="solid"/>
          </a:ln>
        </p:spPr>
      </p:sp>
      <p:sp>
        <p:nvSpPr>
          <p:cNvPr id="15" name="Text 13"/>
          <p:cNvSpPr/>
          <p:nvPr/>
        </p:nvSpPr>
        <p:spPr>
          <a:xfrm>
            <a:off x="3931920" y="2267712"/>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Alex</a:t>
            </a:r>
            <a:endParaRPr lang="en-US" sz="1100" dirty="0"/>
          </a:p>
        </p:txBody>
      </p:sp>
      <p:sp>
        <p:nvSpPr>
          <p:cNvPr id="16" name="Shape 14"/>
          <p:cNvSpPr/>
          <p:nvPr/>
        </p:nvSpPr>
        <p:spPr>
          <a:xfrm>
            <a:off x="7315200" y="2267712"/>
            <a:ext cx="3383280" cy="347472"/>
          </a:xfrm>
          <a:prstGeom prst="rect">
            <a:avLst/>
          </a:prstGeom>
          <a:solidFill>
            <a:srgbClr val="FFFFFF"/>
          </a:solidFill>
          <a:ln w="9525">
            <a:solidFill>
              <a:srgbClr val="E2E8E8"/>
            </a:solidFill>
            <a:prstDash val="solid"/>
          </a:ln>
        </p:spPr>
      </p:sp>
      <p:sp>
        <p:nvSpPr>
          <p:cNvPr id="17" name="Text 15"/>
          <p:cNvSpPr/>
          <p:nvPr/>
        </p:nvSpPr>
        <p:spPr>
          <a:xfrm>
            <a:off x="7315200" y="2267712"/>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58,200</a:t>
            </a:r>
            <a:endParaRPr lang="en-US" sz="1100" dirty="0"/>
          </a:p>
        </p:txBody>
      </p:sp>
      <p:sp>
        <p:nvSpPr>
          <p:cNvPr id="18" name="Shape 16"/>
          <p:cNvSpPr/>
          <p:nvPr/>
        </p:nvSpPr>
        <p:spPr>
          <a:xfrm>
            <a:off x="548640" y="2615184"/>
            <a:ext cx="3383280" cy="347472"/>
          </a:xfrm>
          <a:prstGeom prst="rect">
            <a:avLst/>
          </a:prstGeom>
          <a:solidFill>
            <a:srgbClr val="D9E9F7"/>
          </a:solidFill>
          <a:ln w="9525">
            <a:solidFill>
              <a:srgbClr val="E2E8E8"/>
            </a:solidFill>
            <a:prstDash val="solid"/>
          </a:ln>
        </p:spPr>
      </p:sp>
      <p:sp>
        <p:nvSpPr>
          <p:cNvPr id="19" name="Text 17"/>
          <p:cNvSpPr/>
          <p:nvPr/>
        </p:nvSpPr>
        <p:spPr>
          <a:xfrm>
            <a:off x="548640" y="2615184"/>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1002</a:t>
            </a:r>
            <a:endParaRPr lang="en-US" sz="1100" dirty="0"/>
          </a:p>
        </p:txBody>
      </p:sp>
      <p:sp>
        <p:nvSpPr>
          <p:cNvPr id="20" name="Shape 18"/>
          <p:cNvSpPr/>
          <p:nvPr/>
        </p:nvSpPr>
        <p:spPr>
          <a:xfrm>
            <a:off x="3931920" y="2615184"/>
            <a:ext cx="3383280" cy="347472"/>
          </a:xfrm>
          <a:prstGeom prst="rect">
            <a:avLst/>
          </a:prstGeom>
          <a:solidFill>
            <a:srgbClr val="D9E9F7"/>
          </a:solidFill>
          <a:ln w="9525">
            <a:solidFill>
              <a:srgbClr val="E2E8E8"/>
            </a:solidFill>
            <a:prstDash val="solid"/>
          </a:ln>
        </p:spPr>
      </p:sp>
      <p:sp>
        <p:nvSpPr>
          <p:cNvPr id="21" name="Text 19"/>
          <p:cNvSpPr/>
          <p:nvPr/>
        </p:nvSpPr>
        <p:spPr>
          <a:xfrm>
            <a:off x="3931920" y="2615184"/>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Jordan</a:t>
            </a:r>
            <a:endParaRPr lang="en-US" sz="1100" dirty="0"/>
          </a:p>
        </p:txBody>
      </p:sp>
      <p:sp>
        <p:nvSpPr>
          <p:cNvPr id="22" name="Shape 20"/>
          <p:cNvSpPr/>
          <p:nvPr/>
        </p:nvSpPr>
        <p:spPr>
          <a:xfrm>
            <a:off x="7315200" y="2615184"/>
            <a:ext cx="3383280" cy="347472"/>
          </a:xfrm>
          <a:prstGeom prst="rect">
            <a:avLst/>
          </a:prstGeom>
          <a:solidFill>
            <a:srgbClr val="D9E9F7"/>
          </a:solidFill>
          <a:ln w="9525">
            <a:solidFill>
              <a:srgbClr val="E2E8E8"/>
            </a:solidFill>
            <a:prstDash val="solid"/>
          </a:ln>
        </p:spPr>
      </p:sp>
      <p:sp>
        <p:nvSpPr>
          <p:cNvPr id="23" name="Text 21"/>
          <p:cNvSpPr/>
          <p:nvPr/>
        </p:nvSpPr>
        <p:spPr>
          <a:xfrm>
            <a:off x="7315200" y="2615184"/>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60,117</a:t>
            </a:r>
            <a:endParaRPr lang="en-US" sz="1100" dirty="0"/>
          </a:p>
        </p:txBody>
      </p:sp>
      <p:sp>
        <p:nvSpPr>
          <p:cNvPr id="24" name="Shape 22"/>
          <p:cNvSpPr/>
          <p:nvPr/>
        </p:nvSpPr>
        <p:spPr>
          <a:xfrm>
            <a:off x="548640" y="2962656"/>
            <a:ext cx="3383280" cy="347472"/>
          </a:xfrm>
          <a:prstGeom prst="rect">
            <a:avLst/>
          </a:prstGeom>
          <a:solidFill>
            <a:srgbClr val="D9E9F7"/>
          </a:solidFill>
          <a:ln w="9525">
            <a:solidFill>
              <a:srgbClr val="E2E8E8"/>
            </a:solidFill>
            <a:prstDash val="solid"/>
          </a:ln>
        </p:spPr>
      </p:sp>
      <p:sp>
        <p:nvSpPr>
          <p:cNvPr id="25" name="Text 23"/>
          <p:cNvSpPr/>
          <p:nvPr/>
        </p:nvSpPr>
        <p:spPr>
          <a:xfrm>
            <a:off x="548640" y="2962656"/>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1003</a:t>
            </a:r>
            <a:endParaRPr lang="en-US" sz="1100" dirty="0"/>
          </a:p>
        </p:txBody>
      </p:sp>
      <p:sp>
        <p:nvSpPr>
          <p:cNvPr id="26" name="Shape 24"/>
          <p:cNvSpPr/>
          <p:nvPr/>
        </p:nvSpPr>
        <p:spPr>
          <a:xfrm>
            <a:off x="3931920" y="2962656"/>
            <a:ext cx="3383280" cy="347472"/>
          </a:xfrm>
          <a:prstGeom prst="rect">
            <a:avLst/>
          </a:prstGeom>
          <a:solidFill>
            <a:srgbClr val="D9E9F7"/>
          </a:solidFill>
          <a:ln w="9525">
            <a:solidFill>
              <a:srgbClr val="E2E8E8"/>
            </a:solidFill>
            <a:prstDash val="solid"/>
          </a:ln>
        </p:spPr>
      </p:sp>
      <p:sp>
        <p:nvSpPr>
          <p:cNvPr id="27" name="Text 25"/>
          <p:cNvSpPr/>
          <p:nvPr/>
        </p:nvSpPr>
        <p:spPr>
          <a:xfrm>
            <a:off x="3931920" y="2962656"/>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Priya</a:t>
            </a:r>
            <a:endParaRPr lang="en-US" sz="1100" dirty="0"/>
          </a:p>
        </p:txBody>
      </p:sp>
      <p:sp>
        <p:nvSpPr>
          <p:cNvPr id="28" name="Shape 26"/>
          <p:cNvSpPr/>
          <p:nvPr/>
        </p:nvSpPr>
        <p:spPr>
          <a:xfrm>
            <a:off x="7315200" y="2962656"/>
            <a:ext cx="3383280" cy="347472"/>
          </a:xfrm>
          <a:prstGeom prst="rect">
            <a:avLst/>
          </a:prstGeom>
          <a:solidFill>
            <a:srgbClr val="D9E9F7"/>
          </a:solidFill>
          <a:ln w="9525">
            <a:solidFill>
              <a:srgbClr val="E2E8E8"/>
            </a:solidFill>
            <a:prstDash val="solid"/>
          </a:ln>
        </p:spPr>
      </p:sp>
      <p:sp>
        <p:nvSpPr>
          <p:cNvPr id="29" name="Text 27"/>
          <p:cNvSpPr/>
          <p:nvPr/>
        </p:nvSpPr>
        <p:spPr>
          <a:xfrm>
            <a:off x="7315200" y="2962656"/>
            <a:ext cx="338328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60,117</a:t>
            </a:r>
            <a:endParaRPr lang="en-US" sz="1100" dirty="0"/>
          </a:p>
        </p:txBody>
      </p:sp>
      <p:sp>
        <p:nvSpPr>
          <p:cNvPr id="30" name="Text 28"/>
          <p:cNvSpPr/>
          <p:nvPr/>
        </p:nvSpPr>
        <p:spPr>
          <a:xfrm>
            <a:off x="548640" y="3566160"/>
            <a:ext cx="10607040" cy="347472"/>
          </a:xfrm>
          <a:prstGeom prst="rect">
            <a:avLst/>
          </a:prstGeom>
          <a:noFill/>
          <a:ln/>
        </p:spPr>
        <p:txBody>
          <a:bodyPr wrap="square" lIns="0" tIns="0" rIns="0" bIns="0" rtlCol="0" anchor="ctr"/>
          <a:lstStyle/>
          <a:p>
            <a:pPr indent="0" marL="0">
              <a:buNone/>
            </a:pPr>
            <a:r>
              <a:rPr lang="en-US" sz="1300" b="1" dirty="0">
                <a:solidFill>
                  <a:srgbClr val="1E56A0"/>
                </a:solidFill>
                <a:latin typeface="Calibri" pitchFamily="34" charset="0"/>
                <a:ea typeface="Calibri" pitchFamily="34" charset="-122"/>
                <a:cs typeface="Calibri" pitchFamily="34" charset="-120"/>
              </a:rPr>
              <a:t>Question:  </a:t>
            </a:r>
            <a:pPr indent="0" marL="0">
              <a:buNone/>
            </a:pPr>
            <a:r>
              <a:rPr lang="en-US" sz="1300" i="1" dirty="0">
                <a:solidFill>
                  <a:srgbClr val="16202A"/>
                </a:solidFill>
                <a:latin typeface="Calibri" pitchFamily="34" charset="0"/>
                <a:ea typeface="Calibri" pitchFamily="34" charset="-122"/>
                <a:cs typeface="Calibri" pitchFamily="34" charset="-120"/>
              </a:rPr>
              <a:t>Return the employees whose salary is 60117</a:t>
            </a:r>
            <a:endParaRPr lang="en-US" sz="1300" dirty="0"/>
          </a:p>
        </p:txBody>
      </p:sp>
      <p:sp>
        <p:nvSpPr>
          <p:cNvPr id="31" name="Shape 29"/>
          <p:cNvSpPr/>
          <p:nvPr/>
        </p:nvSpPr>
        <p:spPr>
          <a:xfrm>
            <a:off x="548640" y="3950208"/>
            <a:ext cx="7315200" cy="868680"/>
          </a:xfrm>
          <a:prstGeom prst="roundRect">
            <a:avLst>
              <a:gd name="adj" fmla="val 8421"/>
            </a:avLst>
          </a:prstGeom>
          <a:solidFill>
            <a:srgbClr val="0E2A3D"/>
          </a:solidFill>
          <a:ln/>
        </p:spPr>
      </p:sp>
      <p:sp>
        <p:nvSpPr>
          <p:cNvPr id="32" name="Text 30"/>
          <p:cNvSpPr/>
          <p:nvPr/>
        </p:nvSpPr>
        <p:spPr>
          <a:xfrm>
            <a:off x="749808" y="4023360"/>
            <a:ext cx="6912864" cy="722376"/>
          </a:xfrm>
          <a:prstGeom prst="rect">
            <a:avLst/>
          </a:prstGeom>
          <a:noFill/>
          <a:ln/>
        </p:spPr>
        <p:txBody>
          <a:bodyPr wrap="square" lIns="0" tIns="0" rIns="0" bIns="0" rtlCol="0" anchor="t"/>
          <a:lstStyle/>
          <a:p>
            <a:pPr algn="l" indent="0" marL="0">
              <a:lnSpc>
                <a:spcPct val="125000"/>
              </a:lnSpc>
              <a:buNone/>
            </a:pPr>
            <a:r>
              <a:rPr lang="en-US" sz="1300" dirty="0">
                <a:solidFill>
                  <a:srgbClr val="BEE9FF"/>
                </a:solidFill>
                <a:latin typeface="Courier New" pitchFamily="34" charset="0"/>
                <a:ea typeface="Courier New" pitchFamily="34" charset="-122"/>
                <a:cs typeface="Courier New" pitchFamily="34" charset="-120"/>
              </a:rPr>
              <a:t>SELECT *</a:t>
            </a:r>
            <a:endParaRPr lang="en-US" sz="1300" dirty="0"/>
          </a:p>
          <a:p>
            <a:pPr algn="l" indent="0" marL="0">
              <a:lnSpc>
                <a:spcPct val="125000"/>
              </a:lnSpc>
              <a:buNone/>
            </a:pPr>
            <a:r>
              <a:rPr lang="en-US" sz="1300" dirty="0">
                <a:solidFill>
                  <a:srgbClr val="BEE9FF"/>
                </a:solidFill>
                <a:latin typeface="Courier New" pitchFamily="34" charset="0"/>
                <a:ea typeface="Courier New" pitchFamily="34" charset="-122"/>
                <a:cs typeface="Courier New" pitchFamily="34" charset="-120"/>
              </a:rPr>
              <a:t>FROM employees.salaries</a:t>
            </a:r>
            <a:endParaRPr lang="en-US" sz="1300" dirty="0"/>
          </a:p>
          <a:p>
            <a:pPr algn="l" indent="0" marL="0">
              <a:lnSpc>
                <a:spcPct val="125000"/>
              </a:lnSpc>
              <a:buNone/>
            </a:pPr>
            <a:r>
              <a:rPr lang="en-US" sz="1300" dirty="0">
                <a:solidFill>
                  <a:srgbClr val="BEE9FF"/>
                </a:solidFill>
                <a:latin typeface="Courier New" pitchFamily="34" charset="0"/>
                <a:ea typeface="Courier New" pitchFamily="34" charset="-122"/>
                <a:cs typeface="Courier New" pitchFamily="34" charset="-120"/>
              </a:rPr>
              <a:t>WHERE salary = 60117;</a:t>
            </a:r>
            <a:endParaRPr lang="en-US" sz="1300" dirty="0"/>
          </a:p>
        </p:txBody>
      </p:sp>
      <p:sp>
        <p:nvSpPr>
          <p:cNvPr id="33" name="Shape 31"/>
          <p:cNvSpPr/>
          <p:nvPr/>
        </p:nvSpPr>
        <p:spPr>
          <a:xfrm>
            <a:off x="8046720" y="3950208"/>
            <a:ext cx="3154680" cy="868680"/>
          </a:xfrm>
          <a:prstGeom prst="roundRect">
            <a:avLst>
              <a:gd name="adj" fmla="val 8421"/>
            </a:avLst>
          </a:prstGeom>
          <a:solidFill>
            <a:srgbClr val="2FBF8F"/>
          </a:solidFill>
          <a:ln/>
        </p:spPr>
      </p:sp>
      <p:sp>
        <p:nvSpPr>
          <p:cNvPr id="34" name="Text 32"/>
          <p:cNvSpPr/>
          <p:nvPr/>
        </p:nvSpPr>
        <p:spPr>
          <a:xfrm>
            <a:off x="8046720" y="3950208"/>
            <a:ext cx="315468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 rows</a:t>
            </a:r>
            <a:endParaRPr lang="en-US" sz="1600" dirty="0"/>
          </a:p>
        </p:txBody>
      </p:sp>
      <p:sp>
        <p:nvSpPr>
          <p:cNvPr id="35" name="Text 33"/>
          <p:cNvSpPr/>
          <p:nvPr/>
        </p:nvSpPr>
        <p:spPr>
          <a:xfrm>
            <a:off x="548640" y="4928616"/>
            <a:ext cx="10607040" cy="45720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Only rows where the condition is TRUE come back — everyone else is filtered out entirely.</a:t>
            </a:r>
            <a:endParaRPr lang="en-US" sz="1100" dirty="0"/>
          </a:p>
        </p:txBody>
      </p:sp>
      <p:sp>
        <p:nvSpPr>
          <p:cNvPr id="36" name="Text 3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37" name="Text 3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4</a:t>
            </a:r>
            <a:endParaRPr lang="en-US" sz="1050" dirty="0"/>
          </a:p>
        </p:txBody>
      </p:sp>
      <p:sp>
        <p:nvSpPr>
          <p:cNvPr id="4" name="Text 2"/>
          <p:cNvSpPr/>
          <p:nvPr/>
        </p:nvSpPr>
        <p:spPr>
          <a:xfrm>
            <a:off x="548640" y="914400"/>
            <a:ext cx="10058400" cy="777240"/>
          </a:xfrm>
          <a:prstGeom prst="rect">
            <a:avLst/>
          </a:prstGeom>
          <a:noFill/>
          <a:ln/>
        </p:spPr>
        <p:txBody>
          <a:bodyPr wrap="square" lIns="0" tIns="0" rIns="0" bIns="0" rtlCol="0" anchor="t"/>
          <a:lstStyle/>
          <a:p>
            <a:pPr indent="0" marL="0">
              <a:buNone/>
            </a:pPr>
            <a:r>
              <a:rPr lang="en-US" sz="2600" b="1" dirty="0">
                <a:solidFill>
                  <a:srgbClr val="16202A"/>
                </a:solidFill>
                <a:latin typeface="Cambria" pitchFamily="34" charset="0"/>
                <a:ea typeface="Cambria" pitchFamily="34" charset="-122"/>
                <a:cs typeface="Cambria" pitchFamily="34" charset="-120"/>
              </a:rPr>
              <a:t>AND — Every Condition Must Be True</a:t>
            </a:r>
            <a:endParaRPr lang="en-US" sz="26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AND is also a filtering clause — when you chain conditions with AND, all of them must be true at once</a:t>
            </a:r>
            <a:endParaRPr lang="en-US" sz="1250" dirty="0"/>
          </a:p>
        </p:txBody>
      </p:sp>
      <p:sp>
        <p:nvSpPr>
          <p:cNvPr id="6" name="Text 4"/>
          <p:cNvSpPr/>
          <p:nvPr/>
        </p:nvSpPr>
        <p:spPr>
          <a:xfrm>
            <a:off x="548640" y="2011680"/>
            <a:ext cx="10607040" cy="320040"/>
          </a:xfrm>
          <a:prstGeom prst="rect">
            <a:avLst/>
          </a:prstGeom>
          <a:noFill/>
          <a:ln/>
        </p:spPr>
        <p:txBody>
          <a:bodyPr wrap="square" lIns="0" tIns="0" rIns="0" bIns="0" rtlCol="0" anchor="ctr"/>
          <a:lstStyle/>
          <a:p>
            <a:pPr indent="0" marL="0">
              <a:buNone/>
            </a:pPr>
            <a:r>
              <a:rPr lang="en-US" sz="1300" b="1" dirty="0">
                <a:solidFill>
                  <a:srgbClr val="1E56A0"/>
                </a:solidFill>
                <a:latin typeface="Calibri" pitchFamily="34" charset="0"/>
                <a:ea typeface="Calibri" pitchFamily="34" charset="-122"/>
                <a:cs typeface="Calibri" pitchFamily="34" charset="-120"/>
              </a:rPr>
              <a:t>Question:  </a:t>
            </a:r>
            <a:pPr indent="0" marL="0">
              <a:buNone/>
            </a:pPr>
            <a:r>
              <a:rPr lang="en-US" sz="1300" i="1" dirty="0">
                <a:solidFill>
                  <a:srgbClr val="16202A"/>
                </a:solidFill>
                <a:latin typeface="Calibri" pitchFamily="34" charset="0"/>
                <a:ea typeface="Calibri" pitchFamily="34" charset="-122"/>
                <a:cs typeface="Calibri" pitchFamily="34" charset="-120"/>
              </a:rPr>
              <a:t>Return all female employees hired on August 28, 1986</a:t>
            </a:r>
            <a:endParaRPr lang="en-US" sz="1300" dirty="0"/>
          </a:p>
        </p:txBody>
      </p:sp>
      <p:sp>
        <p:nvSpPr>
          <p:cNvPr id="7" name="Shape 5"/>
          <p:cNvSpPr/>
          <p:nvPr/>
        </p:nvSpPr>
        <p:spPr>
          <a:xfrm>
            <a:off x="548640" y="2377440"/>
            <a:ext cx="10652760" cy="804672"/>
          </a:xfrm>
          <a:prstGeom prst="roundRect">
            <a:avLst>
              <a:gd name="adj" fmla="val 9091"/>
            </a:avLst>
          </a:prstGeom>
          <a:solidFill>
            <a:srgbClr val="0E2A3D"/>
          </a:solidFill>
          <a:ln/>
        </p:spPr>
      </p:sp>
      <p:sp>
        <p:nvSpPr>
          <p:cNvPr id="8" name="Text 6"/>
          <p:cNvSpPr/>
          <p:nvPr/>
        </p:nvSpPr>
        <p:spPr>
          <a:xfrm>
            <a:off x="749808" y="2450592"/>
            <a:ext cx="10250424" cy="658368"/>
          </a:xfrm>
          <a:prstGeom prst="rect">
            <a:avLst/>
          </a:prstGeom>
          <a:noFill/>
          <a:ln/>
        </p:spPr>
        <p:txBody>
          <a:bodyPr wrap="square" lIns="0" tIns="0" rIns="0" bIns="0" rtlCol="0" anchor="ctr"/>
          <a:lstStyle/>
          <a:p>
            <a:pPr algn="l" indent="0" marL="0">
              <a:lnSpc>
                <a:spcPct val="125000"/>
              </a:lnSpc>
              <a:buNone/>
            </a:pPr>
            <a:r>
              <a:rPr lang="en-US" sz="1250" dirty="0">
                <a:solidFill>
                  <a:srgbClr val="BEE9FF"/>
                </a:solidFill>
                <a:latin typeface="Courier New" pitchFamily="34" charset="0"/>
                <a:ea typeface="Courier New" pitchFamily="34" charset="-122"/>
                <a:cs typeface="Courier New" pitchFamily="34" charset="-120"/>
              </a:rPr>
              <a:t>SELECT *</a:t>
            </a:r>
            <a:endParaRPr lang="en-US" sz="1250" dirty="0"/>
          </a:p>
          <a:p>
            <a:pPr algn="l" indent="0" marL="0">
              <a:lnSpc>
                <a:spcPct val="125000"/>
              </a:lnSpc>
              <a:buNone/>
            </a:pPr>
            <a:r>
              <a:rPr lang="en-US" sz="1250" dirty="0">
                <a:solidFill>
                  <a:srgbClr val="BEE9FF"/>
                </a:solidFill>
                <a:latin typeface="Courier New" pitchFamily="34" charset="0"/>
                <a:ea typeface="Courier New" pitchFamily="34" charset="-122"/>
                <a:cs typeface="Courier New" pitchFamily="34" charset="-120"/>
              </a:rPr>
              <a:t>FROM employees</a:t>
            </a:r>
            <a:endParaRPr lang="en-US" sz="1250" dirty="0"/>
          </a:p>
          <a:p>
            <a:pPr algn="l" indent="0" marL="0">
              <a:lnSpc>
                <a:spcPct val="125000"/>
              </a:lnSpc>
              <a:buNone/>
            </a:pPr>
            <a:r>
              <a:rPr lang="en-US" sz="1250" dirty="0">
                <a:solidFill>
                  <a:srgbClr val="BEE9FF"/>
                </a:solidFill>
                <a:latin typeface="Courier New" pitchFamily="34" charset="0"/>
                <a:ea typeface="Courier New" pitchFamily="34" charset="-122"/>
                <a:cs typeface="Courier New" pitchFamily="34" charset="-120"/>
              </a:rPr>
              <a:t>WHERE sex = 'F' AND hire_date = '1986-08-28';</a:t>
            </a:r>
            <a:endParaRPr lang="en-US" sz="1250" dirty="0"/>
          </a:p>
        </p:txBody>
      </p:sp>
      <p:sp>
        <p:nvSpPr>
          <p:cNvPr id="9" name="Shape 7"/>
          <p:cNvSpPr/>
          <p:nvPr/>
        </p:nvSpPr>
        <p:spPr>
          <a:xfrm>
            <a:off x="548640" y="3364992"/>
            <a:ext cx="10652760" cy="1280160"/>
          </a:xfrm>
          <a:prstGeom prst="roundRect">
            <a:avLst>
              <a:gd name="adj" fmla="val 5000"/>
            </a:avLst>
          </a:prstGeom>
          <a:solidFill>
            <a:srgbClr val="FBEDE8"/>
          </a:solidFill>
          <a:ln/>
        </p:spPr>
      </p:sp>
      <p:sp>
        <p:nvSpPr>
          <p:cNvPr id="10" name="Text 8"/>
          <p:cNvSpPr/>
          <p:nvPr/>
        </p:nvSpPr>
        <p:spPr>
          <a:xfrm>
            <a:off x="777240" y="3483864"/>
            <a:ext cx="5486400" cy="274320"/>
          </a:xfrm>
          <a:prstGeom prst="rect">
            <a:avLst/>
          </a:prstGeom>
          <a:noFill/>
          <a:ln/>
        </p:spPr>
        <p:txBody>
          <a:bodyPr wrap="square" lIns="0" tIns="0" rIns="0" bIns="0" rtlCol="0" anchor="ctr"/>
          <a:lstStyle/>
          <a:p>
            <a:pPr indent="0" marL="0">
              <a:buNone/>
            </a:pPr>
            <a:r>
              <a:rPr lang="en-US" sz="1050" b="1" spc="150" kern="0" dirty="0">
                <a:solidFill>
                  <a:srgbClr val="8A3A2A"/>
                </a:solidFill>
                <a:latin typeface="Calibri" pitchFamily="34" charset="0"/>
                <a:ea typeface="Calibri" pitchFamily="34" charset="-122"/>
                <a:cs typeface="Calibri" pitchFamily="34" charset="-120"/>
              </a:rPr>
              <a:t>THE GOTCHA</a:t>
            </a:r>
            <a:endParaRPr lang="en-US" sz="1050" dirty="0"/>
          </a:p>
        </p:txBody>
      </p:sp>
      <p:sp>
        <p:nvSpPr>
          <p:cNvPr id="11" name="Text 9"/>
          <p:cNvSpPr/>
          <p:nvPr/>
        </p:nvSpPr>
        <p:spPr>
          <a:xfrm>
            <a:off x="777240" y="3776472"/>
            <a:ext cx="10241280" cy="292608"/>
          </a:xfrm>
          <a:prstGeom prst="rect">
            <a:avLst/>
          </a:prstGeom>
          <a:noFill/>
          <a:ln/>
        </p:spPr>
        <p:txBody>
          <a:bodyPr wrap="square" lIns="0" tIns="0" rIns="0" bIns="0" rtlCol="0" anchor="ctr"/>
          <a:lstStyle/>
          <a:p>
            <a:pPr indent="0" marL="0">
              <a:buNone/>
            </a:pPr>
            <a:r>
              <a:rPr lang="en-US" sz="1200" b="1" dirty="0">
                <a:solidFill>
                  <a:srgbClr val="8A3A2A"/>
                </a:solidFill>
                <a:latin typeface="Calibri" pitchFamily="34" charset="0"/>
                <a:ea typeface="Calibri" pitchFamily="34" charset="-122"/>
                <a:cs typeface="Calibri" pitchFamily="34" charset="-120"/>
              </a:rPr>
              <a:t>Question:  </a:t>
            </a:r>
            <a:pPr indent="0" marL="0">
              <a:buNone/>
            </a:pPr>
            <a:r>
              <a:rPr lang="en-US" sz="1200" i="1" dirty="0">
                <a:solidFill>
                  <a:srgbClr val="8A3A2A"/>
                </a:solidFill>
                <a:latin typeface="Calibri" pitchFamily="34" charset="0"/>
                <a:ea typeface="Calibri" pitchFamily="34" charset="-122"/>
                <a:cs typeface="Calibri" pitchFamily="34" charset="-120"/>
              </a:rPr>
              <a:t>Return employees hired on August 28, 1986, AND November 21, 1985</a:t>
            </a:r>
            <a:endParaRPr lang="en-US" sz="1200" dirty="0"/>
          </a:p>
        </p:txBody>
      </p:sp>
      <p:sp>
        <p:nvSpPr>
          <p:cNvPr id="12" name="Text 10"/>
          <p:cNvSpPr/>
          <p:nvPr/>
        </p:nvSpPr>
        <p:spPr>
          <a:xfrm>
            <a:off x="777240" y="4096512"/>
            <a:ext cx="10241280" cy="502920"/>
          </a:xfrm>
          <a:prstGeom prst="rect">
            <a:avLst/>
          </a:prstGeom>
          <a:noFill/>
          <a:ln/>
        </p:spPr>
        <p:txBody>
          <a:bodyPr wrap="square" lIns="0" tIns="0" rIns="0" bIns="0" rtlCol="0" anchor="ctr"/>
          <a:lstStyle/>
          <a:p>
            <a:pPr indent="0" marL="0">
              <a:buNone/>
            </a:pPr>
            <a:r>
              <a:rPr lang="en-US" sz="1200" b="1" dirty="0">
                <a:solidFill>
                  <a:srgbClr val="8A3A2A"/>
                </a:solidFill>
                <a:latin typeface="Calibri" pitchFamily="34" charset="0"/>
                <a:ea typeface="Calibri" pitchFamily="34" charset="-122"/>
                <a:cs typeface="Calibri" pitchFamily="34" charset="-120"/>
              </a:rPr>
              <a:t>Answer:  </a:t>
            </a:r>
            <a:pPr indent="0" marL="0">
              <a:buNone/>
            </a:pPr>
            <a:r>
              <a:rPr lang="en-US" sz="1200" dirty="0">
                <a:solidFill>
                  <a:srgbClr val="8A3A2A"/>
                </a:solidFill>
                <a:latin typeface="Calibri" pitchFamily="34" charset="0"/>
                <a:ea typeface="Calibri" pitchFamily="34" charset="-122"/>
                <a:cs typeface="Calibri" pitchFamily="34" charset="-120"/>
              </a:rPr>
              <a:t>SQL returns nothing. A single row can’t have two different hire dates at once — one column can only ever satisfy one of the two conditions, never both.</a:t>
            </a:r>
            <a:endParaRPr lang="en-US" sz="1200" dirty="0"/>
          </a:p>
        </p:txBody>
      </p:sp>
      <p:sp>
        <p:nvSpPr>
          <p:cNvPr id="13" name="Shape 11"/>
          <p:cNvSpPr/>
          <p:nvPr/>
        </p:nvSpPr>
        <p:spPr>
          <a:xfrm>
            <a:off x="548640" y="4828032"/>
            <a:ext cx="10652760" cy="594360"/>
          </a:xfrm>
          <a:prstGeom prst="roundRect">
            <a:avLst>
              <a:gd name="adj" fmla="val 10769"/>
            </a:avLst>
          </a:prstGeom>
          <a:solidFill>
            <a:srgbClr val="FFF4E8"/>
          </a:solidFill>
          <a:ln/>
        </p:spPr>
      </p:sp>
      <p:sp>
        <p:nvSpPr>
          <p:cNvPr id="14" name="Text 12"/>
          <p:cNvSpPr/>
          <p:nvPr/>
        </p:nvSpPr>
        <p:spPr>
          <a:xfrm>
            <a:off x="777240" y="4828032"/>
            <a:ext cx="10241280" cy="594360"/>
          </a:xfrm>
          <a:prstGeom prst="rect">
            <a:avLst/>
          </a:prstGeom>
          <a:noFill/>
          <a:ln/>
        </p:spPr>
        <p:txBody>
          <a:bodyPr wrap="square" lIns="0" tIns="0" rIns="0" bIns="0" rtlCol="0" anchor="ctr"/>
          <a:lstStyle/>
          <a:p>
            <a:pPr indent="0" marL="0">
              <a:buNone/>
            </a:pPr>
            <a:r>
              <a:rPr lang="en-US" sz="1200" b="1" dirty="0">
                <a:solidFill>
                  <a:srgbClr val="8A5A1E"/>
                </a:solidFill>
                <a:latin typeface="Calibri" pitchFamily="34" charset="0"/>
                <a:ea typeface="Calibri" pitchFamily="34" charset="-122"/>
                <a:cs typeface="Calibri" pitchFamily="34" charset="-120"/>
              </a:rPr>
              <a:t>Lesson:  </a:t>
            </a:r>
            <a:pPr indent="0" marL="0">
              <a:buNone/>
            </a:pPr>
            <a:r>
              <a:rPr lang="en-US" sz="1200" dirty="0">
                <a:solidFill>
                  <a:srgbClr val="8A5A1E"/>
                </a:solidFill>
                <a:latin typeface="Calibri" pitchFamily="34" charset="0"/>
                <a:ea typeface="Calibri" pitchFamily="34" charset="-122"/>
                <a:cs typeface="Calibri" pitchFamily="34" charset="-120"/>
              </a:rPr>
              <a:t>when both conditions apply to the same single-valued column, ask yourself whether you actually meant OR.</a:t>
            </a:r>
            <a:endParaRPr lang="en-US" sz="1200" dirty="0"/>
          </a:p>
        </p:txBody>
      </p:sp>
      <p:sp>
        <p:nvSpPr>
          <p:cNvPr id="15" name="Text 1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6"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4</a:t>
            </a:r>
            <a:endParaRPr lang="en-US" sz="1050" dirty="0"/>
          </a:p>
        </p:txBody>
      </p:sp>
      <p:sp>
        <p:nvSpPr>
          <p:cNvPr id="4" name="Text 2"/>
          <p:cNvSpPr/>
          <p:nvPr/>
        </p:nvSpPr>
        <p:spPr>
          <a:xfrm>
            <a:off x="548640" y="914400"/>
            <a:ext cx="82296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OR, IN &amp; NOT</a:t>
            </a:r>
            <a:endParaRPr lang="en-US" sz="2900" dirty="0"/>
          </a:p>
        </p:txBody>
      </p:sp>
      <p:sp>
        <p:nvSpPr>
          <p:cNvPr id="5" name="Text 3"/>
          <p:cNvSpPr/>
          <p:nvPr/>
        </p:nvSpPr>
        <p:spPr>
          <a:xfrm>
            <a:off x="548640" y="1508760"/>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Three more filtering tools, each solving the AND problem from the last slide in a different way</a:t>
            </a:r>
            <a:endParaRPr lang="en-US" sz="1300" dirty="0"/>
          </a:p>
        </p:txBody>
      </p:sp>
      <p:sp>
        <p:nvSpPr>
          <p:cNvPr id="6" name="Shape 4"/>
          <p:cNvSpPr/>
          <p:nvPr/>
        </p:nvSpPr>
        <p:spPr>
          <a:xfrm>
            <a:off x="548640" y="2011680"/>
            <a:ext cx="10652760" cy="1234440"/>
          </a:xfrm>
          <a:prstGeom prst="roundRect">
            <a:avLst>
              <a:gd name="adj" fmla="val 5926"/>
            </a:avLst>
          </a:prstGeom>
          <a:solidFill>
            <a:srgbClr val="F2F6FA"/>
          </a:solidFill>
          <a:ln/>
        </p:spPr>
      </p:sp>
      <p:sp>
        <p:nvSpPr>
          <p:cNvPr id="7" name="Text 5"/>
          <p:cNvSpPr/>
          <p:nvPr/>
        </p:nvSpPr>
        <p:spPr>
          <a:xfrm>
            <a:off x="777240" y="2130552"/>
            <a:ext cx="2743200" cy="320040"/>
          </a:xfrm>
          <a:prstGeom prst="rect">
            <a:avLst/>
          </a:prstGeom>
          <a:noFill/>
          <a:ln/>
        </p:spPr>
        <p:txBody>
          <a:bodyPr wrap="square" lIns="0" tIns="0" rIns="0" bIns="0" rtlCol="0" anchor="ctr"/>
          <a:lstStyle/>
          <a:p>
            <a:pPr indent="0" marL="0">
              <a:buNone/>
            </a:pPr>
            <a:r>
              <a:rPr lang="en-US" sz="1500" b="1" dirty="0">
                <a:solidFill>
                  <a:srgbClr val="1E56A0"/>
                </a:solidFill>
                <a:latin typeface="Cambria" pitchFamily="34" charset="0"/>
                <a:ea typeface="Cambria" pitchFamily="34" charset="-122"/>
                <a:cs typeface="Cambria" pitchFamily="34" charset="-120"/>
              </a:rPr>
              <a:t>OR</a:t>
            </a:r>
            <a:endParaRPr lang="en-US" sz="1500" dirty="0"/>
          </a:p>
        </p:txBody>
      </p:sp>
      <p:sp>
        <p:nvSpPr>
          <p:cNvPr id="8" name="Text 6"/>
          <p:cNvSpPr/>
          <p:nvPr/>
        </p:nvSpPr>
        <p:spPr>
          <a:xfrm>
            <a:off x="777240" y="2432304"/>
            <a:ext cx="9966960" cy="27432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Only one condition needs to be true. Fixes the AND problem above:</a:t>
            </a:r>
            <a:endParaRPr lang="en-US" sz="1100" dirty="0"/>
          </a:p>
        </p:txBody>
      </p:sp>
      <p:sp>
        <p:nvSpPr>
          <p:cNvPr id="9" name="Shape 7"/>
          <p:cNvSpPr/>
          <p:nvPr/>
        </p:nvSpPr>
        <p:spPr>
          <a:xfrm>
            <a:off x="777240" y="2724912"/>
            <a:ext cx="10195560" cy="457200"/>
          </a:xfrm>
          <a:prstGeom prst="roundRect">
            <a:avLst>
              <a:gd name="adj" fmla="val 16000"/>
            </a:avLst>
          </a:prstGeom>
          <a:solidFill>
            <a:srgbClr val="0E2A3D"/>
          </a:solidFill>
          <a:ln/>
        </p:spPr>
      </p:sp>
      <p:sp>
        <p:nvSpPr>
          <p:cNvPr id="10" name="Text 8"/>
          <p:cNvSpPr/>
          <p:nvPr/>
        </p:nvSpPr>
        <p:spPr>
          <a:xfrm>
            <a:off x="978408" y="2798064"/>
            <a:ext cx="9793224" cy="310896"/>
          </a:xfrm>
          <a:prstGeom prst="rect">
            <a:avLst/>
          </a:prstGeom>
          <a:noFill/>
          <a:ln/>
        </p:spPr>
        <p:txBody>
          <a:bodyPr wrap="square" lIns="0" tIns="0" rIns="0" bIns="0" rtlCol="0" anchor="ctr"/>
          <a:lstStyle/>
          <a:p>
            <a:pPr algn="l" indent="0" marL="0">
              <a:lnSpc>
                <a:spcPct val="125000"/>
              </a:lnSpc>
              <a:buNone/>
            </a:pPr>
            <a:r>
              <a:rPr lang="en-US" sz="1150" dirty="0">
                <a:solidFill>
                  <a:srgbClr val="BEE9FF"/>
                </a:solidFill>
                <a:latin typeface="Courier New" pitchFamily="34" charset="0"/>
                <a:ea typeface="Courier New" pitchFamily="34" charset="-122"/>
                <a:cs typeface="Courier New" pitchFamily="34" charset="-120"/>
              </a:rPr>
              <a:t>WHERE hire_date = '1986-08-28' OR hire_date = '1985-11-21';</a:t>
            </a:r>
            <a:endParaRPr lang="en-US" sz="1150" dirty="0"/>
          </a:p>
        </p:txBody>
      </p:sp>
      <p:sp>
        <p:nvSpPr>
          <p:cNvPr id="11" name="Shape 9"/>
          <p:cNvSpPr/>
          <p:nvPr/>
        </p:nvSpPr>
        <p:spPr>
          <a:xfrm>
            <a:off x="548640" y="3383280"/>
            <a:ext cx="10652760" cy="1234440"/>
          </a:xfrm>
          <a:prstGeom prst="roundRect">
            <a:avLst>
              <a:gd name="adj" fmla="val 5926"/>
            </a:avLst>
          </a:prstGeom>
          <a:solidFill>
            <a:srgbClr val="F2F6FA"/>
          </a:solidFill>
          <a:ln/>
        </p:spPr>
      </p:sp>
      <p:sp>
        <p:nvSpPr>
          <p:cNvPr id="12" name="Text 10"/>
          <p:cNvSpPr/>
          <p:nvPr/>
        </p:nvSpPr>
        <p:spPr>
          <a:xfrm>
            <a:off x="777240" y="3502152"/>
            <a:ext cx="2743200" cy="320040"/>
          </a:xfrm>
          <a:prstGeom prst="rect">
            <a:avLst/>
          </a:prstGeom>
          <a:noFill/>
          <a:ln/>
        </p:spPr>
        <p:txBody>
          <a:bodyPr wrap="square" lIns="0" tIns="0" rIns="0" bIns="0" rtlCol="0" anchor="ctr"/>
          <a:lstStyle/>
          <a:p>
            <a:pPr indent="0" marL="0">
              <a:buNone/>
            </a:pPr>
            <a:r>
              <a:rPr lang="en-US" sz="1500" b="1" dirty="0">
                <a:solidFill>
                  <a:srgbClr val="1E56A0"/>
                </a:solidFill>
                <a:latin typeface="Cambria" pitchFamily="34" charset="0"/>
                <a:ea typeface="Cambria" pitchFamily="34" charset="-122"/>
                <a:cs typeface="Cambria" pitchFamily="34" charset="-120"/>
              </a:rPr>
              <a:t>IN</a:t>
            </a:r>
            <a:endParaRPr lang="en-US" sz="1500" dirty="0"/>
          </a:p>
        </p:txBody>
      </p:sp>
      <p:sp>
        <p:nvSpPr>
          <p:cNvPr id="13" name="Text 11"/>
          <p:cNvSpPr/>
          <p:nvPr/>
        </p:nvSpPr>
        <p:spPr>
          <a:xfrm>
            <a:off x="777240" y="3803904"/>
            <a:ext cx="9966960" cy="27432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Shorthand for OR when checking more than 2 values against one column:</a:t>
            </a:r>
            <a:endParaRPr lang="en-US" sz="1100" dirty="0"/>
          </a:p>
        </p:txBody>
      </p:sp>
      <p:sp>
        <p:nvSpPr>
          <p:cNvPr id="14" name="Shape 12"/>
          <p:cNvSpPr/>
          <p:nvPr/>
        </p:nvSpPr>
        <p:spPr>
          <a:xfrm>
            <a:off x="777240" y="4096512"/>
            <a:ext cx="10195560" cy="457200"/>
          </a:xfrm>
          <a:prstGeom prst="roundRect">
            <a:avLst>
              <a:gd name="adj" fmla="val 16000"/>
            </a:avLst>
          </a:prstGeom>
          <a:solidFill>
            <a:srgbClr val="0E2A3D"/>
          </a:solidFill>
          <a:ln/>
        </p:spPr>
      </p:sp>
      <p:sp>
        <p:nvSpPr>
          <p:cNvPr id="15" name="Text 13"/>
          <p:cNvSpPr/>
          <p:nvPr/>
        </p:nvSpPr>
        <p:spPr>
          <a:xfrm>
            <a:off x="978408" y="4169664"/>
            <a:ext cx="9793224" cy="310896"/>
          </a:xfrm>
          <a:prstGeom prst="rect">
            <a:avLst/>
          </a:prstGeom>
          <a:noFill/>
          <a:ln/>
        </p:spPr>
        <p:txBody>
          <a:bodyPr wrap="square" lIns="0" tIns="0" rIns="0" bIns="0" rtlCol="0" anchor="ctr"/>
          <a:lstStyle/>
          <a:p>
            <a:pPr algn="l" indent="0" marL="0">
              <a:lnSpc>
                <a:spcPct val="125000"/>
              </a:lnSpc>
              <a:buNone/>
            </a:pPr>
            <a:r>
              <a:rPr lang="en-US" sz="1150" dirty="0">
                <a:solidFill>
                  <a:srgbClr val="BEE9FF"/>
                </a:solidFill>
                <a:latin typeface="Courier New" pitchFamily="34" charset="0"/>
                <a:ea typeface="Courier New" pitchFamily="34" charset="-122"/>
                <a:cs typeface="Courier New" pitchFamily="34" charset="-120"/>
              </a:rPr>
              <a:t>WHERE hire_date IN ('1986-08-28', '1985-11-21');</a:t>
            </a:r>
            <a:endParaRPr lang="en-US" sz="1150" dirty="0"/>
          </a:p>
        </p:txBody>
      </p:sp>
      <p:sp>
        <p:nvSpPr>
          <p:cNvPr id="16" name="Shape 14"/>
          <p:cNvSpPr/>
          <p:nvPr/>
        </p:nvSpPr>
        <p:spPr>
          <a:xfrm>
            <a:off x="548640" y="4754880"/>
            <a:ext cx="10652760" cy="960120"/>
          </a:xfrm>
          <a:prstGeom prst="roundRect">
            <a:avLst>
              <a:gd name="adj" fmla="val 7619"/>
            </a:avLst>
          </a:prstGeom>
          <a:solidFill>
            <a:srgbClr val="F2F6FA"/>
          </a:solidFill>
          <a:ln/>
        </p:spPr>
      </p:sp>
      <p:sp>
        <p:nvSpPr>
          <p:cNvPr id="17" name="Text 15"/>
          <p:cNvSpPr/>
          <p:nvPr/>
        </p:nvSpPr>
        <p:spPr>
          <a:xfrm>
            <a:off x="777240" y="4873752"/>
            <a:ext cx="2743200" cy="320040"/>
          </a:xfrm>
          <a:prstGeom prst="rect">
            <a:avLst/>
          </a:prstGeom>
          <a:noFill/>
          <a:ln/>
        </p:spPr>
        <p:txBody>
          <a:bodyPr wrap="square" lIns="0" tIns="0" rIns="0" bIns="0" rtlCol="0" anchor="ctr"/>
          <a:lstStyle/>
          <a:p>
            <a:pPr indent="0" marL="0">
              <a:buNone/>
            </a:pPr>
            <a:r>
              <a:rPr lang="en-US" sz="1500" b="1" dirty="0">
                <a:solidFill>
                  <a:srgbClr val="1E56A0"/>
                </a:solidFill>
                <a:latin typeface="Cambria" pitchFamily="34" charset="0"/>
                <a:ea typeface="Cambria" pitchFamily="34" charset="-122"/>
                <a:cs typeface="Cambria" pitchFamily="34" charset="-120"/>
              </a:rPr>
              <a:t>NOT</a:t>
            </a:r>
            <a:endParaRPr lang="en-US" sz="1500" dirty="0"/>
          </a:p>
        </p:txBody>
      </p:sp>
      <p:sp>
        <p:nvSpPr>
          <p:cNvPr id="18" name="Text 16"/>
          <p:cNvSpPr/>
          <p:nvPr/>
        </p:nvSpPr>
        <p:spPr>
          <a:xfrm>
            <a:off x="777240" y="5175504"/>
            <a:ext cx="9966960" cy="27432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Filters on everything except that condition:</a:t>
            </a:r>
            <a:endParaRPr lang="en-US" sz="1100" dirty="0"/>
          </a:p>
        </p:txBody>
      </p:sp>
      <p:sp>
        <p:nvSpPr>
          <p:cNvPr id="19" name="Shape 17"/>
          <p:cNvSpPr/>
          <p:nvPr/>
        </p:nvSpPr>
        <p:spPr>
          <a:xfrm>
            <a:off x="777240" y="5468112"/>
            <a:ext cx="10195560" cy="384048"/>
          </a:xfrm>
          <a:prstGeom prst="roundRect">
            <a:avLst>
              <a:gd name="adj" fmla="val 19048"/>
            </a:avLst>
          </a:prstGeom>
          <a:solidFill>
            <a:srgbClr val="0E2A3D"/>
          </a:solidFill>
          <a:ln/>
        </p:spPr>
      </p:sp>
      <p:sp>
        <p:nvSpPr>
          <p:cNvPr id="20" name="Text 18"/>
          <p:cNvSpPr/>
          <p:nvPr/>
        </p:nvSpPr>
        <p:spPr>
          <a:xfrm>
            <a:off x="978408" y="5541264"/>
            <a:ext cx="9793224" cy="237744"/>
          </a:xfrm>
          <a:prstGeom prst="rect">
            <a:avLst/>
          </a:prstGeom>
          <a:noFill/>
          <a:ln/>
        </p:spPr>
        <p:txBody>
          <a:bodyPr wrap="square" lIns="0" tIns="0" rIns="0" bIns="0" rtlCol="0" anchor="ctr"/>
          <a:lstStyle/>
          <a:p>
            <a:pPr algn="l" indent="0" marL="0">
              <a:lnSpc>
                <a:spcPct val="125000"/>
              </a:lnSpc>
              <a:buNone/>
            </a:pPr>
            <a:r>
              <a:rPr lang="en-US" sz="1150" dirty="0">
                <a:solidFill>
                  <a:srgbClr val="BEE9FF"/>
                </a:solidFill>
                <a:latin typeface="Courier New" pitchFamily="34" charset="0"/>
                <a:ea typeface="Courier New" pitchFamily="34" charset="-122"/>
                <a:cs typeface="Courier New" pitchFamily="34" charset="-120"/>
              </a:rPr>
              <a:t>WHERE NOT gender = 'm';</a:t>
            </a:r>
            <a:endParaRPr lang="en-US" sz="1150" dirty="0"/>
          </a:p>
        </p:txBody>
      </p:sp>
      <p:sp>
        <p:nvSpPr>
          <p:cNvPr id="21" name="Text 1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4</a:t>
            </a:r>
            <a:endParaRPr lang="en-US" sz="1050" dirty="0"/>
          </a:p>
        </p:txBody>
      </p:sp>
      <p:sp>
        <p:nvSpPr>
          <p:cNvPr id="4" name="Text 2"/>
          <p:cNvSpPr/>
          <p:nvPr/>
        </p:nvSpPr>
        <p:spPr>
          <a:xfrm>
            <a:off x="548640" y="914400"/>
            <a:ext cx="82296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Comparison Operators</a:t>
            </a:r>
            <a:endParaRPr lang="en-US" sz="2900" dirty="0"/>
          </a:p>
        </p:txBody>
      </p:sp>
      <p:sp>
        <p:nvSpPr>
          <p:cNvPr id="5" name="Text 3"/>
          <p:cNvSpPr/>
          <p:nvPr/>
        </p:nvSpPr>
        <p:spPr>
          <a:xfrm>
            <a:off x="548640" y="1508760"/>
            <a:ext cx="1005840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The building blocks of every WHERE condition you’ll ever write</a:t>
            </a:r>
            <a:endParaRPr lang="en-US" sz="1300" dirty="0"/>
          </a:p>
        </p:txBody>
      </p:sp>
      <p:sp>
        <p:nvSpPr>
          <p:cNvPr id="6" name="Shape 4"/>
          <p:cNvSpPr/>
          <p:nvPr/>
        </p:nvSpPr>
        <p:spPr>
          <a:xfrm>
            <a:off x="548640" y="2057400"/>
            <a:ext cx="5257800" cy="914400"/>
          </a:xfrm>
          <a:prstGeom prst="roundRect">
            <a:avLst>
              <a:gd name="adj" fmla="val 7000"/>
            </a:avLst>
          </a:prstGeom>
          <a:solidFill>
            <a:srgbClr val="F2F6FA"/>
          </a:solidFill>
          <a:ln/>
        </p:spPr>
      </p:sp>
      <p:sp>
        <p:nvSpPr>
          <p:cNvPr id="7" name="Text 5"/>
          <p:cNvSpPr/>
          <p:nvPr/>
        </p:nvSpPr>
        <p:spPr>
          <a:xfrm>
            <a:off x="731520" y="2148840"/>
            <a:ext cx="1463040" cy="457200"/>
          </a:xfrm>
          <a:prstGeom prst="rect">
            <a:avLst/>
          </a:prstGeom>
          <a:noFill/>
          <a:ln/>
        </p:spPr>
        <p:txBody>
          <a:bodyPr wrap="square" lIns="0" tIns="0" rIns="0" bIns="0" rtlCol="0" anchor="ctr"/>
          <a:lstStyle/>
          <a:p>
            <a:pPr indent="0" marL="0">
              <a:buNone/>
            </a:pPr>
            <a:r>
              <a:rPr lang="en-US" sz="2000" b="1" dirty="0">
                <a:solidFill>
                  <a:srgbClr val="1E56A0"/>
                </a:solidFill>
                <a:latin typeface="Courier New" pitchFamily="34" charset="0"/>
                <a:ea typeface="Courier New" pitchFamily="34" charset="-122"/>
                <a:cs typeface="Courier New" pitchFamily="34" charset="-120"/>
              </a:rPr>
              <a:t>=</a:t>
            </a:r>
            <a:endParaRPr lang="en-US" sz="2000" dirty="0"/>
          </a:p>
        </p:txBody>
      </p:sp>
      <p:sp>
        <p:nvSpPr>
          <p:cNvPr id="8" name="Text 6"/>
          <p:cNvSpPr/>
          <p:nvPr/>
        </p:nvSpPr>
        <p:spPr>
          <a:xfrm>
            <a:off x="2148840" y="2130552"/>
            <a:ext cx="3429000" cy="274320"/>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Equal to</a:t>
            </a:r>
            <a:endParaRPr lang="en-US" sz="1150" dirty="0"/>
          </a:p>
        </p:txBody>
      </p:sp>
      <p:sp>
        <p:nvSpPr>
          <p:cNvPr id="9" name="Text 7"/>
          <p:cNvSpPr/>
          <p:nvPr/>
        </p:nvSpPr>
        <p:spPr>
          <a:xfrm>
            <a:off x="2148840" y="2423160"/>
            <a:ext cx="3429000" cy="457200"/>
          </a:xfrm>
          <a:prstGeom prst="rect">
            <a:avLst/>
          </a:prstGeom>
          <a:noFill/>
          <a:ln/>
        </p:spPr>
        <p:txBody>
          <a:bodyPr wrap="square" lIns="0" tIns="0" rIns="0" bIns="0" rtlCol="0" anchor="ctr"/>
          <a:lstStyle/>
          <a:p>
            <a:pPr indent="0" marL="0">
              <a:buNone/>
            </a:pPr>
            <a:r>
              <a:rPr lang="en-US" sz="950" dirty="0">
                <a:solidFill>
                  <a:srgbClr val="5B6B79"/>
                </a:solidFill>
                <a:latin typeface="Courier New" pitchFamily="34" charset="0"/>
                <a:ea typeface="Courier New" pitchFamily="34" charset="-122"/>
                <a:cs typeface="Courier New" pitchFamily="34" charset="-120"/>
              </a:rPr>
              <a:t>lo = lo   → TRUE     num = bag   → FALSE</a:t>
            </a:r>
            <a:endParaRPr lang="en-US" sz="950" dirty="0"/>
          </a:p>
        </p:txBody>
      </p:sp>
      <p:sp>
        <p:nvSpPr>
          <p:cNvPr id="10" name="Shape 8"/>
          <p:cNvSpPr/>
          <p:nvPr/>
        </p:nvSpPr>
        <p:spPr>
          <a:xfrm>
            <a:off x="5943600" y="2057400"/>
            <a:ext cx="5257800" cy="914400"/>
          </a:xfrm>
          <a:prstGeom prst="roundRect">
            <a:avLst>
              <a:gd name="adj" fmla="val 7000"/>
            </a:avLst>
          </a:prstGeom>
          <a:solidFill>
            <a:srgbClr val="F2F6FA"/>
          </a:solidFill>
          <a:ln/>
        </p:spPr>
      </p:sp>
      <p:sp>
        <p:nvSpPr>
          <p:cNvPr id="11" name="Text 9"/>
          <p:cNvSpPr/>
          <p:nvPr/>
        </p:nvSpPr>
        <p:spPr>
          <a:xfrm>
            <a:off x="6126480" y="2148840"/>
            <a:ext cx="1463040" cy="457200"/>
          </a:xfrm>
          <a:prstGeom prst="rect">
            <a:avLst/>
          </a:prstGeom>
          <a:noFill/>
          <a:ln/>
        </p:spPr>
        <p:txBody>
          <a:bodyPr wrap="square" lIns="0" tIns="0" rIns="0" bIns="0" rtlCol="0" anchor="ctr"/>
          <a:lstStyle/>
          <a:p>
            <a:pPr indent="0" marL="0">
              <a:buNone/>
            </a:pPr>
            <a:r>
              <a:rPr lang="en-US" sz="2000" b="1" dirty="0">
                <a:solidFill>
                  <a:srgbClr val="1E56A0"/>
                </a:solidFill>
                <a:latin typeface="Courier New" pitchFamily="34" charset="0"/>
                <a:ea typeface="Courier New" pitchFamily="34" charset="-122"/>
                <a:cs typeface="Courier New" pitchFamily="34" charset="-120"/>
              </a:rPr>
              <a:t>&gt;</a:t>
            </a:r>
            <a:endParaRPr lang="en-US" sz="2000" dirty="0"/>
          </a:p>
        </p:txBody>
      </p:sp>
      <p:sp>
        <p:nvSpPr>
          <p:cNvPr id="12" name="Text 10"/>
          <p:cNvSpPr/>
          <p:nvPr/>
        </p:nvSpPr>
        <p:spPr>
          <a:xfrm>
            <a:off x="7543800" y="2130552"/>
            <a:ext cx="3429000" cy="274320"/>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Greater than</a:t>
            </a:r>
            <a:endParaRPr lang="en-US" sz="1150" dirty="0"/>
          </a:p>
        </p:txBody>
      </p:sp>
      <p:sp>
        <p:nvSpPr>
          <p:cNvPr id="13" name="Text 11"/>
          <p:cNvSpPr/>
          <p:nvPr/>
        </p:nvSpPr>
        <p:spPr>
          <a:xfrm>
            <a:off x="7543800" y="2423160"/>
            <a:ext cx="3429000" cy="457200"/>
          </a:xfrm>
          <a:prstGeom prst="rect">
            <a:avLst/>
          </a:prstGeom>
          <a:noFill/>
          <a:ln/>
        </p:spPr>
        <p:txBody>
          <a:bodyPr wrap="square" lIns="0" tIns="0" rIns="0" bIns="0" rtlCol="0" anchor="ctr"/>
          <a:lstStyle/>
          <a:p>
            <a:pPr indent="0" marL="0">
              <a:buNone/>
            </a:pPr>
            <a:r>
              <a:rPr lang="en-US" sz="950" dirty="0">
                <a:solidFill>
                  <a:srgbClr val="5B6B79"/>
                </a:solidFill>
                <a:latin typeface="Courier New" pitchFamily="34" charset="0"/>
                <a:ea typeface="Courier New" pitchFamily="34" charset="-122"/>
                <a:cs typeface="Courier New" pitchFamily="34" charset="-120"/>
              </a:rPr>
              <a:t>salary &gt; 60000</a:t>
            </a:r>
            <a:endParaRPr lang="en-US" sz="950" dirty="0"/>
          </a:p>
        </p:txBody>
      </p:sp>
      <p:sp>
        <p:nvSpPr>
          <p:cNvPr id="14" name="Shape 12"/>
          <p:cNvSpPr/>
          <p:nvPr/>
        </p:nvSpPr>
        <p:spPr>
          <a:xfrm>
            <a:off x="548640" y="3081528"/>
            <a:ext cx="5257800" cy="914400"/>
          </a:xfrm>
          <a:prstGeom prst="roundRect">
            <a:avLst>
              <a:gd name="adj" fmla="val 7000"/>
            </a:avLst>
          </a:prstGeom>
          <a:solidFill>
            <a:srgbClr val="F2F6FA"/>
          </a:solidFill>
          <a:ln/>
        </p:spPr>
      </p:sp>
      <p:sp>
        <p:nvSpPr>
          <p:cNvPr id="15" name="Text 13"/>
          <p:cNvSpPr/>
          <p:nvPr/>
        </p:nvSpPr>
        <p:spPr>
          <a:xfrm>
            <a:off x="731520" y="3172968"/>
            <a:ext cx="1463040" cy="457200"/>
          </a:xfrm>
          <a:prstGeom prst="rect">
            <a:avLst/>
          </a:prstGeom>
          <a:noFill/>
          <a:ln/>
        </p:spPr>
        <p:txBody>
          <a:bodyPr wrap="square" lIns="0" tIns="0" rIns="0" bIns="0" rtlCol="0" anchor="ctr"/>
          <a:lstStyle/>
          <a:p>
            <a:pPr indent="0" marL="0">
              <a:buNone/>
            </a:pPr>
            <a:r>
              <a:rPr lang="en-US" sz="2000" b="1" dirty="0">
                <a:solidFill>
                  <a:srgbClr val="1E56A0"/>
                </a:solidFill>
                <a:latin typeface="Courier New" pitchFamily="34" charset="0"/>
                <a:ea typeface="Courier New" pitchFamily="34" charset="-122"/>
                <a:cs typeface="Courier New" pitchFamily="34" charset="-120"/>
              </a:rPr>
              <a:t>&lt;</a:t>
            </a:r>
            <a:endParaRPr lang="en-US" sz="2000" dirty="0"/>
          </a:p>
        </p:txBody>
      </p:sp>
      <p:sp>
        <p:nvSpPr>
          <p:cNvPr id="16" name="Text 14"/>
          <p:cNvSpPr/>
          <p:nvPr/>
        </p:nvSpPr>
        <p:spPr>
          <a:xfrm>
            <a:off x="2148840" y="3154680"/>
            <a:ext cx="3429000" cy="274320"/>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Less than</a:t>
            </a:r>
            <a:endParaRPr lang="en-US" sz="1150" dirty="0"/>
          </a:p>
        </p:txBody>
      </p:sp>
      <p:sp>
        <p:nvSpPr>
          <p:cNvPr id="17" name="Text 15"/>
          <p:cNvSpPr/>
          <p:nvPr/>
        </p:nvSpPr>
        <p:spPr>
          <a:xfrm>
            <a:off x="2148840" y="3447288"/>
            <a:ext cx="3429000" cy="457200"/>
          </a:xfrm>
          <a:prstGeom prst="rect">
            <a:avLst/>
          </a:prstGeom>
          <a:noFill/>
          <a:ln/>
        </p:spPr>
        <p:txBody>
          <a:bodyPr wrap="square" lIns="0" tIns="0" rIns="0" bIns="0" rtlCol="0" anchor="ctr"/>
          <a:lstStyle/>
          <a:p>
            <a:pPr indent="0" marL="0">
              <a:buNone/>
            </a:pPr>
            <a:r>
              <a:rPr lang="en-US" sz="950" dirty="0">
                <a:solidFill>
                  <a:srgbClr val="5B6B79"/>
                </a:solidFill>
                <a:latin typeface="Courier New" pitchFamily="34" charset="0"/>
                <a:ea typeface="Courier New" pitchFamily="34" charset="-122"/>
                <a:cs typeface="Courier New" pitchFamily="34" charset="-120"/>
              </a:rPr>
              <a:t>hire_date &lt; '1990-01-01'</a:t>
            </a:r>
            <a:endParaRPr lang="en-US" sz="950" dirty="0"/>
          </a:p>
        </p:txBody>
      </p:sp>
      <p:sp>
        <p:nvSpPr>
          <p:cNvPr id="18" name="Shape 16"/>
          <p:cNvSpPr/>
          <p:nvPr/>
        </p:nvSpPr>
        <p:spPr>
          <a:xfrm>
            <a:off x="5943600" y="3081528"/>
            <a:ext cx="5257800" cy="914400"/>
          </a:xfrm>
          <a:prstGeom prst="roundRect">
            <a:avLst>
              <a:gd name="adj" fmla="val 7000"/>
            </a:avLst>
          </a:prstGeom>
          <a:solidFill>
            <a:srgbClr val="F2F6FA"/>
          </a:solidFill>
          <a:ln/>
        </p:spPr>
      </p:sp>
      <p:sp>
        <p:nvSpPr>
          <p:cNvPr id="19" name="Text 17"/>
          <p:cNvSpPr/>
          <p:nvPr/>
        </p:nvSpPr>
        <p:spPr>
          <a:xfrm>
            <a:off x="6126480" y="3172968"/>
            <a:ext cx="1463040" cy="457200"/>
          </a:xfrm>
          <a:prstGeom prst="rect">
            <a:avLst/>
          </a:prstGeom>
          <a:noFill/>
          <a:ln/>
        </p:spPr>
        <p:txBody>
          <a:bodyPr wrap="square" lIns="0" tIns="0" rIns="0" bIns="0" rtlCol="0" anchor="ctr"/>
          <a:lstStyle/>
          <a:p>
            <a:pPr indent="0" marL="0">
              <a:buNone/>
            </a:pPr>
            <a:r>
              <a:rPr lang="en-US" sz="2000" b="1" dirty="0">
                <a:solidFill>
                  <a:srgbClr val="1E56A0"/>
                </a:solidFill>
                <a:latin typeface="Courier New" pitchFamily="34" charset="0"/>
                <a:ea typeface="Courier New" pitchFamily="34" charset="-122"/>
                <a:cs typeface="Courier New" pitchFamily="34" charset="-120"/>
              </a:rPr>
              <a:t>&lt;&gt;</a:t>
            </a:r>
            <a:endParaRPr lang="en-US" sz="2000" dirty="0"/>
          </a:p>
        </p:txBody>
      </p:sp>
      <p:sp>
        <p:nvSpPr>
          <p:cNvPr id="20" name="Text 18"/>
          <p:cNvSpPr/>
          <p:nvPr/>
        </p:nvSpPr>
        <p:spPr>
          <a:xfrm>
            <a:off x="7543800" y="3154680"/>
            <a:ext cx="3429000" cy="274320"/>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Not equal to  (or != )</a:t>
            </a:r>
            <a:endParaRPr lang="en-US" sz="1150" dirty="0"/>
          </a:p>
        </p:txBody>
      </p:sp>
      <p:sp>
        <p:nvSpPr>
          <p:cNvPr id="21" name="Text 19"/>
          <p:cNvSpPr/>
          <p:nvPr/>
        </p:nvSpPr>
        <p:spPr>
          <a:xfrm>
            <a:off x="7543800" y="3447288"/>
            <a:ext cx="3429000" cy="457200"/>
          </a:xfrm>
          <a:prstGeom prst="rect">
            <a:avLst/>
          </a:prstGeom>
          <a:noFill/>
          <a:ln/>
        </p:spPr>
        <p:txBody>
          <a:bodyPr wrap="square" lIns="0" tIns="0" rIns="0" bIns="0" rtlCol="0" anchor="ctr"/>
          <a:lstStyle/>
          <a:p>
            <a:pPr indent="0" marL="0">
              <a:buNone/>
            </a:pPr>
            <a:r>
              <a:rPr lang="en-US" sz="950" dirty="0">
                <a:solidFill>
                  <a:srgbClr val="5B6B79"/>
                </a:solidFill>
                <a:latin typeface="Courier New" pitchFamily="34" charset="0"/>
                <a:ea typeface="Courier New" pitchFamily="34" charset="-122"/>
                <a:cs typeface="Courier New" pitchFamily="34" charset="-120"/>
              </a:rPr>
              <a:t>department &lt;&gt; 'Sales'</a:t>
            </a:r>
            <a:endParaRPr lang="en-US" sz="950" dirty="0"/>
          </a:p>
        </p:txBody>
      </p:sp>
      <p:sp>
        <p:nvSpPr>
          <p:cNvPr id="22" name="Shape 20"/>
          <p:cNvSpPr/>
          <p:nvPr/>
        </p:nvSpPr>
        <p:spPr>
          <a:xfrm>
            <a:off x="548640" y="4105656"/>
            <a:ext cx="5257800" cy="914400"/>
          </a:xfrm>
          <a:prstGeom prst="roundRect">
            <a:avLst>
              <a:gd name="adj" fmla="val 7000"/>
            </a:avLst>
          </a:prstGeom>
          <a:solidFill>
            <a:srgbClr val="F2F6FA"/>
          </a:solidFill>
          <a:ln/>
        </p:spPr>
      </p:sp>
      <p:sp>
        <p:nvSpPr>
          <p:cNvPr id="23" name="Text 21"/>
          <p:cNvSpPr/>
          <p:nvPr/>
        </p:nvSpPr>
        <p:spPr>
          <a:xfrm>
            <a:off x="731520" y="4197096"/>
            <a:ext cx="1463040" cy="457200"/>
          </a:xfrm>
          <a:prstGeom prst="rect">
            <a:avLst/>
          </a:prstGeom>
          <a:noFill/>
          <a:ln/>
        </p:spPr>
        <p:txBody>
          <a:bodyPr wrap="square" lIns="0" tIns="0" rIns="0" bIns="0" rtlCol="0" anchor="ctr"/>
          <a:lstStyle/>
          <a:p>
            <a:pPr indent="0" marL="0">
              <a:buNone/>
            </a:pPr>
            <a:r>
              <a:rPr lang="en-US" sz="2000" b="1" dirty="0">
                <a:solidFill>
                  <a:srgbClr val="1E56A0"/>
                </a:solidFill>
                <a:latin typeface="Courier New" pitchFamily="34" charset="0"/>
                <a:ea typeface="Courier New" pitchFamily="34" charset="-122"/>
                <a:cs typeface="Courier New" pitchFamily="34" charset="-120"/>
              </a:rPr>
              <a:t>&gt;=</a:t>
            </a:r>
            <a:endParaRPr lang="en-US" sz="2000" dirty="0"/>
          </a:p>
        </p:txBody>
      </p:sp>
      <p:sp>
        <p:nvSpPr>
          <p:cNvPr id="24" name="Text 22"/>
          <p:cNvSpPr/>
          <p:nvPr/>
        </p:nvSpPr>
        <p:spPr>
          <a:xfrm>
            <a:off x="2148840" y="4178808"/>
            <a:ext cx="3429000" cy="274320"/>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Greater than or equal to</a:t>
            </a:r>
            <a:endParaRPr lang="en-US" sz="1150" dirty="0"/>
          </a:p>
        </p:txBody>
      </p:sp>
      <p:sp>
        <p:nvSpPr>
          <p:cNvPr id="25" name="Text 23"/>
          <p:cNvSpPr/>
          <p:nvPr/>
        </p:nvSpPr>
        <p:spPr>
          <a:xfrm>
            <a:off x="2148840" y="4471416"/>
            <a:ext cx="3429000" cy="457200"/>
          </a:xfrm>
          <a:prstGeom prst="rect">
            <a:avLst/>
          </a:prstGeom>
          <a:noFill/>
          <a:ln/>
        </p:spPr>
        <p:txBody>
          <a:bodyPr wrap="square" lIns="0" tIns="0" rIns="0" bIns="0" rtlCol="0" anchor="ctr"/>
          <a:lstStyle/>
          <a:p>
            <a:pPr indent="0" marL="0">
              <a:buNone/>
            </a:pPr>
            <a:r>
              <a:rPr lang="en-US" sz="950" dirty="0">
                <a:solidFill>
                  <a:srgbClr val="5B6B79"/>
                </a:solidFill>
                <a:latin typeface="Courier New" pitchFamily="34" charset="0"/>
                <a:ea typeface="Courier New" pitchFamily="34" charset="-122"/>
                <a:cs typeface="Courier New" pitchFamily="34" charset="-120"/>
              </a:rPr>
              <a:t>salary &gt;= 60000</a:t>
            </a:r>
            <a:endParaRPr lang="en-US" sz="950" dirty="0"/>
          </a:p>
        </p:txBody>
      </p:sp>
      <p:sp>
        <p:nvSpPr>
          <p:cNvPr id="26" name="Shape 24"/>
          <p:cNvSpPr/>
          <p:nvPr/>
        </p:nvSpPr>
        <p:spPr>
          <a:xfrm>
            <a:off x="5943600" y="4105656"/>
            <a:ext cx="5257800" cy="914400"/>
          </a:xfrm>
          <a:prstGeom prst="roundRect">
            <a:avLst>
              <a:gd name="adj" fmla="val 7000"/>
            </a:avLst>
          </a:prstGeom>
          <a:solidFill>
            <a:srgbClr val="F2F6FA"/>
          </a:solidFill>
          <a:ln/>
        </p:spPr>
      </p:sp>
      <p:sp>
        <p:nvSpPr>
          <p:cNvPr id="27" name="Text 25"/>
          <p:cNvSpPr/>
          <p:nvPr/>
        </p:nvSpPr>
        <p:spPr>
          <a:xfrm>
            <a:off x="6126480" y="4197096"/>
            <a:ext cx="1463040" cy="457200"/>
          </a:xfrm>
          <a:prstGeom prst="rect">
            <a:avLst/>
          </a:prstGeom>
          <a:noFill/>
          <a:ln/>
        </p:spPr>
        <p:txBody>
          <a:bodyPr wrap="square" lIns="0" tIns="0" rIns="0" bIns="0" rtlCol="0" anchor="ctr"/>
          <a:lstStyle/>
          <a:p>
            <a:pPr indent="0" marL="0">
              <a:buNone/>
            </a:pPr>
            <a:r>
              <a:rPr lang="en-US" sz="2000" b="1" dirty="0">
                <a:solidFill>
                  <a:srgbClr val="1E56A0"/>
                </a:solidFill>
                <a:latin typeface="Courier New" pitchFamily="34" charset="0"/>
                <a:ea typeface="Courier New" pitchFamily="34" charset="-122"/>
                <a:cs typeface="Courier New" pitchFamily="34" charset="-120"/>
              </a:rPr>
              <a:t>&lt;=</a:t>
            </a:r>
            <a:endParaRPr lang="en-US" sz="2000" dirty="0"/>
          </a:p>
        </p:txBody>
      </p:sp>
      <p:sp>
        <p:nvSpPr>
          <p:cNvPr id="28" name="Text 26"/>
          <p:cNvSpPr/>
          <p:nvPr/>
        </p:nvSpPr>
        <p:spPr>
          <a:xfrm>
            <a:off x="7543800" y="4178808"/>
            <a:ext cx="3429000" cy="274320"/>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Less than or equal to</a:t>
            </a:r>
            <a:endParaRPr lang="en-US" sz="1150" dirty="0"/>
          </a:p>
        </p:txBody>
      </p:sp>
      <p:sp>
        <p:nvSpPr>
          <p:cNvPr id="29" name="Text 27"/>
          <p:cNvSpPr/>
          <p:nvPr/>
        </p:nvSpPr>
        <p:spPr>
          <a:xfrm>
            <a:off x="7543800" y="4471416"/>
            <a:ext cx="3429000" cy="457200"/>
          </a:xfrm>
          <a:prstGeom prst="rect">
            <a:avLst/>
          </a:prstGeom>
          <a:noFill/>
          <a:ln/>
        </p:spPr>
        <p:txBody>
          <a:bodyPr wrap="square" lIns="0" tIns="0" rIns="0" bIns="0" rtlCol="0" anchor="ctr"/>
          <a:lstStyle/>
          <a:p>
            <a:pPr indent="0" marL="0">
              <a:buNone/>
            </a:pPr>
            <a:r>
              <a:rPr lang="en-US" sz="950" dirty="0">
                <a:solidFill>
                  <a:srgbClr val="5B6B79"/>
                </a:solidFill>
                <a:latin typeface="Courier New" pitchFamily="34" charset="0"/>
                <a:ea typeface="Courier New" pitchFamily="34" charset="-122"/>
                <a:cs typeface="Courier New" pitchFamily="34" charset="-120"/>
              </a:rPr>
              <a:t>salary &lt;= 60000</a:t>
            </a:r>
            <a:endParaRPr lang="en-US" sz="950" dirty="0"/>
          </a:p>
        </p:txBody>
      </p:sp>
      <p:sp>
        <p:nvSpPr>
          <p:cNvPr id="30" name="Text 2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31" name="Text 2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4</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BETWEEN … AND</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Shorthand for matching against a range of values, instead of writing two separate comparisons</a:t>
            </a:r>
            <a:endParaRPr lang="en-US" sz="1350" dirty="0"/>
          </a:p>
        </p:txBody>
      </p:sp>
      <p:sp>
        <p:nvSpPr>
          <p:cNvPr id="6" name="Shape 4"/>
          <p:cNvSpPr/>
          <p:nvPr/>
        </p:nvSpPr>
        <p:spPr>
          <a:xfrm>
            <a:off x="548640" y="1965960"/>
            <a:ext cx="10652760" cy="822960"/>
          </a:xfrm>
          <a:prstGeom prst="roundRect">
            <a:avLst>
              <a:gd name="adj" fmla="val 8889"/>
            </a:avLst>
          </a:prstGeom>
          <a:solidFill>
            <a:srgbClr val="0E2A3D"/>
          </a:solidFill>
          <a:ln/>
        </p:spPr>
      </p:sp>
      <p:sp>
        <p:nvSpPr>
          <p:cNvPr id="7" name="Text 5"/>
          <p:cNvSpPr/>
          <p:nvPr/>
        </p:nvSpPr>
        <p:spPr>
          <a:xfrm>
            <a:off x="749808" y="2039112"/>
            <a:ext cx="10250424" cy="676656"/>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SELECT column1</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FROM table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WHERE column1 BETWEEN condition1 AND condition2;</a:t>
            </a:r>
            <a:endParaRPr lang="en-US" sz="1500" dirty="0"/>
          </a:p>
        </p:txBody>
      </p:sp>
      <p:sp>
        <p:nvSpPr>
          <p:cNvPr id="8" name="Shape 6"/>
          <p:cNvSpPr/>
          <p:nvPr/>
        </p:nvSpPr>
        <p:spPr>
          <a:xfrm>
            <a:off x="548640" y="2953512"/>
            <a:ext cx="10652760" cy="530352"/>
          </a:xfrm>
          <a:prstGeom prst="roundRect">
            <a:avLst>
              <a:gd name="adj" fmla="val 10345"/>
            </a:avLst>
          </a:prstGeom>
          <a:solidFill>
            <a:srgbClr val="F2F6FA"/>
          </a:solidFill>
          <a:ln/>
        </p:spPr>
      </p:sp>
      <p:sp>
        <p:nvSpPr>
          <p:cNvPr id="9" name="Text 7"/>
          <p:cNvSpPr/>
          <p:nvPr/>
        </p:nvSpPr>
        <p:spPr>
          <a:xfrm>
            <a:off x="777240" y="2953512"/>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BETWEEN a AND b</a:t>
            </a:r>
            <a:endParaRPr lang="en-US" sz="1250" dirty="0"/>
          </a:p>
        </p:txBody>
      </p:sp>
      <p:sp>
        <p:nvSpPr>
          <p:cNvPr id="10" name="Text 8"/>
          <p:cNvSpPr/>
          <p:nvPr/>
        </p:nvSpPr>
        <p:spPr>
          <a:xfrm>
            <a:off x="3291840" y="2953512"/>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Equivalent to column &gt;= a AND column &lt;= b — both ends are included</a:t>
            </a:r>
            <a:endParaRPr lang="en-US" sz="1200" dirty="0"/>
          </a:p>
        </p:txBody>
      </p:sp>
      <p:sp>
        <p:nvSpPr>
          <p:cNvPr id="11" name="Shape 9"/>
          <p:cNvSpPr/>
          <p:nvPr/>
        </p:nvSpPr>
        <p:spPr>
          <a:xfrm>
            <a:off x="548640" y="3639312"/>
            <a:ext cx="10652760" cy="868680"/>
          </a:xfrm>
          <a:prstGeom prst="roundRect">
            <a:avLst>
              <a:gd name="adj" fmla="val 6316"/>
            </a:avLst>
          </a:prstGeom>
          <a:solidFill>
            <a:srgbClr val="FFF4E8"/>
          </a:solidFill>
          <a:ln/>
        </p:spPr>
      </p:sp>
      <p:sp>
        <p:nvSpPr>
          <p:cNvPr id="12" name="Text 10"/>
          <p:cNvSpPr/>
          <p:nvPr/>
        </p:nvSpPr>
        <p:spPr>
          <a:xfrm>
            <a:off x="777240" y="3639312"/>
            <a:ext cx="10241280" cy="868680"/>
          </a:xfrm>
          <a:prstGeom prst="rect">
            <a:avLst/>
          </a:prstGeom>
          <a:noFill/>
          <a:ln/>
        </p:spPr>
        <p:txBody>
          <a:bodyPr wrap="square" lIns="0" tIns="0" rIns="0" bIns="0" rtlCol="0" anchor="ctr"/>
          <a:lstStyle/>
          <a:p>
            <a:pPr indent="0" marL="0">
              <a:buNone/>
            </a:pPr>
            <a:r>
              <a:rPr lang="en-US" sz="1150" dirty="0">
                <a:solidFill>
                  <a:srgbClr val="8A5A1E"/>
                </a:solidFill>
                <a:latin typeface="Calibri" pitchFamily="34" charset="0"/>
                <a:ea typeface="Calibri" pitchFamily="34" charset="-122"/>
                <a:cs typeface="Calibri" pitchFamily="34" charset="-120"/>
              </a:rPr>
              <a:t>Practice: return the full name and employee number of female employees hired between 1986-06-26 and 1989-09-12. Then try: return the top 10 employees by highest salary — that one needs ORDER BY and LIMIT, coming up in Part 6.</a:t>
            </a:r>
            <a:endParaRPr lang="en-US" sz="1150" dirty="0"/>
          </a:p>
        </p:txBody>
      </p:sp>
      <p:sp>
        <p:nvSpPr>
          <p:cNvPr id="13" name="Text 1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4" name="Text 1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4</a:t>
            </a:r>
            <a:endParaRPr lang="en-US" sz="1050" dirty="0"/>
          </a:p>
        </p:txBody>
      </p:sp>
      <p:sp>
        <p:nvSpPr>
          <p:cNvPr id="4" name="Text 2"/>
          <p:cNvSpPr/>
          <p:nvPr/>
        </p:nvSpPr>
        <p:spPr>
          <a:xfrm>
            <a:off x="548640" y="914400"/>
            <a:ext cx="10058400" cy="777240"/>
          </a:xfrm>
          <a:prstGeom prst="rect">
            <a:avLst/>
          </a:prstGeom>
          <a:noFill/>
          <a:ln/>
        </p:spPr>
        <p:txBody>
          <a:bodyPr wrap="square" lIns="0" tIns="0" rIns="0" bIns="0" rtlCol="0" anchor="t"/>
          <a:lstStyle/>
          <a:p>
            <a:pPr indent="0" marL="0">
              <a:buNone/>
            </a:pPr>
            <a:r>
              <a:rPr lang="en-US" sz="2500" b="1" dirty="0">
                <a:solidFill>
                  <a:srgbClr val="16202A"/>
                </a:solidFill>
                <a:latin typeface="Cambria" pitchFamily="34" charset="0"/>
                <a:ea typeface="Cambria" pitchFamily="34" charset="-122"/>
                <a:cs typeface="Cambria" pitchFamily="34" charset="-120"/>
              </a:rPr>
              <a:t>Operator Precedence: When AND Meets OR</a:t>
            </a:r>
            <a:endParaRPr lang="en-US" sz="25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Mixing AND and OR in one WHERE clause without parentheses can silently return the wrong rows</a:t>
            </a:r>
            <a:endParaRPr lang="en-US" sz="1250" dirty="0"/>
          </a:p>
        </p:txBody>
      </p:sp>
      <p:sp>
        <p:nvSpPr>
          <p:cNvPr id="6" name="Shape 4"/>
          <p:cNvSpPr/>
          <p:nvPr/>
        </p:nvSpPr>
        <p:spPr>
          <a:xfrm>
            <a:off x="548640" y="2011680"/>
            <a:ext cx="10652760" cy="1188720"/>
          </a:xfrm>
          <a:prstGeom prst="roundRect">
            <a:avLst>
              <a:gd name="adj" fmla="val 5385"/>
            </a:avLst>
          </a:prstGeom>
          <a:solidFill>
            <a:srgbClr val="FBEDE8"/>
          </a:solidFill>
          <a:ln/>
        </p:spPr>
      </p:sp>
      <p:sp>
        <p:nvSpPr>
          <p:cNvPr id="7" name="Text 5"/>
          <p:cNvSpPr/>
          <p:nvPr/>
        </p:nvSpPr>
        <p:spPr>
          <a:xfrm>
            <a:off x="777240" y="2139696"/>
            <a:ext cx="5486400" cy="274320"/>
          </a:xfrm>
          <a:prstGeom prst="rect">
            <a:avLst/>
          </a:prstGeom>
          <a:noFill/>
          <a:ln/>
        </p:spPr>
        <p:txBody>
          <a:bodyPr wrap="square" lIns="0" tIns="0" rIns="0" bIns="0" rtlCol="0" anchor="ctr"/>
          <a:lstStyle/>
          <a:p>
            <a:pPr indent="0" marL="0">
              <a:buNone/>
            </a:pPr>
            <a:r>
              <a:rPr lang="en-US" sz="1050" b="1" spc="150" kern="0" dirty="0">
                <a:solidFill>
                  <a:srgbClr val="8A3A2A"/>
                </a:solidFill>
                <a:latin typeface="Calibri" pitchFamily="34" charset="0"/>
                <a:ea typeface="Calibri" pitchFamily="34" charset="-122"/>
                <a:cs typeface="Calibri" pitchFamily="34" charset="-120"/>
              </a:rPr>
              <a:t>AMBIGUOUS — AVOID</a:t>
            </a:r>
            <a:endParaRPr lang="en-US" sz="1050" dirty="0"/>
          </a:p>
        </p:txBody>
      </p:sp>
      <p:sp>
        <p:nvSpPr>
          <p:cNvPr id="8" name="Shape 6"/>
          <p:cNvSpPr/>
          <p:nvPr/>
        </p:nvSpPr>
        <p:spPr>
          <a:xfrm>
            <a:off x="777240" y="2423160"/>
            <a:ext cx="10195560" cy="685800"/>
          </a:xfrm>
          <a:prstGeom prst="roundRect">
            <a:avLst>
              <a:gd name="adj" fmla="val 10667"/>
            </a:avLst>
          </a:prstGeom>
          <a:solidFill>
            <a:srgbClr val="0E2A3D"/>
          </a:solidFill>
          <a:ln/>
        </p:spPr>
      </p:sp>
      <p:sp>
        <p:nvSpPr>
          <p:cNvPr id="9" name="Text 7"/>
          <p:cNvSpPr/>
          <p:nvPr/>
        </p:nvSpPr>
        <p:spPr>
          <a:xfrm>
            <a:off x="978408" y="2496312"/>
            <a:ext cx="9793224" cy="539496"/>
          </a:xfrm>
          <a:prstGeom prst="rect">
            <a:avLst/>
          </a:prstGeom>
          <a:noFill/>
          <a:ln/>
        </p:spPr>
        <p:txBody>
          <a:bodyPr wrap="square" lIns="0" tIns="0" rIns="0" bIns="0" rtlCol="0" anchor="ctr"/>
          <a:lstStyle/>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WHERE department = 'Sales' AND salary &gt; 60000 OR salary &gt; 100000;</a:t>
            </a:r>
            <a:endParaRPr lang="en-US" sz="1200" dirty="0"/>
          </a:p>
        </p:txBody>
      </p:sp>
      <p:sp>
        <p:nvSpPr>
          <p:cNvPr id="10" name="Shape 8"/>
          <p:cNvSpPr/>
          <p:nvPr/>
        </p:nvSpPr>
        <p:spPr>
          <a:xfrm>
            <a:off x="548640" y="3337560"/>
            <a:ext cx="10652760" cy="1188720"/>
          </a:xfrm>
          <a:prstGeom prst="roundRect">
            <a:avLst>
              <a:gd name="adj" fmla="val 5385"/>
            </a:avLst>
          </a:prstGeom>
          <a:solidFill>
            <a:srgbClr val="E3F8F1"/>
          </a:solidFill>
          <a:ln/>
        </p:spPr>
      </p:sp>
      <p:sp>
        <p:nvSpPr>
          <p:cNvPr id="11" name="Text 9"/>
          <p:cNvSpPr/>
          <p:nvPr/>
        </p:nvSpPr>
        <p:spPr>
          <a:xfrm>
            <a:off x="777240" y="3465576"/>
            <a:ext cx="5486400" cy="274320"/>
          </a:xfrm>
          <a:prstGeom prst="rect">
            <a:avLst/>
          </a:prstGeom>
          <a:noFill/>
          <a:ln/>
        </p:spPr>
        <p:txBody>
          <a:bodyPr wrap="square" lIns="0" tIns="0" rIns="0" bIns="0" rtlCol="0" anchor="ctr"/>
          <a:lstStyle/>
          <a:p>
            <a:pPr indent="0" marL="0">
              <a:buNone/>
            </a:pPr>
            <a:r>
              <a:rPr lang="en-US" sz="1050" b="1" spc="150" kern="0" dirty="0">
                <a:solidFill>
                  <a:srgbClr val="106A56"/>
                </a:solidFill>
                <a:latin typeface="Calibri" pitchFamily="34" charset="0"/>
                <a:ea typeface="Calibri" pitchFamily="34" charset="-122"/>
                <a:cs typeface="Calibri" pitchFamily="34" charset="-120"/>
              </a:rPr>
              <a:t>CLEAR — USE PARENTHESES</a:t>
            </a:r>
            <a:endParaRPr lang="en-US" sz="1050" dirty="0"/>
          </a:p>
        </p:txBody>
      </p:sp>
      <p:sp>
        <p:nvSpPr>
          <p:cNvPr id="12" name="Shape 10"/>
          <p:cNvSpPr/>
          <p:nvPr/>
        </p:nvSpPr>
        <p:spPr>
          <a:xfrm>
            <a:off x="777240" y="3749040"/>
            <a:ext cx="10195560" cy="685800"/>
          </a:xfrm>
          <a:prstGeom prst="roundRect">
            <a:avLst>
              <a:gd name="adj" fmla="val 10667"/>
            </a:avLst>
          </a:prstGeom>
          <a:solidFill>
            <a:srgbClr val="0E2A3D"/>
          </a:solidFill>
          <a:ln/>
        </p:spPr>
      </p:sp>
      <p:sp>
        <p:nvSpPr>
          <p:cNvPr id="13" name="Text 11"/>
          <p:cNvSpPr/>
          <p:nvPr/>
        </p:nvSpPr>
        <p:spPr>
          <a:xfrm>
            <a:off x="978408" y="3822192"/>
            <a:ext cx="9793224" cy="539496"/>
          </a:xfrm>
          <a:prstGeom prst="rect">
            <a:avLst/>
          </a:prstGeom>
          <a:noFill/>
          <a:ln/>
        </p:spPr>
        <p:txBody>
          <a:bodyPr wrap="square" lIns="0" tIns="0" rIns="0" bIns="0" rtlCol="0" anchor="ctr"/>
          <a:lstStyle/>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WHERE (department = 'Sales' AND salary &gt; 60000) OR salary &gt; 100000;</a:t>
            </a:r>
            <a:endParaRPr lang="en-US" sz="1200" dirty="0"/>
          </a:p>
        </p:txBody>
      </p:sp>
      <p:sp>
        <p:nvSpPr>
          <p:cNvPr id="14" name="Shape 12"/>
          <p:cNvSpPr/>
          <p:nvPr/>
        </p:nvSpPr>
        <p:spPr>
          <a:xfrm>
            <a:off x="548640" y="4709160"/>
            <a:ext cx="10652760" cy="777240"/>
          </a:xfrm>
          <a:prstGeom prst="roundRect">
            <a:avLst>
              <a:gd name="adj" fmla="val 8235"/>
            </a:avLst>
          </a:prstGeom>
          <a:solidFill>
            <a:srgbClr val="FFF4E8"/>
          </a:solidFill>
          <a:ln/>
        </p:spPr>
      </p:sp>
      <p:sp>
        <p:nvSpPr>
          <p:cNvPr id="15" name="Text 13"/>
          <p:cNvSpPr/>
          <p:nvPr/>
        </p:nvSpPr>
        <p:spPr>
          <a:xfrm>
            <a:off x="777240" y="4709160"/>
            <a:ext cx="10241280" cy="777240"/>
          </a:xfrm>
          <a:prstGeom prst="rect">
            <a:avLst/>
          </a:prstGeom>
          <a:noFill/>
          <a:ln/>
        </p:spPr>
        <p:txBody>
          <a:bodyPr wrap="square" lIns="0" tIns="0" rIns="0" bIns="0" rtlCol="0" anchor="ctr"/>
          <a:lstStyle/>
          <a:p>
            <a:pPr indent="0" marL="0">
              <a:buNone/>
            </a:pPr>
            <a:r>
              <a:rPr lang="en-US" sz="1150" b="1" dirty="0">
                <a:solidFill>
                  <a:srgbClr val="8A5A1E"/>
                </a:solidFill>
                <a:latin typeface="Calibri" pitchFamily="34" charset="0"/>
                <a:ea typeface="Calibri" pitchFamily="34" charset="-122"/>
                <a:cs typeface="Calibri" pitchFamily="34" charset="-120"/>
              </a:rPr>
              <a:t>The rule:  </a:t>
            </a:r>
            <a:pPr indent="0" marL="0">
              <a:buNone/>
            </a:pPr>
            <a:r>
              <a:rPr lang="en-US" sz="1150" dirty="0">
                <a:solidFill>
                  <a:srgbClr val="8A5A1E"/>
                </a:solidFill>
                <a:latin typeface="Calibri" pitchFamily="34" charset="0"/>
                <a:ea typeface="Calibri" pitchFamily="34" charset="-122"/>
                <a:cs typeface="Calibri" pitchFamily="34" charset="-120"/>
              </a:rPr>
              <a:t>SQL evaluates AND before OR by default, just like multiplication before addition in math — but relying on that default is risky. Parentheses make your intent explicit and remove all doubt, for you and for anyone reading your query later.</a:t>
            </a:r>
            <a:endParaRPr lang="en-US" sz="115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C2C"/>
        </a:solidFill>
      </p:bgPr>
    </p:bg>
    <p:spTree>
      <p:nvGrpSpPr>
        <p:cNvPr id="1" name=""/>
        <p:cNvGrpSpPr/>
        <p:nvPr/>
      </p:nvGrpSpPr>
      <p:grpSpPr>
        <a:xfrm>
          <a:off x="0" y="0"/>
          <a:ext cx="0" cy="0"/>
          <a:chOff x="0" y="0"/>
          <a:chExt cx="0" cy="0"/>
        </a:xfrm>
      </p:grpSpPr>
      <p:sp>
        <p:nvSpPr>
          <p:cNvPr id="2" name="Shape 0"/>
          <p:cNvSpPr/>
          <p:nvPr/>
        </p:nvSpPr>
        <p:spPr>
          <a:xfrm>
            <a:off x="9692640" y="731520"/>
            <a:ext cx="146304" cy="146304"/>
          </a:xfrm>
          <a:prstGeom prst="ellipse">
            <a:avLst/>
          </a:prstGeom>
          <a:solidFill>
            <a:srgbClr val="0FA3B1"/>
          </a:solidFill>
          <a:ln/>
        </p:spPr>
      </p:sp>
      <p:sp>
        <p:nvSpPr>
          <p:cNvPr id="3" name="Shape 1"/>
          <p:cNvSpPr/>
          <p:nvPr/>
        </p:nvSpPr>
        <p:spPr>
          <a:xfrm>
            <a:off x="10424160" y="1188720"/>
            <a:ext cx="146304" cy="146304"/>
          </a:xfrm>
          <a:prstGeom prst="ellipse">
            <a:avLst/>
          </a:prstGeom>
          <a:solidFill>
            <a:srgbClr val="0FA3B1"/>
          </a:solidFill>
          <a:ln/>
        </p:spPr>
      </p:sp>
      <p:sp>
        <p:nvSpPr>
          <p:cNvPr id="4" name="Shape 2"/>
          <p:cNvSpPr/>
          <p:nvPr/>
        </p:nvSpPr>
        <p:spPr>
          <a:xfrm>
            <a:off x="9326880" y="1645920"/>
            <a:ext cx="146304" cy="146304"/>
          </a:xfrm>
          <a:prstGeom prst="ellipse">
            <a:avLst/>
          </a:prstGeom>
          <a:solidFill>
            <a:srgbClr val="0FA3B1"/>
          </a:solidFill>
          <a:ln/>
        </p:spPr>
      </p:sp>
      <p:sp>
        <p:nvSpPr>
          <p:cNvPr id="5" name="Shape 3"/>
          <p:cNvSpPr/>
          <p:nvPr/>
        </p:nvSpPr>
        <p:spPr>
          <a:xfrm>
            <a:off x="11064240" y="822960"/>
            <a:ext cx="146304" cy="146304"/>
          </a:xfrm>
          <a:prstGeom prst="ellipse">
            <a:avLst/>
          </a:prstGeom>
          <a:solidFill>
            <a:srgbClr val="0FA3B1"/>
          </a:solidFill>
          <a:ln/>
        </p:spPr>
      </p:sp>
      <p:sp>
        <p:nvSpPr>
          <p:cNvPr id="6" name="Shape 4"/>
          <p:cNvSpPr/>
          <p:nvPr/>
        </p:nvSpPr>
        <p:spPr>
          <a:xfrm>
            <a:off x="10881360" y="2011680"/>
            <a:ext cx="146304" cy="146304"/>
          </a:xfrm>
          <a:prstGeom prst="ellipse">
            <a:avLst/>
          </a:prstGeom>
          <a:solidFill>
            <a:srgbClr val="0FA3B1"/>
          </a:solidFill>
          <a:ln/>
        </p:spPr>
      </p:sp>
      <p:sp>
        <p:nvSpPr>
          <p:cNvPr id="7" name="Shape 5"/>
          <p:cNvSpPr/>
          <p:nvPr/>
        </p:nvSpPr>
        <p:spPr>
          <a:xfrm>
            <a:off x="9875520" y="2377440"/>
            <a:ext cx="146304" cy="146304"/>
          </a:xfrm>
          <a:prstGeom prst="ellipse">
            <a:avLst/>
          </a:prstGeom>
          <a:solidFill>
            <a:srgbClr val="0FA3B1"/>
          </a:solidFill>
          <a:ln/>
        </p:spPr>
      </p:sp>
      <p:sp>
        <p:nvSpPr>
          <p:cNvPr id="8" name="Text 6"/>
          <p:cNvSpPr/>
          <p:nvPr/>
        </p:nvSpPr>
        <p:spPr>
          <a:xfrm>
            <a:off x="822960" y="2651760"/>
            <a:ext cx="7315200" cy="457200"/>
          </a:xfrm>
          <a:prstGeom prst="rect">
            <a:avLst/>
          </a:prstGeom>
          <a:noFill/>
          <a:ln/>
        </p:spPr>
        <p:txBody>
          <a:bodyPr wrap="square" lIns="0" tIns="0" rIns="0" bIns="0" rtlCol="0" anchor="ctr"/>
          <a:lstStyle/>
          <a:p>
            <a:pPr indent="0" marL="0">
              <a:buNone/>
            </a:pPr>
            <a:r>
              <a:rPr lang="en-US" sz="1400" b="1" spc="300" kern="0" dirty="0">
                <a:solidFill>
                  <a:srgbClr val="2FBF8F"/>
                </a:solidFill>
                <a:latin typeface="Calibri" pitchFamily="34" charset="0"/>
                <a:ea typeface="Calibri" pitchFamily="34" charset="-122"/>
                <a:cs typeface="Calibri" pitchFamily="34" charset="-120"/>
              </a:rPr>
              <a:t>PART 5</a:t>
            </a:r>
            <a:endParaRPr lang="en-US" sz="1400" dirty="0"/>
          </a:p>
        </p:txBody>
      </p:sp>
      <p:sp>
        <p:nvSpPr>
          <p:cNvPr id="9" name="Text 7"/>
          <p:cNvSpPr/>
          <p:nvPr/>
        </p:nvSpPr>
        <p:spPr>
          <a:xfrm>
            <a:off x="822960" y="3063240"/>
            <a:ext cx="10058400" cy="10972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Dates, Time &amp; Missing Data</a:t>
            </a:r>
            <a:endParaRPr lang="en-US" sz="3800" dirty="0"/>
          </a:p>
        </p:txBody>
      </p:sp>
      <p:sp>
        <p:nvSpPr>
          <p:cNvPr id="10" name="Shape 8"/>
          <p:cNvSpPr/>
          <p:nvPr/>
        </p:nvSpPr>
        <p:spPr>
          <a:xfrm>
            <a:off x="822960" y="3977640"/>
            <a:ext cx="2011680" cy="0"/>
          </a:xfrm>
          <a:prstGeom prst="line">
            <a:avLst/>
          </a:prstGeom>
          <a:noFill/>
          <a:ln w="25400">
            <a:solidFill>
              <a:srgbClr val="0FA3B1"/>
            </a:solidFill>
            <a:prstDash val="solid"/>
          </a:ln>
        </p:spPr>
      </p:sp>
      <p:sp>
        <p:nvSpPr>
          <p:cNvPr id="11" name="Text 9"/>
          <p:cNvSpPr/>
          <p:nvPr/>
        </p:nvSpPr>
        <p:spPr>
          <a:xfrm>
            <a:off x="822960" y="4160520"/>
            <a:ext cx="9144000" cy="548640"/>
          </a:xfrm>
          <a:prstGeom prst="rect">
            <a:avLst/>
          </a:prstGeom>
          <a:noFill/>
          <a:ln/>
        </p:spPr>
        <p:txBody>
          <a:bodyPr wrap="square" lIns="0" tIns="0" rIns="0" bIns="0" rtlCol="0" anchor="ctr"/>
          <a:lstStyle/>
          <a:p>
            <a:pPr indent="0" marL="0">
              <a:buNone/>
            </a:pPr>
            <a:r>
              <a:rPr lang="en-US" sz="1500" i="1" dirty="0">
                <a:solidFill>
                  <a:srgbClr val="BFD6E8"/>
                </a:solidFill>
                <a:latin typeface="Calibri" pitchFamily="34" charset="0"/>
                <a:ea typeface="Calibri" pitchFamily="34" charset="-122"/>
                <a:cs typeface="Calibri" pitchFamily="34" charset="-120"/>
              </a:rPr>
              <a:t>Date functions, age calculations, NULL, and COALESCE</a:t>
            </a:r>
            <a:endParaRPr lang="en-US" sz="15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3"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5</a:t>
            </a:r>
            <a:endParaRPr lang="en-US" sz="1050" dirty="0"/>
          </a:p>
        </p:txBody>
      </p:sp>
      <p:sp>
        <p:nvSpPr>
          <p:cNvPr id="4" name="Text 2"/>
          <p:cNvSpPr/>
          <p:nvPr/>
        </p:nvSpPr>
        <p:spPr>
          <a:xfrm>
            <a:off x="548640" y="914400"/>
            <a:ext cx="82296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Working With Dates</a:t>
            </a:r>
            <a:endParaRPr lang="en-US" sz="2900" dirty="0"/>
          </a:p>
        </p:txBody>
      </p:sp>
      <p:sp>
        <p:nvSpPr>
          <p:cNvPr id="5" name="Text 3"/>
          <p:cNvSpPr/>
          <p:nvPr/>
        </p:nvSpPr>
        <p:spPr>
          <a:xfrm>
            <a:off x="548640" y="1508760"/>
            <a:ext cx="1005840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MySQL follows the ISO-8601 standard for representing dates and times</a:t>
            </a:r>
            <a:endParaRPr lang="en-US" sz="1300" dirty="0"/>
          </a:p>
        </p:txBody>
      </p:sp>
      <p:sp>
        <p:nvSpPr>
          <p:cNvPr id="6" name="Shape 4"/>
          <p:cNvSpPr/>
          <p:nvPr/>
        </p:nvSpPr>
        <p:spPr>
          <a:xfrm>
            <a:off x="548640" y="2103120"/>
            <a:ext cx="10652760" cy="658368"/>
          </a:xfrm>
          <a:prstGeom prst="roundRect">
            <a:avLst>
              <a:gd name="adj" fmla="val 9722"/>
            </a:avLst>
          </a:prstGeom>
          <a:solidFill>
            <a:srgbClr val="F2F6FA"/>
          </a:solidFill>
          <a:ln/>
        </p:spPr>
      </p:sp>
      <p:sp>
        <p:nvSpPr>
          <p:cNvPr id="7" name="Text 5"/>
          <p:cNvSpPr/>
          <p:nvPr/>
        </p:nvSpPr>
        <p:spPr>
          <a:xfrm>
            <a:off x="777240" y="2103120"/>
            <a:ext cx="3657600" cy="658368"/>
          </a:xfrm>
          <a:prstGeom prst="rect">
            <a:avLst/>
          </a:prstGeom>
          <a:noFill/>
          <a:ln/>
        </p:spPr>
        <p:txBody>
          <a:bodyPr wrap="square" lIns="0" tIns="0" rIns="0" bIns="0" rtlCol="0" anchor="ctr"/>
          <a:lstStyle/>
          <a:p>
            <a:pPr indent="0" marL="0">
              <a:buNone/>
            </a:pPr>
            <a:r>
              <a:rPr lang="en-US" sz="1300" b="1" dirty="0">
                <a:solidFill>
                  <a:srgbClr val="1E56A0"/>
                </a:solidFill>
                <a:latin typeface="Courier New" pitchFamily="34" charset="0"/>
                <a:ea typeface="Courier New" pitchFamily="34" charset="-122"/>
                <a:cs typeface="Courier New" pitchFamily="34" charset="-120"/>
              </a:rPr>
              <a:t>'yyyy-mm-dd'</a:t>
            </a:r>
            <a:endParaRPr lang="en-US" sz="1300" dirty="0"/>
          </a:p>
        </p:txBody>
      </p:sp>
      <p:sp>
        <p:nvSpPr>
          <p:cNvPr id="8" name="Text 6"/>
          <p:cNvSpPr/>
          <p:nvPr/>
        </p:nvSpPr>
        <p:spPr>
          <a:xfrm>
            <a:off x="4480560" y="2103120"/>
            <a:ext cx="1828800" cy="658368"/>
          </a:xfrm>
          <a:prstGeom prst="rect">
            <a:avLst/>
          </a:prstGeom>
          <a:noFill/>
          <a:ln/>
        </p:spPr>
        <p:txBody>
          <a:bodyPr wrap="square" lIns="0" tIns="0" rIns="0" bIns="0" rtlCol="0" anchor="ctr"/>
          <a:lstStyle/>
          <a:p>
            <a:pPr indent="0" marL="0">
              <a:buNone/>
            </a:pPr>
            <a:r>
              <a:rPr lang="en-US" sz="1150" b="1" dirty="0">
                <a:solidFill>
                  <a:srgbClr val="0FA3B1"/>
                </a:solidFill>
                <a:latin typeface="Calibri" pitchFamily="34" charset="0"/>
                <a:ea typeface="Calibri" pitchFamily="34" charset="-122"/>
                <a:cs typeface="Calibri" pitchFamily="34" charset="-120"/>
              </a:rPr>
              <a:t>date</a:t>
            </a:r>
            <a:endParaRPr lang="en-US" sz="1150" dirty="0"/>
          </a:p>
        </p:txBody>
      </p:sp>
      <p:sp>
        <p:nvSpPr>
          <p:cNvPr id="9" name="Text 7"/>
          <p:cNvSpPr/>
          <p:nvPr/>
        </p:nvSpPr>
        <p:spPr>
          <a:xfrm>
            <a:off x="6400800" y="2103120"/>
            <a:ext cx="4572000" cy="658368"/>
          </a:xfrm>
          <a:prstGeom prst="rect">
            <a:avLst/>
          </a:prstGeom>
          <a:noFill/>
          <a:ln/>
        </p:spPr>
        <p:txBody>
          <a:bodyPr wrap="square" lIns="0" tIns="0" rIns="0" bIns="0" rtlCol="0" anchor="ctr"/>
          <a:lstStyle/>
          <a:p>
            <a:pPr indent="0" marL="0">
              <a:buNone/>
            </a:pPr>
            <a:r>
              <a:rPr lang="en-US" sz="1100" dirty="0">
                <a:solidFill>
                  <a:srgbClr val="5B6B79"/>
                </a:solidFill>
                <a:latin typeface="Courier New" pitchFamily="34" charset="0"/>
                <a:ea typeface="Courier New" pitchFamily="34" charset="-122"/>
                <a:cs typeface="Courier New" pitchFamily="34" charset="-120"/>
              </a:rPr>
              <a:t>'1986-06-26'</a:t>
            </a:r>
            <a:endParaRPr lang="en-US" sz="1100" dirty="0"/>
          </a:p>
        </p:txBody>
      </p:sp>
      <p:sp>
        <p:nvSpPr>
          <p:cNvPr id="10" name="Shape 8"/>
          <p:cNvSpPr/>
          <p:nvPr/>
        </p:nvSpPr>
        <p:spPr>
          <a:xfrm>
            <a:off x="548640" y="2852928"/>
            <a:ext cx="10652760" cy="658368"/>
          </a:xfrm>
          <a:prstGeom prst="roundRect">
            <a:avLst>
              <a:gd name="adj" fmla="val 9722"/>
            </a:avLst>
          </a:prstGeom>
          <a:solidFill>
            <a:srgbClr val="F2F6FA"/>
          </a:solidFill>
          <a:ln/>
        </p:spPr>
      </p:sp>
      <p:sp>
        <p:nvSpPr>
          <p:cNvPr id="11" name="Text 9"/>
          <p:cNvSpPr/>
          <p:nvPr/>
        </p:nvSpPr>
        <p:spPr>
          <a:xfrm>
            <a:off x="777240" y="2852928"/>
            <a:ext cx="3657600" cy="658368"/>
          </a:xfrm>
          <a:prstGeom prst="rect">
            <a:avLst/>
          </a:prstGeom>
          <a:noFill/>
          <a:ln/>
        </p:spPr>
        <p:txBody>
          <a:bodyPr wrap="square" lIns="0" tIns="0" rIns="0" bIns="0" rtlCol="0" anchor="ctr"/>
          <a:lstStyle/>
          <a:p>
            <a:pPr indent="0" marL="0">
              <a:buNone/>
            </a:pPr>
            <a:r>
              <a:rPr lang="en-US" sz="1300" b="1" dirty="0">
                <a:solidFill>
                  <a:srgbClr val="1E56A0"/>
                </a:solidFill>
                <a:latin typeface="Courier New" pitchFamily="34" charset="0"/>
                <a:ea typeface="Courier New" pitchFamily="34" charset="-122"/>
                <a:cs typeface="Courier New" pitchFamily="34" charset="-120"/>
              </a:rPr>
              <a:t>'yyyy-mm-dd hh:mm:ss'</a:t>
            </a:r>
            <a:endParaRPr lang="en-US" sz="1300" dirty="0"/>
          </a:p>
        </p:txBody>
      </p:sp>
      <p:sp>
        <p:nvSpPr>
          <p:cNvPr id="12" name="Text 10"/>
          <p:cNvSpPr/>
          <p:nvPr/>
        </p:nvSpPr>
        <p:spPr>
          <a:xfrm>
            <a:off x="4480560" y="2852928"/>
            <a:ext cx="1828800" cy="658368"/>
          </a:xfrm>
          <a:prstGeom prst="rect">
            <a:avLst/>
          </a:prstGeom>
          <a:noFill/>
          <a:ln/>
        </p:spPr>
        <p:txBody>
          <a:bodyPr wrap="square" lIns="0" tIns="0" rIns="0" bIns="0" rtlCol="0" anchor="ctr"/>
          <a:lstStyle/>
          <a:p>
            <a:pPr indent="0" marL="0">
              <a:buNone/>
            </a:pPr>
            <a:r>
              <a:rPr lang="en-US" sz="1150" b="1" dirty="0">
                <a:solidFill>
                  <a:srgbClr val="0FA3B1"/>
                </a:solidFill>
                <a:latin typeface="Calibri" pitchFamily="34" charset="0"/>
                <a:ea typeface="Calibri" pitchFamily="34" charset="-122"/>
                <a:cs typeface="Calibri" pitchFamily="34" charset="-120"/>
              </a:rPr>
              <a:t>timestamp</a:t>
            </a:r>
            <a:endParaRPr lang="en-US" sz="1150" dirty="0"/>
          </a:p>
        </p:txBody>
      </p:sp>
      <p:sp>
        <p:nvSpPr>
          <p:cNvPr id="13" name="Text 11"/>
          <p:cNvSpPr/>
          <p:nvPr/>
        </p:nvSpPr>
        <p:spPr>
          <a:xfrm>
            <a:off x="6400800" y="2852928"/>
            <a:ext cx="4572000" cy="658368"/>
          </a:xfrm>
          <a:prstGeom prst="rect">
            <a:avLst/>
          </a:prstGeom>
          <a:noFill/>
          <a:ln/>
        </p:spPr>
        <p:txBody>
          <a:bodyPr wrap="square" lIns="0" tIns="0" rIns="0" bIns="0" rtlCol="0" anchor="ctr"/>
          <a:lstStyle/>
          <a:p>
            <a:pPr indent="0" marL="0">
              <a:buNone/>
            </a:pPr>
            <a:r>
              <a:rPr lang="en-US" sz="1100" dirty="0">
                <a:solidFill>
                  <a:srgbClr val="5B6B79"/>
                </a:solidFill>
                <a:latin typeface="Courier New" pitchFamily="34" charset="0"/>
                <a:ea typeface="Courier New" pitchFamily="34" charset="-122"/>
                <a:cs typeface="Courier New" pitchFamily="34" charset="-120"/>
              </a:rPr>
              <a:t>'1986-06-26 14:30:00'</a:t>
            </a:r>
            <a:endParaRPr lang="en-US" sz="1100" dirty="0"/>
          </a:p>
        </p:txBody>
      </p:sp>
      <p:sp>
        <p:nvSpPr>
          <p:cNvPr id="14" name="Shape 12"/>
          <p:cNvSpPr/>
          <p:nvPr/>
        </p:nvSpPr>
        <p:spPr>
          <a:xfrm>
            <a:off x="548640" y="3602736"/>
            <a:ext cx="10652760" cy="658368"/>
          </a:xfrm>
          <a:prstGeom prst="roundRect">
            <a:avLst>
              <a:gd name="adj" fmla="val 9722"/>
            </a:avLst>
          </a:prstGeom>
          <a:solidFill>
            <a:srgbClr val="F2F6FA"/>
          </a:solidFill>
          <a:ln/>
        </p:spPr>
      </p:sp>
      <p:sp>
        <p:nvSpPr>
          <p:cNvPr id="15" name="Text 13"/>
          <p:cNvSpPr/>
          <p:nvPr/>
        </p:nvSpPr>
        <p:spPr>
          <a:xfrm>
            <a:off x="777240" y="3602736"/>
            <a:ext cx="3657600" cy="658368"/>
          </a:xfrm>
          <a:prstGeom prst="rect">
            <a:avLst/>
          </a:prstGeom>
          <a:noFill/>
          <a:ln/>
        </p:spPr>
        <p:txBody>
          <a:bodyPr wrap="square" lIns="0" tIns="0" rIns="0" bIns="0" rtlCol="0" anchor="ctr"/>
          <a:lstStyle/>
          <a:p>
            <a:pPr indent="0" marL="0">
              <a:buNone/>
            </a:pPr>
            <a:r>
              <a:rPr lang="en-US" sz="1300" b="1" dirty="0">
                <a:solidFill>
                  <a:srgbClr val="1E56A0"/>
                </a:solidFill>
                <a:latin typeface="Courier New" pitchFamily="34" charset="0"/>
                <a:ea typeface="Courier New" pitchFamily="34" charset="-122"/>
                <a:cs typeface="Courier New" pitchFamily="34" charset="-120"/>
              </a:rPr>
              <a:t>'hh:mm:ss'</a:t>
            </a:r>
            <a:endParaRPr lang="en-US" sz="1300" dirty="0"/>
          </a:p>
        </p:txBody>
      </p:sp>
      <p:sp>
        <p:nvSpPr>
          <p:cNvPr id="16" name="Text 14"/>
          <p:cNvSpPr/>
          <p:nvPr/>
        </p:nvSpPr>
        <p:spPr>
          <a:xfrm>
            <a:off x="4480560" y="3602736"/>
            <a:ext cx="1828800" cy="658368"/>
          </a:xfrm>
          <a:prstGeom prst="rect">
            <a:avLst/>
          </a:prstGeom>
          <a:noFill/>
          <a:ln/>
        </p:spPr>
        <p:txBody>
          <a:bodyPr wrap="square" lIns="0" tIns="0" rIns="0" bIns="0" rtlCol="0" anchor="ctr"/>
          <a:lstStyle/>
          <a:p>
            <a:pPr indent="0" marL="0">
              <a:buNone/>
            </a:pPr>
            <a:r>
              <a:rPr lang="en-US" sz="1150" b="1" dirty="0">
                <a:solidFill>
                  <a:srgbClr val="0FA3B1"/>
                </a:solidFill>
                <a:latin typeface="Calibri" pitchFamily="34" charset="0"/>
                <a:ea typeface="Calibri" pitchFamily="34" charset="-122"/>
                <a:cs typeface="Calibri" pitchFamily="34" charset="-120"/>
              </a:rPr>
              <a:t>time</a:t>
            </a:r>
            <a:endParaRPr lang="en-US" sz="1150" dirty="0"/>
          </a:p>
        </p:txBody>
      </p:sp>
      <p:sp>
        <p:nvSpPr>
          <p:cNvPr id="17" name="Text 15"/>
          <p:cNvSpPr/>
          <p:nvPr/>
        </p:nvSpPr>
        <p:spPr>
          <a:xfrm>
            <a:off x="6400800" y="3602736"/>
            <a:ext cx="4572000" cy="658368"/>
          </a:xfrm>
          <a:prstGeom prst="rect">
            <a:avLst/>
          </a:prstGeom>
          <a:noFill/>
          <a:ln/>
        </p:spPr>
        <p:txBody>
          <a:bodyPr wrap="square" lIns="0" tIns="0" rIns="0" bIns="0" rtlCol="0" anchor="ctr"/>
          <a:lstStyle/>
          <a:p>
            <a:pPr indent="0" marL="0">
              <a:buNone/>
            </a:pPr>
            <a:r>
              <a:rPr lang="en-US" sz="1100" dirty="0">
                <a:solidFill>
                  <a:srgbClr val="5B6B79"/>
                </a:solidFill>
                <a:latin typeface="Courier New" pitchFamily="34" charset="0"/>
                <a:ea typeface="Courier New" pitchFamily="34" charset="-122"/>
                <a:cs typeface="Courier New" pitchFamily="34" charset="-120"/>
              </a:rPr>
              <a:t>'14:30:00'</a:t>
            </a:r>
            <a:endParaRPr lang="en-US" sz="1100" dirty="0"/>
          </a:p>
        </p:txBody>
      </p:sp>
      <p:sp>
        <p:nvSpPr>
          <p:cNvPr id="18" name="Text 16"/>
          <p:cNvSpPr/>
          <p:nvPr/>
        </p:nvSpPr>
        <p:spPr>
          <a:xfrm>
            <a:off x="548640" y="4443984"/>
            <a:ext cx="4572000" cy="274320"/>
          </a:xfrm>
          <a:prstGeom prst="rect">
            <a:avLst/>
          </a:prstGeom>
          <a:noFill/>
          <a:ln/>
        </p:spPr>
        <p:txBody>
          <a:bodyPr wrap="square" lIns="0" tIns="0" rIns="0" bIns="0" rtlCol="0" anchor="ctr"/>
          <a:lstStyle/>
          <a:p>
            <a:pPr indent="0" marL="0">
              <a:buNone/>
            </a:pPr>
            <a:r>
              <a:rPr lang="en-US" sz="1100" b="1" spc="150" kern="0" dirty="0">
                <a:solidFill>
                  <a:srgbClr val="1E56A0"/>
                </a:solidFill>
                <a:latin typeface="Calibri" pitchFamily="34" charset="0"/>
                <a:ea typeface="Calibri" pitchFamily="34" charset="-122"/>
                <a:cs typeface="Calibri" pitchFamily="34" charset="-120"/>
              </a:rPr>
              <a:t>USEFUL FUNCTIONS</a:t>
            </a:r>
            <a:endParaRPr lang="en-US" sz="1100" dirty="0"/>
          </a:p>
        </p:txBody>
      </p:sp>
      <p:sp>
        <p:nvSpPr>
          <p:cNvPr id="19" name="Shape 17"/>
          <p:cNvSpPr/>
          <p:nvPr/>
        </p:nvSpPr>
        <p:spPr>
          <a:xfrm>
            <a:off x="548640" y="4764024"/>
            <a:ext cx="5166360" cy="502920"/>
          </a:xfrm>
          <a:prstGeom prst="roundRect">
            <a:avLst>
              <a:gd name="adj" fmla="val 14545"/>
            </a:avLst>
          </a:prstGeom>
          <a:solidFill>
            <a:srgbClr val="0E2A3D"/>
          </a:solidFill>
          <a:ln/>
        </p:spPr>
      </p:sp>
      <p:sp>
        <p:nvSpPr>
          <p:cNvPr id="20" name="Text 18"/>
          <p:cNvSpPr/>
          <p:nvPr/>
        </p:nvSpPr>
        <p:spPr>
          <a:xfrm>
            <a:off x="749808" y="4837176"/>
            <a:ext cx="4764024" cy="356616"/>
          </a:xfrm>
          <a:prstGeom prst="rect">
            <a:avLst/>
          </a:prstGeom>
          <a:noFill/>
          <a:ln/>
        </p:spPr>
        <p:txBody>
          <a:bodyPr wrap="square" lIns="0" tIns="0" rIns="0" bIns="0" rtlCol="0" anchor="ctr"/>
          <a:lstStyle/>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SELECT NOW();</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 current date &amp; time</a:t>
            </a:r>
            <a:endParaRPr lang="en-US" sz="1100" dirty="0"/>
          </a:p>
        </p:txBody>
      </p:sp>
      <p:sp>
        <p:nvSpPr>
          <p:cNvPr id="21" name="Shape 19"/>
          <p:cNvSpPr/>
          <p:nvPr/>
        </p:nvSpPr>
        <p:spPr>
          <a:xfrm>
            <a:off x="5852160" y="4764024"/>
            <a:ext cx="5349240" cy="502920"/>
          </a:xfrm>
          <a:prstGeom prst="roundRect">
            <a:avLst>
              <a:gd name="adj" fmla="val 14545"/>
            </a:avLst>
          </a:prstGeom>
          <a:solidFill>
            <a:srgbClr val="0E2A3D"/>
          </a:solidFill>
          <a:ln/>
        </p:spPr>
      </p:sp>
      <p:sp>
        <p:nvSpPr>
          <p:cNvPr id="22" name="Text 20"/>
          <p:cNvSpPr/>
          <p:nvPr/>
        </p:nvSpPr>
        <p:spPr>
          <a:xfrm>
            <a:off x="6053328" y="4837176"/>
            <a:ext cx="4946904" cy="356616"/>
          </a:xfrm>
          <a:prstGeom prst="rect">
            <a:avLst/>
          </a:prstGeom>
          <a:noFill/>
          <a:ln/>
        </p:spPr>
        <p:txBody>
          <a:bodyPr wrap="square" lIns="0" tIns="0" rIns="0" bIns="0" rtlCol="0" anchor="ctr"/>
          <a:lstStyle/>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SELECT CAST(NOW() AS DATE);</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 converts timestamp to date</a:t>
            </a:r>
            <a:endParaRPr lang="en-US" sz="1100" dirty="0"/>
          </a:p>
        </p:txBody>
      </p:sp>
      <p:sp>
        <p:nvSpPr>
          <p:cNvPr id="23" name="Text 2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4" name="Text 2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5</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Calculating Age &amp; Time Differences</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Find the gap between two dates, or shift a date forward or backward in time</a:t>
            </a:r>
            <a:endParaRPr lang="en-US" sz="1350" dirty="0"/>
          </a:p>
        </p:txBody>
      </p:sp>
      <p:sp>
        <p:nvSpPr>
          <p:cNvPr id="6" name="Shape 4"/>
          <p:cNvSpPr/>
          <p:nvPr/>
        </p:nvSpPr>
        <p:spPr>
          <a:xfrm>
            <a:off x="548640" y="1965960"/>
            <a:ext cx="10652760" cy="868680"/>
          </a:xfrm>
          <a:prstGeom prst="roundRect">
            <a:avLst>
              <a:gd name="adj" fmla="val 8421"/>
            </a:avLst>
          </a:prstGeom>
          <a:solidFill>
            <a:srgbClr val="0E2A3D"/>
          </a:solidFill>
          <a:ln/>
        </p:spPr>
      </p:sp>
      <p:sp>
        <p:nvSpPr>
          <p:cNvPr id="7" name="Text 5"/>
          <p:cNvSpPr/>
          <p:nvPr/>
        </p:nvSpPr>
        <p:spPr>
          <a:xfrm>
            <a:off x="749808" y="2039112"/>
            <a:ext cx="10250424" cy="722376"/>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TIMESTAMPDIFF(unit, start_date, end_date)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TIMESTAMPADD(unit, amount, date)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DATE_SUB(date, INTERVAL amount unit)</a:t>
            </a:r>
            <a:endParaRPr lang="en-US" sz="1500" dirty="0"/>
          </a:p>
        </p:txBody>
      </p:sp>
      <p:sp>
        <p:nvSpPr>
          <p:cNvPr id="8" name="Shape 6"/>
          <p:cNvSpPr/>
          <p:nvPr/>
        </p:nvSpPr>
        <p:spPr>
          <a:xfrm>
            <a:off x="548640" y="2999232"/>
            <a:ext cx="10652760" cy="530352"/>
          </a:xfrm>
          <a:prstGeom prst="roundRect">
            <a:avLst>
              <a:gd name="adj" fmla="val 10345"/>
            </a:avLst>
          </a:prstGeom>
          <a:solidFill>
            <a:srgbClr val="F2F6FA"/>
          </a:solidFill>
          <a:ln/>
        </p:spPr>
      </p:sp>
      <p:sp>
        <p:nvSpPr>
          <p:cNvPr id="9" name="Text 7"/>
          <p:cNvSpPr/>
          <p:nvPr/>
        </p:nvSpPr>
        <p:spPr>
          <a:xfrm>
            <a:off x="777240" y="2999232"/>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TIMESTAMPDIFF</a:t>
            </a:r>
            <a:endParaRPr lang="en-US" sz="1250" dirty="0"/>
          </a:p>
        </p:txBody>
      </p:sp>
      <p:sp>
        <p:nvSpPr>
          <p:cNvPr id="10" name="Text 8"/>
          <p:cNvSpPr/>
          <p:nvPr/>
        </p:nvSpPr>
        <p:spPr>
          <a:xfrm>
            <a:off x="3291840" y="2999232"/>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Counts the difference between two dates, in the unit you choose (year, month, day...)</a:t>
            </a:r>
            <a:endParaRPr lang="en-US" sz="1200" dirty="0"/>
          </a:p>
        </p:txBody>
      </p:sp>
      <p:sp>
        <p:nvSpPr>
          <p:cNvPr id="11" name="Shape 9"/>
          <p:cNvSpPr/>
          <p:nvPr/>
        </p:nvSpPr>
        <p:spPr>
          <a:xfrm>
            <a:off x="548640" y="3611880"/>
            <a:ext cx="10652760" cy="530352"/>
          </a:xfrm>
          <a:prstGeom prst="roundRect">
            <a:avLst>
              <a:gd name="adj" fmla="val 10345"/>
            </a:avLst>
          </a:prstGeom>
          <a:solidFill>
            <a:srgbClr val="F2F6FA"/>
          </a:solidFill>
          <a:ln/>
        </p:spPr>
      </p:sp>
      <p:sp>
        <p:nvSpPr>
          <p:cNvPr id="12" name="Text 10"/>
          <p:cNvSpPr/>
          <p:nvPr/>
        </p:nvSpPr>
        <p:spPr>
          <a:xfrm>
            <a:off x="777240" y="3611880"/>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TIMESTAMPADD</a:t>
            </a:r>
            <a:endParaRPr lang="en-US" sz="1250" dirty="0"/>
          </a:p>
        </p:txBody>
      </p:sp>
      <p:sp>
        <p:nvSpPr>
          <p:cNvPr id="13" name="Text 11"/>
          <p:cNvSpPr/>
          <p:nvPr/>
        </p:nvSpPr>
        <p:spPr>
          <a:xfrm>
            <a:off x="3291840" y="3611880"/>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Adds (or subtracts, with a negative amount) time to a date</a:t>
            </a:r>
            <a:endParaRPr lang="en-US" sz="1200" dirty="0"/>
          </a:p>
        </p:txBody>
      </p:sp>
      <p:sp>
        <p:nvSpPr>
          <p:cNvPr id="14" name="Shape 12"/>
          <p:cNvSpPr/>
          <p:nvPr/>
        </p:nvSpPr>
        <p:spPr>
          <a:xfrm>
            <a:off x="548640" y="4224528"/>
            <a:ext cx="10652760" cy="530352"/>
          </a:xfrm>
          <a:prstGeom prst="roundRect">
            <a:avLst>
              <a:gd name="adj" fmla="val 10345"/>
            </a:avLst>
          </a:prstGeom>
          <a:solidFill>
            <a:srgbClr val="F2F6FA"/>
          </a:solidFill>
          <a:ln/>
        </p:spPr>
      </p:sp>
      <p:sp>
        <p:nvSpPr>
          <p:cNvPr id="15" name="Text 13"/>
          <p:cNvSpPr/>
          <p:nvPr/>
        </p:nvSpPr>
        <p:spPr>
          <a:xfrm>
            <a:off x="777240" y="4224528"/>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DATE_SUB</a:t>
            </a:r>
            <a:endParaRPr lang="en-US" sz="1250" dirty="0"/>
          </a:p>
        </p:txBody>
      </p:sp>
      <p:sp>
        <p:nvSpPr>
          <p:cNvPr id="16" name="Text 14"/>
          <p:cNvSpPr/>
          <p:nvPr/>
        </p:nvSpPr>
        <p:spPr>
          <a:xfrm>
            <a:off x="3291840" y="4224528"/>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Subtracts an interval from a date — an alternative to a negative TIMESTAMPADD</a:t>
            </a:r>
            <a:endParaRPr lang="en-US" sz="1200" dirty="0"/>
          </a:p>
        </p:txBody>
      </p:sp>
      <p:sp>
        <p:nvSpPr>
          <p:cNvPr id="17" name="Text 15"/>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8"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5</a:t>
            </a:r>
            <a:endParaRPr lang="en-US" sz="1050" dirty="0"/>
          </a:p>
        </p:txBody>
      </p:sp>
      <p:sp>
        <p:nvSpPr>
          <p:cNvPr id="4" name="Text 2"/>
          <p:cNvSpPr/>
          <p:nvPr/>
        </p:nvSpPr>
        <p:spPr>
          <a:xfrm>
            <a:off x="548640" y="914400"/>
            <a:ext cx="914400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Age Calculations in Practice</a:t>
            </a:r>
            <a:endParaRPr lang="en-US" sz="2700" dirty="0"/>
          </a:p>
        </p:txBody>
      </p:sp>
      <p:sp>
        <p:nvSpPr>
          <p:cNvPr id="5" name="Text 3"/>
          <p:cNvSpPr/>
          <p:nvPr/>
        </p:nvSpPr>
        <p:spPr>
          <a:xfrm>
            <a:off x="548640" y="1481328"/>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Two equivalent ways to answer: “Which employees have less than 30 years of service?”</a:t>
            </a:r>
            <a:endParaRPr lang="en-US" sz="1250" dirty="0"/>
          </a:p>
        </p:txBody>
      </p:sp>
      <p:sp>
        <p:nvSpPr>
          <p:cNvPr id="6" name="Text 4"/>
          <p:cNvSpPr/>
          <p:nvPr/>
        </p:nvSpPr>
        <p:spPr>
          <a:xfrm>
            <a:off x="548640" y="2011680"/>
            <a:ext cx="7315200" cy="274320"/>
          </a:xfrm>
          <a:prstGeom prst="rect">
            <a:avLst/>
          </a:prstGeom>
          <a:noFill/>
          <a:ln/>
        </p:spPr>
        <p:txBody>
          <a:bodyPr wrap="square" lIns="0" tIns="0" rIns="0" bIns="0" rtlCol="0" anchor="ctr"/>
          <a:lstStyle/>
          <a:p>
            <a:pPr indent="0" marL="0">
              <a:buNone/>
            </a:pPr>
            <a:r>
              <a:rPr lang="en-US" sz="1100" b="1" dirty="0">
                <a:solidFill>
                  <a:srgbClr val="1E56A0"/>
                </a:solidFill>
                <a:latin typeface="Calibri" pitchFamily="34" charset="0"/>
                <a:ea typeface="Calibri" pitchFamily="34" charset="-122"/>
                <a:cs typeface="Calibri" pitchFamily="34" charset="-120"/>
              </a:rPr>
              <a:t>APPROACH 1 — Calculate the difference directly</a:t>
            </a:r>
            <a:endParaRPr lang="en-US" sz="1100" dirty="0"/>
          </a:p>
        </p:txBody>
      </p:sp>
      <p:sp>
        <p:nvSpPr>
          <p:cNvPr id="7" name="Shape 5"/>
          <p:cNvSpPr/>
          <p:nvPr/>
        </p:nvSpPr>
        <p:spPr>
          <a:xfrm>
            <a:off x="548640" y="2313432"/>
            <a:ext cx="10652760" cy="868680"/>
          </a:xfrm>
          <a:prstGeom prst="roundRect">
            <a:avLst>
              <a:gd name="adj" fmla="val 8421"/>
            </a:avLst>
          </a:prstGeom>
          <a:solidFill>
            <a:srgbClr val="0E2A3D"/>
          </a:solidFill>
          <a:ln/>
        </p:spPr>
      </p:sp>
      <p:sp>
        <p:nvSpPr>
          <p:cNvPr id="8" name="Text 6"/>
          <p:cNvSpPr/>
          <p:nvPr/>
        </p:nvSpPr>
        <p:spPr>
          <a:xfrm>
            <a:off x="749808" y="2386584"/>
            <a:ext cx="10250424" cy="722376"/>
          </a:xfrm>
          <a:prstGeom prst="rect">
            <a:avLst/>
          </a:prstGeom>
          <a:noFill/>
          <a:ln/>
        </p:spPr>
        <p:txBody>
          <a:bodyPr wrap="square" lIns="0" tIns="0" rIns="0" bIns="0" rtlCol="0" anchor="t"/>
          <a:lstStyle/>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SELECT *, TIMESTAMPDIFF(year, hire_Date, curdate())</a:t>
            </a:r>
            <a:endParaRPr lang="en-US" sz="1200" dirty="0"/>
          </a:p>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FROM employees</a:t>
            </a:r>
            <a:endParaRPr lang="en-US" sz="1200" dirty="0"/>
          </a:p>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WHERE TIMESTAMPDIFF(year, hire_Date, curdate()) &lt; 30;</a:t>
            </a:r>
            <a:endParaRPr lang="en-US" sz="1200" dirty="0"/>
          </a:p>
        </p:txBody>
      </p:sp>
      <p:sp>
        <p:nvSpPr>
          <p:cNvPr id="9" name="Text 7"/>
          <p:cNvSpPr/>
          <p:nvPr/>
        </p:nvSpPr>
        <p:spPr>
          <a:xfrm>
            <a:off x="548640" y="3337560"/>
            <a:ext cx="7315200" cy="274320"/>
          </a:xfrm>
          <a:prstGeom prst="rect">
            <a:avLst/>
          </a:prstGeom>
          <a:noFill/>
          <a:ln/>
        </p:spPr>
        <p:txBody>
          <a:bodyPr wrap="square" lIns="0" tIns="0" rIns="0" bIns="0" rtlCol="0" anchor="ctr"/>
          <a:lstStyle/>
          <a:p>
            <a:pPr indent="0" marL="0">
              <a:buNone/>
            </a:pPr>
            <a:r>
              <a:rPr lang="en-US" sz="1100" b="1" dirty="0">
                <a:solidFill>
                  <a:srgbClr val="1E56A0"/>
                </a:solidFill>
                <a:latin typeface="Calibri" pitchFamily="34" charset="0"/>
                <a:ea typeface="Calibri" pitchFamily="34" charset="-122"/>
                <a:cs typeface="Calibri" pitchFamily="34" charset="-120"/>
              </a:rPr>
              <a:t>APPROACH 2 — Compare against a shifted date instead</a:t>
            </a:r>
            <a:endParaRPr lang="en-US" sz="1100" dirty="0"/>
          </a:p>
        </p:txBody>
      </p:sp>
      <p:sp>
        <p:nvSpPr>
          <p:cNvPr id="10" name="Shape 8"/>
          <p:cNvSpPr/>
          <p:nvPr/>
        </p:nvSpPr>
        <p:spPr>
          <a:xfrm>
            <a:off x="548640" y="3639312"/>
            <a:ext cx="10652760" cy="1143000"/>
          </a:xfrm>
          <a:prstGeom prst="roundRect">
            <a:avLst>
              <a:gd name="adj" fmla="val 6400"/>
            </a:avLst>
          </a:prstGeom>
          <a:solidFill>
            <a:srgbClr val="0E2A3D"/>
          </a:solidFill>
          <a:ln/>
        </p:spPr>
      </p:sp>
      <p:sp>
        <p:nvSpPr>
          <p:cNvPr id="11" name="Text 9"/>
          <p:cNvSpPr/>
          <p:nvPr/>
        </p:nvSpPr>
        <p:spPr>
          <a:xfrm>
            <a:off x="749808" y="3712464"/>
            <a:ext cx="10250424" cy="996696"/>
          </a:xfrm>
          <a:prstGeom prst="rect">
            <a:avLst/>
          </a:prstGeom>
          <a:noFill/>
          <a:ln/>
        </p:spPr>
        <p:txBody>
          <a:bodyPr wrap="square" lIns="0" tIns="0" rIns="0" bIns="0" rtlCol="0" anchor="t"/>
          <a:lstStyle/>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SELECT *, TIMESTAMPDIFF(year, hire_Date, curdate())</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FROM employees</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WHERE hire_Date &gt; TIMESTAMPADD(year, -30, curdate());</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 equivalent: WHERE hire_Date &gt; DATE_SUB(curdate(), INTERVAL 30 year)</a:t>
            </a:r>
            <a:endParaRPr lang="en-US" sz="1100" dirty="0"/>
          </a:p>
        </p:txBody>
      </p:sp>
      <p:sp>
        <p:nvSpPr>
          <p:cNvPr id="12" name="Shape 10"/>
          <p:cNvSpPr/>
          <p:nvPr/>
        </p:nvSpPr>
        <p:spPr>
          <a:xfrm>
            <a:off x="548640" y="4937760"/>
            <a:ext cx="10652760" cy="685800"/>
          </a:xfrm>
          <a:prstGeom prst="roundRect">
            <a:avLst>
              <a:gd name="adj" fmla="val 9333"/>
            </a:avLst>
          </a:prstGeom>
          <a:solidFill>
            <a:srgbClr val="FFF4E8"/>
          </a:solidFill>
          <a:ln/>
        </p:spPr>
      </p:sp>
      <p:sp>
        <p:nvSpPr>
          <p:cNvPr id="13" name="Text 11"/>
          <p:cNvSpPr/>
          <p:nvPr/>
        </p:nvSpPr>
        <p:spPr>
          <a:xfrm>
            <a:off x="777240" y="4937760"/>
            <a:ext cx="10241280" cy="685800"/>
          </a:xfrm>
          <a:prstGeom prst="rect">
            <a:avLst/>
          </a:prstGeom>
          <a:noFill/>
          <a:ln/>
        </p:spPr>
        <p:txBody>
          <a:bodyPr wrap="square" lIns="0" tIns="0" rIns="0" bIns="0" rtlCol="0" anchor="ctr"/>
          <a:lstStyle/>
          <a:p>
            <a:pPr indent="0" marL="0">
              <a:buNone/>
            </a:pPr>
            <a:r>
              <a:rPr lang="en-US" sz="1150" b="1" dirty="0">
                <a:solidFill>
                  <a:srgbClr val="8A5A1E"/>
                </a:solidFill>
                <a:latin typeface="Calibri" pitchFamily="34" charset="0"/>
                <a:ea typeface="Calibri" pitchFamily="34" charset="-122"/>
                <a:cs typeface="Calibri" pitchFamily="34" charset="-120"/>
              </a:rPr>
              <a:t>Why two ways?  </a:t>
            </a:r>
            <a:pPr indent="0" marL="0">
              <a:buNone/>
            </a:pPr>
            <a:r>
              <a:rPr lang="en-US" sz="1150" dirty="0">
                <a:solidFill>
                  <a:srgbClr val="8A5A1E"/>
                </a:solidFill>
                <a:latin typeface="Calibri" pitchFamily="34" charset="0"/>
                <a:ea typeface="Calibri" pitchFamily="34" charset="-122"/>
                <a:cs typeface="Calibri" pitchFamily="34" charset="-120"/>
              </a:rPr>
              <a:t>Approach 1 is easier to read. Approach 2 often runs faster on large tables, since it compares dates directly instead of recalculating a difference for every single row.</a:t>
            </a:r>
            <a:endParaRPr lang="en-US" sz="1150" dirty="0"/>
          </a:p>
        </p:txBody>
      </p:sp>
      <p:sp>
        <p:nvSpPr>
          <p:cNvPr id="14" name="Text 1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5"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5</a:t>
            </a:r>
            <a:endParaRPr lang="en-US" sz="1050" dirty="0"/>
          </a:p>
        </p:txBody>
      </p:sp>
      <p:sp>
        <p:nvSpPr>
          <p:cNvPr id="4" name="Text 2"/>
          <p:cNvSpPr/>
          <p:nvPr/>
        </p:nvSpPr>
        <p:spPr>
          <a:xfrm>
            <a:off x="548640" y="914400"/>
            <a:ext cx="82296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Understanding NULL</a:t>
            </a:r>
            <a:endParaRPr lang="en-US" sz="2900" dirty="0"/>
          </a:p>
        </p:txBody>
      </p:sp>
      <p:sp>
        <p:nvSpPr>
          <p:cNvPr id="5" name="Text 3"/>
          <p:cNvSpPr/>
          <p:nvPr/>
        </p:nvSpPr>
        <p:spPr>
          <a:xfrm>
            <a:off x="548640" y="1508760"/>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NULL represents a missing value or empty cell — and it behaves differently than you might expect</a:t>
            </a:r>
            <a:endParaRPr lang="en-US" sz="1300" dirty="0"/>
          </a:p>
        </p:txBody>
      </p:sp>
      <p:sp>
        <p:nvSpPr>
          <p:cNvPr id="6" name="Shape 4"/>
          <p:cNvSpPr/>
          <p:nvPr/>
        </p:nvSpPr>
        <p:spPr>
          <a:xfrm>
            <a:off x="548640" y="2057400"/>
            <a:ext cx="10652760" cy="1234440"/>
          </a:xfrm>
          <a:prstGeom prst="roundRect">
            <a:avLst>
              <a:gd name="adj" fmla="val 5926"/>
            </a:avLst>
          </a:prstGeom>
          <a:solidFill>
            <a:srgbClr val="FBEDE8"/>
          </a:solidFill>
          <a:ln/>
        </p:spPr>
      </p:sp>
      <p:sp>
        <p:nvSpPr>
          <p:cNvPr id="7" name="Text 5"/>
          <p:cNvSpPr/>
          <p:nvPr/>
        </p:nvSpPr>
        <p:spPr>
          <a:xfrm>
            <a:off x="777240" y="2194560"/>
            <a:ext cx="5486400" cy="274320"/>
          </a:xfrm>
          <a:prstGeom prst="rect">
            <a:avLst/>
          </a:prstGeom>
          <a:noFill/>
          <a:ln/>
        </p:spPr>
        <p:txBody>
          <a:bodyPr wrap="square" lIns="0" tIns="0" rIns="0" bIns="0" rtlCol="0" anchor="ctr"/>
          <a:lstStyle/>
          <a:p>
            <a:pPr indent="0" marL="0">
              <a:buNone/>
            </a:pPr>
            <a:r>
              <a:rPr lang="en-US" sz="1050" b="1" spc="150" kern="0" dirty="0">
                <a:solidFill>
                  <a:srgbClr val="8A3A2A"/>
                </a:solidFill>
                <a:latin typeface="Calibri" pitchFamily="34" charset="0"/>
                <a:ea typeface="Calibri" pitchFamily="34" charset="-122"/>
                <a:cs typeface="Calibri" pitchFamily="34" charset="-120"/>
              </a:rPr>
              <a:t>NULL IS NOT THE SAME AS:</a:t>
            </a:r>
            <a:endParaRPr lang="en-US" sz="1050" dirty="0"/>
          </a:p>
        </p:txBody>
      </p:sp>
      <p:sp>
        <p:nvSpPr>
          <p:cNvPr id="8" name="Text 6"/>
          <p:cNvSpPr/>
          <p:nvPr/>
        </p:nvSpPr>
        <p:spPr>
          <a:xfrm>
            <a:off x="777240" y="2542032"/>
            <a:ext cx="10058400" cy="256032"/>
          </a:xfrm>
          <a:prstGeom prst="rect">
            <a:avLst/>
          </a:prstGeom>
          <a:noFill/>
          <a:ln/>
        </p:spPr>
        <p:txBody>
          <a:bodyPr wrap="square" lIns="0" tIns="0" rIns="0" bIns="0" rtlCol="0" anchor="ctr"/>
          <a:lstStyle/>
          <a:p>
            <a:pPr indent="0" marL="0">
              <a:buNone/>
            </a:pPr>
            <a:r>
              <a:rPr lang="en-US" sz="1150" dirty="0">
                <a:solidFill>
                  <a:srgbClr val="8A3A2A"/>
                </a:solidFill>
                <a:latin typeface="Calibri" pitchFamily="34" charset="0"/>
                <a:ea typeface="Calibri" pitchFamily="34" charset="-122"/>
                <a:cs typeface="Calibri" pitchFamily="34" charset="-120"/>
              </a:rPr>
              <a:t>✕  0  (zero is a real number)</a:t>
            </a:r>
            <a:endParaRPr lang="en-US" sz="1150" dirty="0"/>
          </a:p>
        </p:txBody>
      </p:sp>
      <p:sp>
        <p:nvSpPr>
          <p:cNvPr id="9" name="Text 7"/>
          <p:cNvSpPr/>
          <p:nvPr/>
        </p:nvSpPr>
        <p:spPr>
          <a:xfrm>
            <a:off x="777240" y="2816352"/>
            <a:ext cx="10058400" cy="256032"/>
          </a:xfrm>
          <a:prstGeom prst="rect">
            <a:avLst/>
          </a:prstGeom>
          <a:noFill/>
          <a:ln/>
        </p:spPr>
        <p:txBody>
          <a:bodyPr wrap="square" lIns="0" tIns="0" rIns="0" bIns="0" rtlCol="0" anchor="ctr"/>
          <a:lstStyle/>
          <a:p>
            <a:pPr indent="0" marL="0">
              <a:buNone/>
            </a:pPr>
            <a:r>
              <a:rPr lang="en-US" sz="1150" dirty="0">
                <a:solidFill>
                  <a:srgbClr val="8A3A2A"/>
                </a:solidFill>
                <a:latin typeface="Calibri" pitchFamily="34" charset="0"/>
                <a:ea typeface="Calibri" pitchFamily="34" charset="-122"/>
                <a:cs typeface="Calibri" pitchFamily="34" charset="-120"/>
              </a:rPr>
              <a:t>✕  ' '  (an empty string is still a value)</a:t>
            </a:r>
            <a:endParaRPr lang="en-US" sz="1150" dirty="0"/>
          </a:p>
        </p:txBody>
      </p:sp>
      <p:sp>
        <p:nvSpPr>
          <p:cNvPr id="10" name="Text 8"/>
          <p:cNvSpPr/>
          <p:nvPr/>
        </p:nvSpPr>
        <p:spPr>
          <a:xfrm>
            <a:off x="777240" y="3090672"/>
            <a:ext cx="10058400" cy="256032"/>
          </a:xfrm>
          <a:prstGeom prst="rect">
            <a:avLst/>
          </a:prstGeom>
          <a:noFill/>
          <a:ln/>
        </p:spPr>
        <p:txBody>
          <a:bodyPr wrap="square" lIns="0" tIns="0" rIns="0" bIns="0" rtlCol="0" anchor="ctr"/>
          <a:lstStyle/>
          <a:p>
            <a:pPr indent="0" marL="0">
              <a:buNone/>
            </a:pPr>
            <a:r>
              <a:rPr lang="en-US" sz="1150" dirty="0">
                <a:solidFill>
                  <a:srgbClr val="8A3A2A"/>
                </a:solidFill>
                <a:latin typeface="Calibri" pitchFamily="34" charset="0"/>
                <a:ea typeface="Calibri" pitchFamily="34" charset="-122"/>
                <a:cs typeface="Calibri" pitchFamily="34" charset="-120"/>
              </a:rPr>
              <a:t>✕  'NULL'  (the text word is not the same as the marker)</a:t>
            </a:r>
            <a:endParaRPr lang="en-US" sz="1150" dirty="0"/>
          </a:p>
        </p:txBody>
      </p:sp>
      <p:sp>
        <p:nvSpPr>
          <p:cNvPr id="11" name="Text 9"/>
          <p:cNvSpPr/>
          <p:nvPr/>
        </p:nvSpPr>
        <p:spPr>
          <a:xfrm>
            <a:off x="548640" y="3520440"/>
            <a:ext cx="7315200" cy="274320"/>
          </a:xfrm>
          <a:prstGeom prst="rect">
            <a:avLst/>
          </a:prstGeom>
          <a:noFill/>
          <a:ln/>
        </p:spPr>
        <p:txBody>
          <a:bodyPr wrap="square" lIns="0" tIns="0" rIns="0" bIns="0" rtlCol="0" anchor="ctr"/>
          <a:lstStyle/>
          <a:p>
            <a:pPr indent="0" marL="0">
              <a:buNone/>
            </a:pPr>
            <a:r>
              <a:rPr lang="en-US" sz="1100" b="1" spc="150" kern="0" dirty="0">
                <a:solidFill>
                  <a:srgbClr val="1E56A0"/>
                </a:solidFill>
                <a:latin typeface="Calibri" pitchFamily="34" charset="0"/>
                <a:ea typeface="Calibri" pitchFamily="34" charset="-122"/>
                <a:cs typeface="Calibri" pitchFamily="34" charset="-120"/>
              </a:rPr>
              <a:t>MYSQL’S MAJOR DATA TYPES</a:t>
            </a:r>
            <a:endParaRPr lang="en-US" sz="1100" dirty="0"/>
          </a:p>
        </p:txBody>
      </p:sp>
      <p:sp>
        <p:nvSpPr>
          <p:cNvPr id="12" name="Shape 10"/>
          <p:cNvSpPr/>
          <p:nvPr/>
        </p:nvSpPr>
        <p:spPr>
          <a:xfrm>
            <a:off x="548640" y="3840480"/>
            <a:ext cx="3474720" cy="777240"/>
          </a:xfrm>
          <a:prstGeom prst="roundRect">
            <a:avLst>
              <a:gd name="adj" fmla="val 8235"/>
            </a:avLst>
          </a:prstGeom>
          <a:solidFill>
            <a:srgbClr val="F2F6FA"/>
          </a:solidFill>
          <a:ln/>
        </p:spPr>
      </p:sp>
      <p:sp>
        <p:nvSpPr>
          <p:cNvPr id="13" name="Text 11"/>
          <p:cNvSpPr/>
          <p:nvPr/>
        </p:nvSpPr>
        <p:spPr>
          <a:xfrm>
            <a:off x="731520" y="3931920"/>
            <a:ext cx="3108960" cy="274320"/>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Numeric</a:t>
            </a:r>
            <a:endParaRPr lang="en-US" sz="1200" dirty="0"/>
          </a:p>
        </p:txBody>
      </p:sp>
      <p:sp>
        <p:nvSpPr>
          <p:cNvPr id="14" name="Text 12"/>
          <p:cNvSpPr/>
          <p:nvPr/>
        </p:nvSpPr>
        <p:spPr>
          <a:xfrm>
            <a:off x="731520" y="4224528"/>
            <a:ext cx="3108960" cy="320040"/>
          </a:xfrm>
          <a:prstGeom prst="rect">
            <a:avLst/>
          </a:prstGeom>
          <a:noFill/>
          <a:ln/>
        </p:spPr>
        <p:txBody>
          <a:bodyPr wrap="square" lIns="0" tIns="0" rIns="0" bIns="0" rtlCol="0" anchor="ctr"/>
          <a:lstStyle/>
          <a:p>
            <a:pPr indent="0" marL="0">
              <a:buNone/>
            </a:pPr>
            <a:r>
              <a:rPr lang="en-US" sz="950" dirty="0">
                <a:solidFill>
                  <a:srgbClr val="5B6B79"/>
                </a:solidFill>
                <a:latin typeface="Courier New" pitchFamily="34" charset="0"/>
                <a:ea typeface="Courier New" pitchFamily="34" charset="-122"/>
                <a:cs typeface="Courier New" pitchFamily="34" charset="-120"/>
              </a:rPr>
              <a:t>TINYINT, INT, MEDIUMINT</a:t>
            </a:r>
            <a:endParaRPr lang="en-US" sz="950" dirty="0"/>
          </a:p>
        </p:txBody>
      </p:sp>
      <p:sp>
        <p:nvSpPr>
          <p:cNvPr id="15" name="Shape 13"/>
          <p:cNvSpPr/>
          <p:nvPr/>
        </p:nvSpPr>
        <p:spPr>
          <a:xfrm>
            <a:off x="4160520" y="3840480"/>
            <a:ext cx="3474720" cy="777240"/>
          </a:xfrm>
          <a:prstGeom prst="roundRect">
            <a:avLst>
              <a:gd name="adj" fmla="val 8235"/>
            </a:avLst>
          </a:prstGeom>
          <a:solidFill>
            <a:srgbClr val="F2F6FA"/>
          </a:solidFill>
          <a:ln/>
        </p:spPr>
      </p:sp>
      <p:sp>
        <p:nvSpPr>
          <p:cNvPr id="16" name="Text 14"/>
          <p:cNvSpPr/>
          <p:nvPr/>
        </p:nvSpPr>
        <p:spPr>
          <a:xfrm>
            <a:off x="4343400" y="3931920"/>
            <a:ext cx="3108960" cy="274320"/>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Text</a:t>
            </a:r>
            <a:endParaRPr lang="en-US" sz="1200" dirty="0"/>
          </a:p>
        </p:txBody>
      </p:sp>
      <p:sp>
        <p:nvSpPr>
          <p:cNvPr id="17" name="Text 15"/>
          <p:cNvSpPr/>
          <p:nvPr/>
        </p:nvSpPr>
        <p:spPr>
          <a:xfrm>
            <a:off x="4343400" y="4224528"/>
            <a:ext cx="3108960" cy="320040"/>
          </a:xfrm>
          <a:prstGeom prst="rect">
            <a:avLst/>
          </a:prstGeom>
          <a:noFill/>
          <a:ln/>
        </p:spPr>
        <p:txBody>
          <a:bodyPr wrap="square" lIns="0" tIns="0" rIns="0" bIns="0" rtlCol="0" anchor="ctr"/>
          <a:lstStyle/>
          <a:p>
            <a:pPr indent="0" marL="0">
              <a:buNone/>
            </a:pPr>
            <a:r>
              <a:rPr lang="en-US" sz="950" dirty="0">
                <a:solidFill>
                  <a:srgbClr val="5B6B79"/>
                </a:solidFill>
                <a:latin typeface="Courier New" pitchFamily="34" charset="0"/>
                <a:ea typeface="Courier New" pitchFamily="34" charset="-122"/>
                <a:cs typeface="Courier New" pitchFamily="34" charset="-120"/>
              </a:rPr>
              <a:t>VARCHAR, CHAR</a:t>
            </a:r>
            <a:endParaRPr lang="en-US" sz="950" dirty="0"/>
          </a:p>
        </p:txBody>
      </p:sp>
      <p:sp>
        <p:nvSpPr>
          <p:cNvPr id="18" name="Shape 16"/>
          <p:cNvSpPr/>
          <p:nvPr/>
        </p:nvSpPr>
        <p:spPr>
          <a:xfrm>
            <a:off x="7772400" y="3840480"/>
            <a:ext cx="3474720" cy="777240"/>
          </a:xfrm>
          <a:prstGeom prst="roundRect">
            <a:avLst>
              <a:gd name="adj" fmla="val 8235"/>
            </a:avLst>
          </a:prstGeom>
          <a:solidFill>
            <a:srgbClr val="F2F6FA"/>
          </a:solidFill>
          <a:ln/>
        </p:spPr>
      </p:sp>
      <p:sp>
        <p:nvSpPr>
          <p:cNvPr id="19" name="Text 17"/>
          <p:cNvSpPr/>
          <p:nvPr/>
        </p:nvSpPr>
        <p:spPr>
          <a:xfrm>
            <a:off x="7955280" y="3931920"/>
            <a:ext cx="3108960" cy="274320"/>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Date</a:t>
            </a:r>
            <a:endParaRPr lang="en-US" sz="1200" dirty="0"/>
          </a:p>
        </p:txBody>
      </p:sp>
      <p:sp>
        <p:nvSpPr>
          <p:cNvPr id="20" name="Text 18"/>
          <p:cNvSpPr/>
          <p:nvPr/>
        </p:nvSpPr>
        <p:spPr>
          <a:xfrm>
            <a:off x="7955280" y="4224528"/>
            <a:ext cx="3108960" cy="320040"/>
          </a:xfrm>
          <a:prstGeom prst="rect">
            <a:avLst/>
          </a:prstGeom>
          <a:noFill/>
          <a:ln/>
        </p:spPr>
        <p:txBody>
          <a:bodyPr wrap="square" lIns="0" tIns="0" rIns="0" bIns="0" rtlCol="0" anchor="ctr"/>
          <a:lstStyle/>
          <a:p>
            <a:pPr indent="0" marL="0">
              <a:buNone/>
            </a:pPr>
            <a:r>
              <a:rPr lang="en-US" sz="950" dirty="0">
                <a:solidFill>
                  <a:srgbClr val="5B6B79"/>
                </a:solidFill>
                <a:latin typeface="Courier New" pitchFamily="34" charset="0"/>
                <a:ea typeface="Courier New" pitchFamily="34" charset="-122"/>
                <a:cs typeface="Courier New" pitchFamily="34" charset="-120"/>
              </a:rPr>
              <a:t>DATE, TIME, DATETIME</a:t>
            </a:r>
            <a:endParaRPr lang="en-US" sz="950" dirty="0"/>
          </a:p>
        </p:txBody>
      </p:sp>
      <p:sp>
        <p:nvSpPr>
          <p:cNvPr id="21" name="Text 19"/>
          <p:cNvSpPr/>
          <p:nvPr/>
        </p:nvSpPr>
        <p:spPr>
          <a:xfrm>
            <a:off x="548640" y="4846320"/>
            <a:ext cx="10607040" cy="548640"/>
          </a:xfrm>
          <a:prstGeom prst="rect">
            <a:avLst/>
          </a:prstGeom>
          <a:noFill/>
          <a:ln/>
        </p:spPr>
        <p:txBody>
          <a:bodyPr wrap="square" lIns="0" tIns="0" rIns="0" bIns="0" rtlCol="0" anchor="ctr"/>
          <a:lstStyle/>
          <a:p>
            <a:pPr indent="0" marL="0">
              <a:buNone/>
            </a:pPr>
            <a:r>
              <a:rPr lang="en-US" sz="1200" b="1" dirty="0">
                <a:solidFill>
                  <a:srgbClr val="1E56A0"/>
                </a:solidFill>
                <a:latin typeface="Calibri" pitchFamily="34" charset="0"/>
                <a:ea typeface="Calibri" pitchFamily="34" charset="-122"/>
                <a:cs typeface="Calibri" pitchFamily="34" charset="-120"/>
              </a:rPr>
              <a:t>Practice question:  </a:t>
            </a:r>
            <a:pPr indent="0" marL="0">
              <a:buNone/>
            </a:pPr>
            <a:r>
              <a:rPr lang="en-US" sz="1200" i="1" dirty="0">
                <a:solidFill>
                  <a:srgbClr val="16202A"/>
                </a:solidFill>
                <a:latin typeface="Calibri" pitchFamily="34" charset="0"/>
                <a:ea typeface="Calibri" pitchFamily="34" charset="-122"/>
                <a:cs typeface="Calibri" pitchFamily="34" charset="-120"/>
              </a:rPr>
              <a:t>return all employees hired before August 28, 1986. What do you do about rows where hire_date itself is NULL?</a:t>
            </a:r>
            <a:endParaRPr lang="en-US" sz="120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3" name="Text 2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5</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COALESCE — Handling Missing Values</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Returns the first non-NULL value in a list — perfect for filling in a sensible default</a:t>
            </a:r>
            <a:endParaRPr lang="en-US" sz="1350" dirty="0"/>
          </a:p>
        </p:txBody>
      </p:sp>
      <p:sp>
        <p:nvSpPr>
          <p:cNvPr id="6" name="Shape 4"/>
          <p:cNvSpPr/>
          <p:nvPr/>
        </p:nvSpPr>
        <p:spPr>
          <a:xfrm>
            <a:off x="548640" y="1965960"/>
            <a:ext cx="10652760" cy="621792"/>
          </a:xfrm>
          <a:prstGeom prst="roundRect">
            <a:avLst>
              <a:gd name="adj" fmla="val 11765"/>
            </a:avLst>
          </a:prstGeom>
          <a:solidFill>
            <a:srgbClr val="0E2A3D"/>
          </a:solidFill>
          <a:ln/>
        </p:spPr>
      </p:sp>
      <p:sp>
        <p:nvSpPr>
          <p:cNvPr id="7" name="Text 5"/>
          <p:cNvSpPr/>
          <p:nvPr/>
        </p:nvSpPr>
        <p:spPr>
          <a:xfrm>
            <a:off x="749808" y="2039112"/>
            <a:ext cx="10250424" cy="475488"/>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SELECT COALESCE(column_1, 'default_value')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FROM table_name;</a:t>
            </a:r>
            <a:endParaRPr lang="en-US" sz="1500" dirty="0"/>
          </a:p>
        </p:txBody>
      </p:sp>
      <p:sp>
        <p:nvSpPr>
          <p:cNvPr id="8" name="Shape 6"/>
          <p:cNvSpPr/>
          <p:nvPr/>
        </p:nvSpPr>
        <p:spPr>
          <a:xfrm>
            <a:off x="548640" y="2752344"/>
            <a:ext cx="10652760" cy="530352"/>
          </a:xfrm>
          <a:prstGeom prst="roundRect">
            <a:avLst>
              <a:gd name="adj" fmla="val 10345"/>
            </a:avLst>
          </a:prstGeom>
          <a:solidFill>
            <a:srgbClr val="F2F6FA"/>
          </a:solidFill>
          <a:ln/>
        </p:spPr>
      </p:sp>
      <p:sp>
        <p:nvSpPr>
          <p:cNvPr id="9" name="Text 7"/>
          <p:cNvSpPr/>
          <p:nvPr/>
        </p:nvSpPr>
        <p:spPr>
          <a:xfrm>
            <a:off x="777240" y="2752344"/>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COALESCE(a, b, ...)</a:t>
            </a:r>
            <a:endParaRPr lang="en-US" sz="1250" dirty="0"/>
          </a:p>
        </p:txBody>
      </p:sp>
      <p:sp>
        <p:nvSpPr>
          <p:cNvPr id="10" name="Text 8"/>
          <p:cNvSpPr/>
          <p:nvPr/>
        </p:nvSpPr>
        <p:spPr>
          <a:xfrm>
            <a:off x="3291840" y="2752344"/>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Checks each value left to right, returns the first one that isn’t NULL</a:t>
            </a:r>
            <a:endParaRPr lang="en-US" sz="1200" dirty="0"/>
          </a:p>
        </p:txBody>
      </p:sp>
      <p:sp>
        <p:nvSpPr>
          <p:cNvPr id="11" name="Shape 9"/>
          <p:cNvSpPr/>
          <p:nvPr/>
        </p:nvSpPr>
        <p:spPr>
          <a:xfrm>
            <a:off x="548640" y="3438144"/>
            <a:ext cx="10652760" cy="777240"/>
          </a:xfrm>
          <a:prstGeom prst="roundRect">
            <a:avLst>
              <a:gd name="adj" fmla="val 7059"/>
            </a:avLst>
          </a:prstGeom>
          <a:solidFill>
            <a:srgbClr val="FFF4E8"/>
          </a:solidFill>
          <a:ln/>
        </p:spPr>
      </p:sp>
      <p:sp>
        <p:nvSpPr>
          <p:cNvPr id="12" name="Text 10"/>
          <p:cNvSpPr/>
          <p:nvPr/>
        </p:nvSpPr>
        <p:spPr>
          <a:xfrm>
            <a:off x="777240" y="3438144"/>
            <a:ext cx="10241280" cy="777240"/>
          </a:xfrm>
          <a:prstGeom prst="rect">
            <a:avLst/>
          </a:prstGeom>
          <a:noFill/>
          <a:ln/>
        </p:spPr>
        <p:txBody>
          <a:bodyPr wrap="square" lIns="0" tIns="0" rIns="0" bIns="0" rtlCol="0" anchor="ctr"/>
          <a:lstStyle/>
          <a:p>
            <a:pPr indent="0" marL="0">
              <a:buNone/>
            </a:pPr>
            <a:r>
              <a:rPr lang="en-US" sz="1150" dirty="0">
                <a:solidFill>
                  <a:srgbClr val="8A5A1E"/>
                </a:solidFill>
                <a:latin typeface="Calibri" pitchFamily="34" charset="0"/>
                <a:ea typeface="Calibri" pitchFamily="34" charset="-122"/>
                <a:cs typeface="Calibri" pitchFamily="34" charset="-120"/>
              </a:rPr>
              <a:t>Practice: replace all empty first or last names with a default value. Then: assuming a student's minimum age for the class is 15, find the average age of a student, replacing any missing age with that minimum of 15.</a:t>
            </a:r>
            <a:endParaRPr lang="en-US" sz="1150" dirty="0"/>
          </a:p>
        </p:txBody>
      </p:sp>
      <p:sp>
        <p:nvSpPr>
          <p:cNvPr id="13" name="Text 1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4" name="Text 1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C2C"/>
        </a:solidFill>
      </p:bgPr>
    </p:bg>
    <p:spTree>
      <p:nvGrpSpPr>
        <p:cNvPr id="1" name=""/>
        <p:cNvGrpSpPr/>
        <p:nvPr/>
      </p:nvGrpSpPr>
      <p:grpSpPr>
        <a:xfrm>
          <a:off x="0" y="0"/>
          <a:ext cx="0" cy="0"/>
          <a:chOff x="0" y="0"/>
          <a:chExt cx="0" cy="0"/>
        </a:xfrm>
      </p:grpSpPr>
      <p:sp>
        <p:nvSpPr>
          <p:cNvPr id="2" name="Shape 0"/>
          <p:cNvSpPr/>
          <p:nvPr/>
        </p:nvSpPr>
        <p:spPr>
          <a:xfrm>
            <a:off x="9692640" y="731520"/>
            <a:ext cx="146304" cy="146304"/>
          </a:xfrm>
          <a:prstGeom prst="ellipse">
            <a:avLst/>
          </a:prstGeom>
          <a:solidFill>
            <a:srgbClr val="0FA3B1"/>
          </a:solidFill>
          <a:ln/>
        </p:spPr>
      </p:sp>
      <p:sp>
        <p:nvSpPr>
          <p:cNvPr id="3" name="Shape 1"/>
          <p:cNvSpPr/>
          <p:nvPr/>
        </p:nvSpPr>
        <p:spPr>
          <a:xfrm>
            <a:off x="10424160" y="1188720"/>
            <a:ext cx="146304" cy="146304"/>
          </a:xfrm>
          <a:prstGeom prst="ellipse">
            <a:avLst/>
          </a:prstGeom>
          <a:solidFill>
            <a:srgbClr val="0FA3B1"/>
          </a:solidFill>
          <a:ln/>
        </p:spPr>
      </p:sp>
      <p:sp>
        <p:nvSpPr>
          <p:cNvPr id="4" name="Shape 2"/>
          <p:cNvSpPr/>
          <p:nvPr/>
        </p:nvSpPr>
        <p:spPr>
          <a:xfrm>
            <a:off x="9326880" y="1645920"/>
            <a:ext cx="146304" cy="146304"/>
          </a:xfrm>
          <a:prstGeom prst="ellipse">
            <a:avLst/>
          </a:prstGeom>
          <a:solidFill>
            <a:srgbClr val="0FA3B1"/>
          </a:solidFill>
          <a:ln/>
        </p:spPr>
      </p:sp>
      <p:sp>
        <p:nvSpPr>
          <p:cNvPr id="5" name="Shape 3"/>
          <p:cNvSpPr/>
          <p:nvPr/>
        </p:nvSpPr>
        <p:spPr>
          <a:xfrm>
            <a:off x="11064240" y="822960"/>
            <a:ext cx="146304" cy="146304"/>
          </a:xfrm>
          <a:prstGeom prst="ellipse">
            <a:avLst/>
          </a:prstGeom>
          <a:solidFill>
            <a:srgbClr val="0FA3B1"/>
          </a:solidFill>
          <a:ln/>
        </p:spPr>
      </p:sp>
      <p:sp>
        <p:nvSpPr>
          <p:cNvPr id="6" name="Shape 4"/>
          <p:cNvSpPr/>
          <p:nvPr/>
        </p:nvSpPr>
        <p:spPr>
          <a:xfrm>
            <a:off x="10881360" y="2011680"/>
            <a:ext cx="146304" cy="146304"/>
          </a:xfrm>
          <a:prstGeom prst="ellipse">
            <a:avLst/>
          </a:prstGeom>
          <a:solidFill>
            <a:srgbClr val="0FA3B1"/>
          </a:solidFill>
          <a:ln/>
        </p:spPr>
      </p:sp>
      <p:sp>
        <p:nvSpPr>
          <p:cNvPr id="7" name="Shape 5"/>
          <p:cNvSpPr/>
          <p:nvPr/>
        </p:nvSpPr>
        <p:spPr>
          <a:xfrm>
            <a:off x="9875520" y="2377440"/>
            <a:ext cx="146304" cy="146304"/>
          </a:xfrm>
          <a:prstGeom prst="ellipse">
            <a:avLst/>
          </a:prstGeom>
          <a:solidFill>
            <a:srgbClr val="0FA3B1"/>
          </a:solidFill>
          <a:ln/>
        </p:spPr>
      </p:sp>
      <p:sp>
        <p:nvSpPr>
          <p:cNvPr id="8" name="Text 6"/>
          <p:cNvSpPr/>
          <p:nvPr/>
        </p:nvSpPr>
        <p:spPr>
          <a:xfrm>
            <a:off x="822960" y="2651760"/>
            <a:ext cx="7315200" cy="457200"/>
          </a:xfrm>
          <a:prstGeom prst="rect">
            <a:avLst/>
          </a:prstGeom>
          <a:noFill/>
          <a:ln/>
        </p:spPr>
        <p:txBody>
          <a:bodyPr wrap="square" lIns="0" tIns="0" rIns="0" bIns="0" rtlCol="0" anchor="ctr"/>
          <a:lstStyle/>
          <a:p>
            <a:pPr indent="0" marL="0">
              <a:buNone/>
            </a:pPr>
            <a:r>
              <a:rPr lang="en-US" sz="1400" b="1" spc="300" kern="0" dirty="0">
                <a:solidFill>
                  <a:srgbClr val="2FBF8F"/>
                </a:solidFill>
                <a:latin typeface="Calibri" pitchFamily="34" charset="0"/>
                <a:ea typeface="Calibri" pitchFamily="34" charset="-122"/>
                <a:cs typeface="Calibri" pitchFamily="34" charset="-120"/>
              </a:rPr>
              <a:t>PART 6</a:t>
            </a:r>
            <a:endParaRPr lang="en-US" sz="1400" dirty="0"/>
          </a:p>
        </p:txBody>
      </p:sp>
      <p:sp>
        <p:nvSpPr>
          <p:cNvPr id="9" name="Text 7"/>
          <p:cNvSpPr/>
          <p:nvPr/>
        </p:nvSpPr>
        <p:spPr>
          <a:xfrm>
            <a:off x="822960" y="3063240"/>
            <a:ext cx="10058400" cy="10972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Grouping, Pattern Matching &amp; Sorting</a:t>
            </a:r>
            <a:endParaRPr lang="en-US" sz="3800" dirty="0"/>
          </a:p>
        </p:txBody>
      </p:sp>
      <p:sp>
        <p:nvSpPr>
          <p:cNvPr id="10" name="Shape 8"/>
          <p:cNvSpPr/>
          <p:nvPr/>
        </p:nvSpPr>
        <p:spPr>
          <a:xfrm>
            <a:off x="822960" y="3977640"/>
            <a:ext cx="2011680" cy="0"/>
          </a:xfrm>
          <a:prstGeom prst="line">
            <a:avLst/>
          </a:prstGeom>
          <a:noFill/>
          <a:ln w="25400">
            <a:solidFill>
              <a:srgbClr val="2FBF8F"/>
            </a:solidFill>
            <a:prstDash val="solid"/>
          </a:ln>
        </p:spPr>
      </p:sp>
      <p:sp>
        <p:nvSpPr>
          <p:cNvPr id="11" name="Text 9"/>
          <p:cNvSpPr/>
          <p:nvPr/>
        </p:nvSpPr>
        <p:spPr>
          <a:xfrm>
            <a:off x="822960" y="4160520"/>
            <a:ext cx="9144000" cy="548640"/>
          </a:xfrm>
          <a:prstGeom prst="rect">
            <a:avLst/>
          </a:prstGeom>
          <a:noFill/>
          <a:ln/>
        </p:spPr>
        <p:txBody>
          <a:bodyPr wrap="square" lIns="0" tIns="0" rIns="0" bIns="0" rtlCol="0" anchor="ctr"/>
          <a:lstStyle/>
          <a:p>
            <a:pPr indent="0" marL="0">
              <a:buNone/>
            </a:pPr>
            <a:r>
              <a:rPr lang="en-US" sz="1500" i="1" dirty="0">
                <a:solidFill>
                  <a:srgbClr val="BFD6E8"/>
                </a:solidFill>
                <a:latin typeface="Calibri" pitchFamily="34" charset="0"/>
                <a:ea typeface="Calibri" pitchFamily="34" charset="-122"/>
                <a:cs typeface="Calibri" pitchFamily="34" charset="-120"/>
              </a:rPr>
              <a:t>GROUP BY, HAVING, LIKE wildcards, ORDER BY, and query order of operations</a:t>
            </a:r>
            <a:endParaRPr lang="en-US" sz="15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3"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6</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GROUP BY — Summarizing by Category</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Collapse many rows into one row per unique value — the key to per-category aggregate questions</a:t>
            </a:r>
            <a:endParaRPr lang="en-US" sz="1350" dirty="0"/>
          </a:p>
        </p:txBody>
      </p:sp>
      <p:sp>
        <p:nvSpPr>
          <p:cNvPr id="6" name="Shape 4"/>
          <p:cNvSpPr/>
          <p:nvPr/>
        </p:nvSpPr>
        <p:spPr>
          <a:xfrm>
            <a:off x="548640" y="1965960"/>
            <a:ext cx="10652760" cy="822960"/>
          </a:xfrm>
          <a:prstGeom prst="roundRect">
            <a:avLst>
              <a:gd name="adj" fmla="val 8889"/>
            </a:avLst>
          </a:prstGeom>
          <a:solidFill>
            <a:srgbClr val="0E2A3D"/>
          </a:solidFill>
          <a:ln/>
        </p:spPr>
      </p:sp>
      <p:sp>
        <p:nvSpPr>
          <p:cNvPr id="7" name="Text 5"/>
          <p:cNvSpPr/>
          <p:nvPr/>
        </p:nvSpPr>
        <p:spPr>
          <a:xfrm>
            <a:off x="749808" y="2039112"/>
            <a:ext cx="10250424" cy="676656"/>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SELECT column_name, COUNT(column_name)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FROM table_name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GROUP BY column_name;</a:t>
            </a:r>
            <a:endParaRPr lang="en-US" sz="1500" dirty="0"/>
          </a:p>
        </p:txBody>
      </p:sp>
      <p:sp>
        <p:nvSpPr>
          <p:cNvPr id="8" name="Shape 6"/>
          <p:cNvSpPr/>
          <p:nvPr/>
        </p:nvSpPr>
        <p:spPr>
          <a:xfrm>
            <a:off x="548640" y="2953512"/>
            <a:ext cx="10652760" cy="530352"/>
          </a:xfrm>
          <a:prstGeom prst="roundRect">
            <a:avLst>
              <a:gd name="adj" fmla="val 10345"/>
            </a:avLst>
          </a:prstGeom>
          <a:solidFill>
            <a:srgbClr val="F2F6FA"/>
          </a:solidFill>
          <a:ln/>
        </p:spPr>
      </p:sp>
      <p:sp>
        <p:nvSpPr>
          <p:cNvPr id="9" name="Text 7"/>
          <p:cNvSpPr/>
          <p:nvPr/>
        </p:nvSpPr>
        <p:spPr>
          <a:xfrm>
            <a:off x="777240" y="2953512"/>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GROUP BY column</a:t>
            </a:r>
            <a:endParaRPr lang="en-US" sz="1250" dirty="0"/>
          </a:p>
        </p:txBody>
      </p:sp>
      <p:sp>
        <p:nvSpPr>
          <p:cNvPr id="10" name="Text 8"/>
          <p:cNvSpPr/>
          <p:nvPr/>
        </p:nvSpPr>
        <p:spPr>
          <a:xfrm>
            <a:off x="3291840" y="2953512"/>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Buckets rows that share the same value in this column into one group</a:t>
            </a:r>
            <a:endParaRPr lang="en-US" sz="1200" dirty="0"/>
          </a:p>
        </p:txBody>
      </p:sp>
      <p:sp>
        <p:nvSpPr>
          <p:cNvPr id="11" name="Shape 9"/>
          <p:cNvSpPr/>
          <p:nvPr/>
        </p:nvSpPr>
        <p:spPr>
          <a:xfrm>
            <a:off x="548640" y="3566160"/>
            <a:ext cx="10652760" cy="530352"/>
          </a:xfrm>
          <a:prstGeom prst="roundRect">
            <a:avLst>
              <a:gd name="adj" fmla="val 10345"/>
            </a:avLst>
          </a:prstGeom>
          <a:solidFill>
            <a:srgbClr val="F2F6FA"/>
          </a:solidFill>
          <a:ln/>
        </p:spPr>
      </p:sp>
      <p:sp>
        <p:nvSpPr>
          <p:cNvPr id="12" name="Text 10"/>
          <p:cNvSpPr/>
          <p:nvPr/>
        </p:nvSpPr>
        <p:spPr>
          <a:xfrm>
            <a:off x="777240" y="3566160"/>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aggregate function</a:t>
            </a:r>
            <a:endParaRPr lang="en-US" sz="1250" dirty="0"/>
          </a:p>
        </p:txBody>
      </p:sp>
      <p:sp>
        <p:nvSpPr>
          <p:cNvPr id="13" name="Text 11"/>
          <p:cNvSpPr/>
          <p:nvPr/>
        </p:nvSpPr>
        <p:spPr>
          <a:xfrm>
            <a:off x="3291840" y="3566160"/>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Runs separately within each group, not across the whole table</a:t>
            </a:r>
            <a:endParaRPr lang="en-US" sz="1200" dirty="0"/>
          </a:p>
        </p:txBody>
      </p:sp>
      <p:sp>
        <p:nvSpPr>
          <p:cNvPr id="14" name="Shape 12"/>
          <p:cNvSpPr/>
          <p:nvPr/>
        </p:nvSpPr>
        <p:spPr>
          <a:xfrm>
            <a:off x="548640" y="4251960"/>
            <a:ext cx="10652760" cy="548640"/>
          </a:xfrm>
          <a:prstGeom prst="roundRect">
            <a:avLst>
              <a:gd name="adj" fmla="val 10000"/>
            </a:avLst>
          </a:prstGeom>
          <a:solidFill>
            <a:srgbClr val="FFF4E8"/>
          </a:solidFill>
          <a:ln/>
        </p:spPr>
      </p:sp>
      <p:sp>
        <p:nvSpPr>
          <p:cNvPr id="15" name="Text 13"/>
          <p:cNvSpPr/>
          <p:nvPr/>
        </p:nvSpPr>
        <p:spPr>
          <a:xfrm>
            <a:off x="777240" y="4251960"/>
            <a:ext cx="10241280" cy="548640"/>
          </a:xfrm>
          <a:prstGeom prst="rect">
            <a:avLst/>
          </a:prstGeom>
          <a:noFill/>
          <a:ln/>
        </p:spPr>
        <p:txBody>
          <a:bodyPr wrap="square" lIns="0" tIns="0" rIns="0" bIns="0" rtlCol="0" anchor="ctr"/>
          <a:lstStyle/>
          <a:p>
            <a:pPr indent="0" marL="0">
              <a:buNone/>
            </a:pPr>
            <a:r>
              <a:rPr lang="en-US" sz="1150" dirty="0">
                <a:solidFill>
                  <a:srgbClr val="8A5A1E"/>
                </a:solidFill>
                <a:latin typeface="Calibri" pitchFamily="34" charset="0"/>
                <a:ea typeface="Calibri" pitchFamily="34" charset="-122"/>
                <a:cs typeface="Calibri" pitchFamily="34" charset="-120"/>
              </a:rPr>
              <a:t>Practice question: how many people were hired on any given hire date?</a:t>
            </a:r>
            <a:endParaRPr lang="en-US" sz="115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6</a:t>
            </a:r>
            <a:endParaRPr lang="en-US" sz="1050" dirty="0"/>
          </a:p>
        </p:txBody>
      </p:sp>
      <p:sp>
        <p:nvSpPr>
          <p:cNvPr id="4" name="Text 2"/>
          <p:cNvSpPr/>
          <p:nvPr/>
        </p:nvSpPr>
        <p:spPr>
          <a:xfrm>
            <a:off x="548640" y="914400"/>
            <a:ext cx="10058400" cy="777240"/>
          </a:xfrm>
          <a:prstGeom prst="rect">
            <a:avLst/>
          </a:prstGeom>
          <a:noFill/>
          <a:ln/>
        </p:spPr>
        <p:txBody>
          <a:bodyPr wrap="square" lIns="0" tIns="0" rIns="0" bIns="0" rtlCol="0" anchor="t"/>
          <a:lstStyle/>
          <a:p>
            <a:pPr indent="0" marL="0">
              <a:buNone/>
            </a:pPr>
            <a:r>
              <a:rPr lang="en-US" sz="2600" b="1" dirty="0">
                <a:solidFill>
                  <a:srgbClr val="16202A"/>
                </a:solidFill>
                <a:latin typeface="Cambria" pitchFamily="34" charset="0"/>
                <a:ea typeface="Cambria" pitchFamily="34" charset="-122"/>
                <a:cs typeface="Cambria" pitchFamily="34" charset="-120"/>
              </a:rPr>
              <a:t>HAVING — Filtering Grouped Results</a:t>
            </a:r>
            <a:endParaRPr lang="en-US" sz="26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With GROUP BY, you filter on the aggregate result using HAVING instead of WHERE</a:t>
            </a:r>
            <a:endParaRPr lang="en-US" sz="1250" dirty="0"/>
          </a:p>
        </p:txBody>
      </p:sp>
      <p:sp>
        <p:nvSpPr>
          <p:cNvPr id="6" name="Shape 4"/>
          <p:cNvSpPr/>
          <p:nvPr/>
        </p:nvSpPr>
        <p:spPr>
          <a:xfrm>
            <a:off x="548640" y="1965960"/>
            <a:ext cx="5212080" cy="1463040"/>
          </a:xfrm>
          <a:prstGeom prst="roundRect">
            <a:avLst>
              <a:gd name="adj" fmla="val 5000"/>
            </a:avLst>
          </a:prstGeom>
          <a:solidFill>
            <a:srgbClr val="F2F6FA"/>
          </a:solidFill>
          <a:ln/>
        </p:spPr>
      </p:sp>
      <p:sp>
        <p:nvSpPr>
          <p:cNvPr id="7" name="Text 5"/>
          <p:cNvSpPr/>
          <p:nvPr/>
        </p:nvSpPr>
        <p:spPr>
          <a:xfrm>
            <a:off x="777240" y="2103120"/>
            <a:ext cx="4754880" cy="320040"/>
          </a:xfrm>
          <a:prstGeom prst="rect">
            <a:avLst/>
          </a:prstGeom>
          <a:noFill/>
          <a:ln/>
        </p:spPr>
        <p:txBody>
          <a:bodyPr wrap="square" lIns="0" tIns="0" rIns="0" bIns="0" rtlCol="0" anchor="ctr"/>
          <a:lstStyle/>
          <a:p>
            <a:pPr indent="0" marL="0">
              <a:buNone/>
            </a:pPr>
            <a:r>
              <a:rPr lang="en-US" sz="1500" b="1" dirty="0">
                <a:solidFill>
                  <a:srgbClr val="1E56A0"/>
                </a:solidFill>
                <a:latin typeface="Cambria" pitchFamily="34" charset="0"/>
                <a:ea typeface="Cambria" pitchFamily="34" charset="-122"/>
                <a:cs typeface="Cambria" pitchFamily="34" charset="-120"/>
              </a:rPr>
              <a:t>WHERE</a:t>
            </a:r>
            <a:endParaRPr lang="en-US" sz="1500" dirty="0"/>
          </a:p>
        </p:txBody>
      </p:sp>
      <p:sp>
        <p:nvSpPr>
          <p:cNvPr id="8" name="Text 6"/>
          <p:cNvSpPr/>
          <p:nvPr/>
        </p:nvSpPr>
        <p:spPr>
          <a:xfrm>
            <a:off x="777240" y="2468880"/>
            <a:ext cx="4754880" cy="9144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Filters individual rows, before any grouping happens. Cannot reference an aggregate function.</a:t>
            </a:r>
            <a:endParaRPr lang="en-US" sz="1150" dirty="0"/>
          </a:p>
        </p:txBody>
      </p:sp>
      <p:sp>
        <p:nvSpPr>
          <p:cNvPr id="9" name="Shape 7"/>
          <p:cNvSpPr/>
          <p:nvPr/>
        </p:nvSpPr>
        <p:spPr>
          <a:xfrm>
            <a:off x="5989320" y="1965960"/>
            <a:ext cx="5212080" cy="1463040"/>
          </a:xfrm>
          <a:prstGeom prst="roundRect">
            <a:avLst>
              <a:gd name="adj" fmla="val 5000"/>
            </a:avLst>
          </a:prstGeom>
          <a:solidFill>
            <a:srgbClr val="F2F6FA"/>
          </a:solidFill>
          <a:ln/>
        </p:spPr>
      </p:sp>
      <p:sp>
        <p:nvSpPr>
          <p:cNvPr id="10" name="Text 8"/>
          <p:cNvSpPr/>
          <p:nvPr/>
        </p:nvSpPr>
        <p:spPr>
          <a:xfrm>
            <a:off x="6217920" y="2103120"/>
            <a:ext cx="4754880" cy="320040"/>
          </a:xfrm>
          <a:prstGeom prst="rect">
            <a:avLst/>
          </a:prstGeom>
          <a:noFill/>
          <a:ln/>
        </p:spPr>
        <p:txBody>
          <a:bodyPr wrap="square" lIns="0" tIns="0" rIns="0" bIns="0" rtlCol="0" anchor="ctr"/>
          <a:lstStyle/>
          <a:p>
            <a:pPr indent="0" marL="0">
              <a:buNone/>
            </a:pPr>
            <a:r>
              <a:rPr lang="en-US" sz="1500" b="1" dirty="0">
                <a:solidFill>
                  <a:srgbClr val="1E56A0"/>
                </a:solidFill>
                <a:latin typeface="Cambria" pitchFamily="34" charset="0"/>
                <a:ea typeface="Cambria" pitchFamily="34" charset="-122"/>
                <a:cs typeface="Cambria" pitchFamily="34" charset="-120"/>
              </a:rPr>
              <a:t>HAVING</a:t>
            </a:r>
            <a:endParaRPr lang="en-US" sz="1500" dirty="0"/>
          </a:p>
        </p:txBody>
      </p:sp>
      <p:sp>
        <p:nvSpPr>
          <p:cNvPr id="11" name="Text 9"/>
          <p:cNvSpPr/>
          <p:nvPr/>
        </p:nvSpPr>
        <p:spPr>
          <a:xfrm>
            <a:off x="6217920" y="2468880"/>
            <a:ext cx="4754880" cy="9144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Filters whole groups, after GROUP BY has run. Built specifically to reference aggregate functions.</a:t>
            </a:r>
            <a:endParaRPr lang="en-US" sz="1150" dirty="0"/>
          </a:p>
        </p:txBody>
      </p:sp>
      <p:sp>
        <p:nvSpPr>
          <p:cNvPr id="12" name="Text 10"/>
          <p:cNvSpPr/>
          <p:nvPr/>
        </p:nvSpPr>
        <p:spPr>
          <a:xfrm>
            <a:off x="548640" y="3611880"/>
            <a:ext cx="10607040" cy="320040"/>
          </a:xfrm>
          <a:prstGeom prst="rect">
            <a:avLst/>
          </a:prstGeom>
          <a:noFill/>
          <a:ln/>
        </p:spPr>
        <p:txBody>
          <a:bodyPr wrap="square" lIns="0" tIns="0" rIns="0" bIns="0" rtlCol="0" anchor="ctr"/>
          <a:lstStyle/>
          <a:p>
            <a:pPr indent="0" marL="0">
              <a:buNone/>
            </a:pPr>
            <a:r>
              <a:rPr lang="en-US" sz="1300" b="1" dirty="0">
                <a:solidFill>
                  <a:srgbClr val="1E56A0"/>
                </a:solidFill>
                <a:latin typeface="Calibri" pitchFamily="34" charset="0"/>
                <a:ea typeface="Calibri" pitchFamily="34" charset="-122"/>
                <a:cs typeface="Calibri" pitchFamily="34" charset="-120"/>
              </a:rPr>
              <a:t>Question:  </a:t>
            </a:r>
            <a:pPr indent="0" marL="0">
              <a:buNone/>
            </a:pPr>
            <a:r>
              <a:rPr lang="en-US" sz="1300" i="1" dirty="0">
                <a:solidFill>
                  <a:srgbClr val="16202A"/>
                </a:solidFill>
                <a:latin typeface="Calibri" pitchFamily="34" charset="0"/>
                <a:ea typeface="Calibri" pitchFamily="34" charset="-122"/>
                <a:cs typeface="Calibri" pitchFamily="34" charset="-120"/>
              </a:rPr>
              <a:t>Show me all employees that have had more than 15 salary changes</a:t>
            </a:r>
            <a:endParaRPr lang="en-US" sz="1300" dirty="0"/>
          </a:p>
        </p:txBody>
      </p:sp>
      <p:sp>
        <p:nvSpPr>
          <p:cNvPr id="13" name="Shape 11"/>
          <p:cNvSpPr/>
          <p:nvPr/>
        </p:nvSpPr>
        <p:spPr>
          <a:xfrm>
            <a:off x="548640" y="3950208"/>
            <a:ext cx="10652760" cy="1005840"/>
          </a:xfrm>
          <a:prstGeom prst="roundRect">
            <a:avLst>
              <a:gd name="adj" fmla="val 7273"/>
            </a:avLst>
          </a:prstGeom>
          <a:solidFill>
            <a:srgbClr val="0E2A3D"/>
          </a:solidFill>
          <a:ln/>
        </p:spPr>
      </p:sp>
      <p:sp>
        <p:nvSpPr>
          <p:cNvPr id="14" name="Text 12"/>
          <p:cNvSpPr/>
          <p:nvPr/>
        </p:nvSpPr>
        <p:spPr>
          <a:xfrm>
            <a:off x="749808" y="4023360"/>
            <a:ext cx="10250424" cy="859536"/>
          </a:xfrm>
          <a:prstGeom prst="rect">
            <a:avLst/>
          </a:prstGeom>
          <a:noFill/>
          <a:ln/>
        </p:spPr>
        <p:txBody>
          <a:bodyPr wrap="square" lIns="0" tIns="0" rIns="0" bIns="0" rtlCol="0" anchor="t"/>
          <a:lstStyle/>
          <a:p>
            <a:pPr algn="l" indent="0" marL="0">
              <a:lnSpc>
                <a:spcPct val="125000"/>
              </a:lnSpc>
              <a:buNone/>
            </a:pPr>
            <a:r>
              <a:rPr lang="en-US" sz="1250" dirty="0">
                <a:solidFill>
                  <a:srgbClr val="BEE9FF"/>
                </a:solidFill>
                <a:latin typeface="Courier New" pitchFamily="34" charset="0"/>
                <a:ea typeface="Courier New" pitchFamily="34" charset="-122"/>
                <a:cs typeface="Courier New" pitchFamily="34" charset="-120"/>
              </a:rPr>
              <a:t>SELECT emp_no, COUNT(salary) AS "salary_changes"</a:t>
            </a:r>
            <a:endParaRPr lang="en-US" sz="1250" dirty="0"/>
          </a:p>
          <a:p>
            <a:pPr algn="l" indent="0" marL="0">
              <a:lnSpc>
                <a:spcPct val="125000"/>
              </a:lnSpc>
              <a:buNone/>
            </a:pPr>
            <a:r>
              <a:rPr lang="en-US" sz="1250" dirty="0">
                <a:solidFill>
                  <a:srgbClr val="BEE9FF"/>
                </a:solidFill>
                <a:latin typeface="Courier New" pitchFamily="34" charset="0"/>
                <a:ea typeface="Courier New" pitchFamily="34" charset="-122"/>
                <a:cs typeface="Courier New" pitchFamily="34" charset="-120"/>
              </a:rPr>
              <a:t>FROM salaries</a:t>
            </a:r>
            <a:endParaRPr lang="en-US" sz="1250" dirty="0"/>
          </a:p>
          <a:p>
            <a:pPr algn="l" indent="0" marL="0">
              <a:lnSpc>
                <a:spcPct val="125000"/>
              </a:lnSpc>
              <a:buNone/>
            </a:pPr>
            <a:r>
              <a:rPr lang="en-US" sz="1250" dirty="0">
                <a:solidFill>
                  <a:srgbClr val="BEE9FF"/>
                </a:solidFill>
                <a:latin typeface="Courier New" pitchFamily="34" charset="0"/>
                <a:ea typeface="Courier New" pitchFamily="34" charset="-122"/>
                <a:cs typeface="Courier New" pitchFamily="34" charset="-120"/>
              </a:rPr>
              <a:t>GROUP BY emp_no</a:t>
            </a:r>
            <a:endParaRPr lang="en-US" sz="1250" dirty="0"/>
          </a:p>
          <a:p>
            <a:pPr algn="l" indent="0" marL="0">
              <a:lnSpc>
                <a:spcPct val="125000"/>
              </a:lnSpc>
              <a:buNone/>
            </a:pPr>
            <a:r>
              <a:rPr lang="en-US" sz="1250" dirty="0">
                <a:solidFill>
                  <a:srgbClr val="BEE9FF"/>
                </a:solidFill>
                <a:latin typeface="Courier New" pitchFamily="34" charset="0"/>
                <a:ea typeface="Courier New" pitchFamily="34" charset="-122"/>
                <a:cs typeface="Courier New" pitchFamily="34" charset="-120"/>
              </a:rPr>
              <a:t>HAVING COUNT(salary) &gt; 15;</a:t>
            </a:r>
            <a:endParaRPr lang="en-US" sz="1250" dirty="0"/>
          </a:p>
        </p:txBody>
      </p:sp>
      <p:sp>
        <p:nvSpPr>
          <p:cNvPr id="15" name="Shape 13"/>
          <p:cNvSpPr/>
          <p:nvPr/>
        </p:nvSpPr>
        <p:spPr>
          <a:xfrm>
            <a:off x="548640" y="5074920"/>
            <a:ext cx="10652760" cy="594360"/>
          </a:xfrm>
          <a:prstGeom prst="roundRect">
            <a:avLst>
              <a:gd name="adj" fmla="val 10769"/>
            </a:avLst>
          </a:prstGeom>
          <a:solidFill>
            <a:srgbClr val="FFF4E8"/>
          </a:solidFill>
          <a:ln/>
        </p:spPr>
      </p:sp>
      <p:sp>
        <p:nvSpPr>
          <p:cNvPr id="16" name="Text 14"/>
          <p:cNvSpPr/>
          <p:nvPr/>
        </p:nvSpPr>
        <p:spPr>
          <a:xfrm>
            <a:off x="777240" y="5074920"/>
            <a:ext cx="10241280" cy="594360"/>
          </a:xfrm>
          <a:prstGeom prst="rect">
            <a:avLst/>
          </a:prstGeom>
          <a:noFill/>
          <a:ln/>
        </p:spPr>
        <p:txBody>
          <a:bodyPr wrap="square" lIns="0" tIns="0" rIns="0" bIns="0" rtlCol="0" anchor="ctr"/>
          <a:lstStyle/>
          <a:p>
            <a:pPr indent="0" marL="0">
              <a:buNone/>
            </a:pPr>
            <a:r>
              <a:rPr lang="en-US" sz="1150" b="1" dirty="0">
                <a:solidFill>
                  <a:srgbClr val="8A5A1E"/>
                </a:solidFill>
                <a:latin typeface="Calibri" pitchFamily="34" charset="0"/>
                <a:ea typeface="Calibri" pitchFamily="34" charset="-122"/>
                <a:cs typeface="Calibri" pitchFamily="34" charset="-120"/>
              </a:rPr>
              <a:t>Note:  </a:t>
            </a:r>
            <a:pPr indent="0" marL="0">
              <a:buNone/>
            </a:pPr>
            <a:r>
              <a:rPr lang="en-US" sz="1150" dirty="0">
                <a:solidFill>
                  <a:srgbClr val="8A5A1E"/>
                </a:solidFill>
                <a:latin typeface="Calibri" pitchFamily="34" charset="0"/>
                <a:ea typeface="Calibri" pitchFamily="34" charset="-122"/>
                <a:cs typeface="Calibri" pitchFamily="34" charset="-120"/>
              </a:rPr>
              <a:t>MIN() on a date column returns the earliest date; MAX() returns the most recent — useful when grouping by employee to find their first or latest salary change.</a:t>
            </a:r>
            <a:endParaRPr lang="en-US" sz="1150" dirty="0"/>
          </a:p>
        </p:txBody>
      </p:sp>
      <p:sp>
        <p:nvSpPr>
          <p:cNvPr id="17" name="Text 15"/>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8"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6</a:t>
            </a:r>
            <a:endParaRPr lang="en-US" sz="1050" dirty="0"/>
          </a:p>
        </p:txBody>
      </p:sp>
      <p:sp>
        <p:nvSpPr>
          <p:cNvPr id="4" name="Text 2"/>
          <p:cNvSpPr/>
          <p:nvPr/>
        </p:nvSpPr>
        <p:spPr>
          <a:xfrm>
            <a:off x="548640" y="914400"/>
            <a:ext cx="9601200" cy="777240"/>
          </a:xfrm>
          <a:prstGeom prst="rect">
            <a:avLst/>
          </a:prstGeom>
          <a:noFill/>
          <a:ln/>
        </p:spPr>
        <p:txBody>
          <a:bodyPr wrap="square" lIns="0" tIns="0" rIns="0" bIns="0" rtlCol="0" anchor="t"/>
          <a:lstStyle/>
          <a:p>
            <a:pPr indent="0" marL="0">
              <a:buNone/>
            </a:pPr>
            <a:r>
              <a:rPr lang="en-US" sz="2600" b="1" dirty="0">
                <a:solidFill>
                  <a:srgbClr val="16202A"/>
                </a:solidFill>
                <a:latin typeface="Cambria" pitchFamily="34" charset="0"/>
                <a:ea typeface="Cambria" pitchFamily="34" charset="-122"/>
                <a:cs typeface="Cambria" pitchFamily="34" charset="-120"/>
              </a:rPr>
              <a:t>Partial Lookup: LIKE &amp; Wildcards</a:t>
            </a:r>
            <a:endParaRPr lang="en-US" sz="26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LIKE matches text patterns using two wildcard characters: % and _</a:t>
            </a:r>
            <a:endParaRPr lang="en-US" sz="1300" dirty="0"/>
          </a:p>
        </p:txBody>
      </p:sp>
      <p:sp>
        <p:nvSpPr>
          <p:cNvPr id="6" name="Shape 4"/>
          <p:cNvSpPr/>
          <p:nvPr/>
        </p:nvSpPr>
        <p:spPr>
          <a:xfrm>
            <a:off x="548640" y="2011680"/>
            <a:ext cx="5212080" cy="685800"/>
          </a:xfrm>
          <a:prstGeom prst="roundRect">
            <a:avLst>
              <a:gd name="adj" fmla="val 9333"/>
            </a:avLst>
          </a:prstGeom>
          <a:solidFill>
            <a:srgbClr val="F2F6FA"/>
          </a:solidFill>
          <a:ln/>
        </p:spPr>
      </p:sp>
      <p:sp>
        <p:nvSpPr>
          <p:cNvPr id="7" name="Text 5"/>
          <p:cNvSpPr/>
          <p:nvPr/>
        </p:nvSpPr>
        <p:spPr>
          <a:xfrm>
            <a:off x="777240" y="2011680"/>
            <a:ext cx="731520" cy="685800"/>
          </a:xfrm>
          <a:prstGeom prst="rect">
            <a:avLst/>
          </a:prstGeom>
          <a:noFill/>
          <a:ln/>
        </p:spPr>
        <p:txBody>
          <a:bodyPr wrap="square" lIns="0" tIns="0" rIns="0" bIns="0" rtlCol="0" anchor="ctr"/>
          <a:lstStyle/>
          <a:p>
            <a:pPr indent="0" marL="0">
              <a:buNone/>
            </a:pPr>
            <a:r>
              <a:rPr lang="en-US" sz="2200" b="1" dirty="0">
                <a:solidFill>
                  <a:srgbClr val="1E56A0"/>
                </a:solidFill>
                <a:latin typeface="Courier New" pitchFamily="34" charset="0"/>
                <a:ea typeface="Courier New" pitchFamily="34" charset="-122"/>
                <a:cs typeface="Courier New" pitchFamily="34" charset="-120"/>
              </a:rPr>
              <a:t>%</a:t>
            </a:r>
            <a:endParaRPr lang="en-US" sz="2200" dirty="0"/>
          </a:p>
        </p:txBody>
      </p:sp>
      <p:sp>
        <p:nvSpPr>
          <p:cNvPr id="8" name="Text 6"/>
          <p:cNvSpPr/>
          <p:nvPr/>
        </p:nvSpPr>
        <p:spPr>
          <a:xfrm>
            <a:off x="1554480" y="2011680"/>
            <a:ext cx="4023360" cy="6858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Any number of characters (including zero)</a:t>
            </a:r>
            <a:endParaRPr lang="en-US" sz="1150" dirty="0"/>
          </a:p>
        </p:txBody>
      </p:sp>
      <p:sp>
        <p:nvSpPr>
          <p:cNvPr id="9" name="Shape 7"/>
          <p:cNvSpPr/>
          <p:nvPr/>
        </p:nvSpPr>
        <p:spPr>
          <a:xfrm>
            <a:off x="5989320" y="2011680"/>
            <a:ext cx="5212080" cy="685800"/>
          </a:xfrm>
          <a:prstGeom prst="roundRect">
            <a:avLst>
              <a:gd name="adj" fmla="val 9333"/>
            </a:avLst>
          </a:prstGeom>
          <a:solidFill>
            <a:srgbClr val="F2F6FA"/>
          </a:solidFill>
          <a:ln/>
        </p:spPr>
      </p:sp>
      <p:sp>
        <p:nvSpPr>
          <p:cNvPr id="10" name="Text 8"/>
          <p:cNvSpPr/>
          <p:nvPr/>
        </p:nvSpPr>
        <p:spPr>
          <a:xfrm>
            <a:off x="6217920" y="2011680"/>
            <a:ext cx="731520" cy="685800"/>
          </a:xfrm>
          <a:prstGeom prst="rect">
            <a:avLst/>
          </a:prstGeom>
          <a:noFill/>
          <a:ln/>
        </p:spPr>
        <p:txBody>
          <a:bodyPr wrap="square" lIns="0" tIns="0" rIns="0" bIns="0" rtlCol="0" anchor="ctr"/>
          <a:lstStyle/>
          <a:p>
            <a:pPr indent="0" marL="0">
              <a:buNone/>
            </a:pPr>
            <a:r>
              <a:rPr lang="en-US" sz="2200" b="1" dirty="0">
                <a:solidFill>
                  <a:srgbClr val="1E56A0"/>
                </a:solidFill>
                <a:latin typeface="Courier New" pitchFamily="34" charset="0"/>
                <a:ea typeface="Courier New" pitchFamily="34" charset="-122"/>
                <a:cs typeface="Courier New" pitchFamily="34" charset="-120"/>
              </a:rPr>
              <a:t>_</a:t>
            </a:r>
            <a:endParaRPr lang="en-US" sz="2200" dirty="0"/>
          </a:p>
        </p:txBody>
      </p:sp>
      <p:sp>
        <p:nvSpPr>
          <p:cNvPr id="11" name="Text 9"/>
          <p:cNvSpPr/>
          <p:nvPr/>
        </p:nvSpPr>
        <p:spPr>
          <a:xfrm>
            <a:off x="6995160" y="2011680"/>
            <a:ext cx="4023360" cy="6858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Exactly one character</a:t>
            </a:r>
            <a:endParaRPr lang="en-US" sz="1150" dirty="0"/>
          </a:p>
        </p:txBody>
      </p:sp>
      <p:sp>
        <p:nvSpPr>
          <p:cNvPr id="12" name="Shape 10"/>
          <p:cNvSpPr/>
          <p:nvPr/>
        </p:nvSpPr>
        <p:spPr>
          <a:xfrm>
            <a:off x="548640" y="2926080"/>
            <a:ext cx="10652760" cy="457200"/>
          </a:xfrm>
          <a:prstGeom prst="roundRect">
            <a:avLst>
              <a:gd name="adj" fmla="val 12000"/>
            </a:avLst>
          </a:prstGeom>
          <a:solidFill>
            <a:srgbClr val="F2F6FA"/>
          </a:solidFill>
          <a:ln/>
        </p:spPr>
      </p:sp>
      <p:sp>
        <p:nvSpPr>
          <p:cNvPr id="13" name="Text 11"/>
          <p:cNvSpPr/>
          <p:nvPr/>
        </p:nvSpPr>
        <p:spPr>
          <a:xfrm>
            <a:off x="777240" y="2926080"/>
            <a:ext cx="2926080" cy="457200"/>
          </a:xfrm>
          <a:prstGeom prst="rect">
            <a:avLst/>
          </a:prstGeom>
          <a:noFill/>
          <a:ln/>
        </p:spPr>
        <p:txBody>
          <a:bodyPr wrap="square" lIns="0" tIns="0" rIns="0" bIns="0" rtlCol="0" anchor="ctr"/>
          <a:lstStyle/>
          <a:p>
            <a:pPr indent="0" marL="0">
              <a:buNone/>
            </a:pPr>
            <a:r>
              <a:rPr lang="en-US" sz="1200" b="1" dirty="0">
                <a:solidFill>
                  <a:srgbClr val="1E56A0"/>
                </a:solidFill>
                <a:latin typeface="Courier New" pitchFamily="34" charset="0"/>
                <a:ea typeface="Courier New" pitchFamily="34" charset="-122"/>
                <a:cs typeface="Courier New" pitchFamily="34" charset="-120"/>
              </a:rPr>
              <a:t>LIKE 'A%'</a:t>
            </a:r>
            <a:endParaRPr lang="en-US" sz="1200" dirty="0"/>
          </a:p>
        </p:txBody>
      </p:sp>
      <p:sp>
        <p:nvSpPr>
          <p:cNvPr id="14" name="Text 12"/>
          <p:cNvSpPr/>
          <p:nvPr/>
        </p:nvSpPr>
        <p:spPr>
          <a:xfrm>
            <a:off x="3749040" y="2926080"/>
            <a:ext cx="7315200" cy="4572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Anything that starts with A</a:t>
            </a:r>
            <a:endParaRPr lang="en-US" sz="1150" dirty="0"/>
          </a:p>
        </p:txBody>
      </p:sp>
      <p:sp>
        <p:nvSpPr>
          <p:cNvPr id="15" name="Shape 13"/>
          <p:cNvSpPr/>
          <p:nvPr/>
        </p:nvSpPr>
        <p:spPr>
          <a:xfrm>
            <a:off x="548640" y="3456432"/>
            <a:ext cx="10652760" cy="457200"/>
          </a:xfrm>
          <a:prstGeom prst="roundRect">
            <a:avLst>
              <a:gd name="adj" fmla="val 12000"/>
            </a:avLst>
          </a:prstGeom>
          <a:solidFill>
            <a:srgbClr val="F2F6FA"/>
          </a:solidFill>
          <a:ln/>
        </p:spPr>
      </p:sp>
      <p:sp>
        <p:nvSpPr>
          <p:cNvPr id="16" name="Text 14"/>
          <p:cNvSpPr/>
          <p:nvPr/>
        </p:nvSpPr>
        <p:spPr>
          <a:xfrm>
            <a:off x="777240" y="3456432"/>
            <a:ext cx="2926080" cy="457200"/>
          </a:xfrm>
          <a:prstGeom prst="rect">
            <a:avLst/>
          </a:prstGeom>
          <a:noFill/>
          <a:ln/>
        </p:spPr>
        <p:txBody>
          <a:bodyPr wrap="square" lIns="0" tIns="0" rIns="0" bIns="0" rtlCol="0" anchor="ctr"/>
          <a:lstStyle/>
          <a:p>
            <a:pPr indent="0" marL="0">
              <a:buNone/>
            </a:pPr>
            <a:r>
              <a:rPr lang="en-US" sz="1200" b="1" dirty="0">
                <a:solidFill>
                  <a:srgbClr val="1E56A0"/>
                </a:solidFill>
                <a:latin typeface="Courier New" pitchFamily="34" charset="0"/>
                <a:ea typeface="Courier New" pitchFamily="34" charset="-122"/>
                <a:cs typeface="Courier New" pitchFamily="34" charset="-120"/>
              </a:rPr>
              <a:t>LIKE '%a'</a:t>
            </a:r>
            <a:endParaRPr lang="en-US" sz="1200" dirty="0"/>
          </a:p>
        </p:txBody>
      </p:sp>
      <p:sp>
        <p:nvSpPr>
          <p:cNvPr id="17" name="Text 15"/>
          <p:cNvSpPr/>
          <p:nvPr/>
        </p:nvSpPr>
        <p:spPr>
          <a:xfrm>
            <a:off x="3749040" y="3456432"/>
            <a:ext cx="7315200" cy="4572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Anything that ends with a</a:t>
            </a:r>
            <a:endParaRPr lang="en-US" sz="1150" dirty="0"/>
          </a:p>
        </p:txBody>
      </p:sp>
      <p:sp>
        <p:nvSpPr>
          <p:cNvPr id="18" name="Shape 16"/>
          <p:cNvSpPr/>
          <p:nvPr/>
        </p:nvSpPr>
        <p:spPr>
          <a:xfrm>
            <a:off x="548640" y="3986784"/>
            <a:ext cx="10652760" cy="457200"/>
          </a:xfrm>
          <a:prstGeom prst="roundRect">
            <a:avLst>
              <a:gd name="adj" fmla="val 12000"/>
            </a:avLst>
          </a:prstGeom>
          <a:solidFill>
            <a:srgbClr val="F2F6FA"/>
          </a:solidFill>
          <a:ln/>
        </p:spPr>
      </p:sp>
      <p:sp>
        <p:nvSpPr>
          <p:cNvPr id="19" name="Text 17"/>
          <p:cNvSpPr/>
          <p:nvPr/>
        </p:nvSpPr>
        <p:spPr>
          <a:xfrm>
            <a:off x="777240" y="3986784"/>
            <a:ext cx="2926080" cy="457200"/>
          </a:xfrm>
          <a:prstGeom prst="rect">
            <a:avLst/>
          </a:prstGeom>
          <a:noFill/>
          <a:ln/>
        </p:spPr>
        <p:txBody>
          <a:bodyPr wrap="square" lIns="0" tIns="0" rIns="0" bIns="0" rtlCol="0" anchor="ctr"/>
          <a:lstStyle/>
          <a:p>
            <a:pPr indent="0" marL="0">
              <a:buNone/>
            </a:pPr>
            <a:r>
              <a:rPr lang="en-US" sz="1200" b="1" dirty="0">
                <a:solidFill>
                  <a:srgbClr val="1E56A0"/>
                </a:solidFill>
                <a:latin typeface="Courier New" pitchFamily="34" charset="0"/>
                <a:ea typeface="Courier New" pitchFamily="34" charset="-122"/>
                <a:cs typeface="Courier New" pitchFamily="34" charset="-120"/>
              </a:rPr>
              <a:t>LIKE '%a%'</a:t>
            </a:r>
            <a:endParaRPr lang="en-US" sz="1200" dirty="0"/>
          </a:p>
        </p:txBody>
      </p:sp>
      <p:sp>
        <p:nvSpPr>
          <p:cNvPr id="20" name="Text 18"/>
          <p:cNvSpPr/>
          <p:nvPr/>
        </p:nvSpPr>
        <p:spPr>
          <a:xfrm>
            <a:off x="3749040" y="3986784"/>
            <a:ext cx="7315200" cy="4572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Anything that contains a anywhere</a:t>
            </a:r>
            <a:endParaRPr lang="en-US" sz="1150" dirty="0"/>
          </a:p>
        </p:txBody>
      </p:sp>
      <p:sp>
        <p:nvSpPr>
          <p:cNvPr id="21" name="Shape 19"/>
          <p:cNvSpPr/>
          <p:nvPr/>
        </p:nvSpPr>
        <p:spPr>
          <a:xfrm>
            <a:off x="548640" y="4517136"/>
            <a:ext cx="10652760" cy="457200"/>
          </a:xfrm>
          <a:prstGeom prst="roundRect">
            <a:avLst>
              <a:gd name="adj" fmla="val 12000"/>
            </a:avLst>
          </a:prstGeom>
          <a:solidFill>
            <a:srgbClr val="F2F6FA"/>
          </a:solidFill>
          <a:ln/>
        </p:spPr>
      </p:sp>
      <p:sp>
        <p:nvSpPr>
          <p:cNvPr id="22" name="Text 20"/>
          <p:cNvSpPr/>
          <p:nvPr/>
        </p:nvSpPr>
        <p:spPr>
          <a:xfrm>
            <a:off x="777240" y="4517136"/>
            <a:ext cx="2926080" cy="457200"/>
          </a:xfrm>
          <a:prstGeom prst="rect">
            <a:avLst/>
          </a:prstGeom>
          <a:noFill/>
          <a:ln/>
        </p:spPr>
        <p:txBody>
          <a:bodyPr wrap="square" lIns="0" tIns="0" rIns="0" bIns="0" rtlCol="0" anchor="ctr"/>
          <a:lstStyle/>
          <a:p>
            <a:pPr indent="0" marL="0">
              <a:buNone/>
            </a:pPr>
            <a:r>
              <a:rPr lang="en-US" sz="1200" b="1" dirty="0">
                <a:solidFill>
                  <a:srgbClr val="1E56A0"/>
                </a:solidFill>
                <a:latin typeface="Courier New" pitchFamily="34" charset="0"/>
                <a:ea typeface="Courier New" pitchFamily="34" charset="-122"/>
                <a:cs typeface="Courier New" pitchFamily="34" charset="-120"/>
              </a:rPr>
              <a:t>LIKE '%a_'</a:t>
            </a:r>
            <a:endParaRPr lang="en-US" sz="1200" dirty="0"/>
          </a:p>
        </p:txBody>
      </p:sp>
      <p:sp>
        <p:nvSpPr>
          <p:cNvPr id="23" name="Text 21"/>
          <p:cNvSpPr/>
          <p:nvPr/>
        </p:nvSpPr>
        <p:spPr>
          <a:xfrm>
            <a:off x="3749040" y="4517136"/>
            <a:ext cx="7315200" cy="4572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Contains a, with exactly one character after it</a:t>
            </a:r>
            <a:endParaRPr lang="en-US" sz="1150" dirty="0"/>
          </a:p>
        </p:txBody>
      </p:sp>
      <p:sp>
        <p:nvSpPr>
          <p:cNvPr id="24" name="Text 22"/>
          <p:cNvSpPr/>
          <p:nvPr/>
        </p:nvSpPr>
        <p:spPr>
          <a:xfrm>
            <a:off x="548640" y="5184648"/>
            <a:ext cx="10607040" cy="320040"/>
          </a:xfrm>
          <a:prstGeom prst="rect">
            <a:avLst/>
          </a:prstGeom>
          <a:noFill/>
          <a:ln/>
        </p:spPr>
        <p:txBody>
          <a:bodyPr wrap="square" lIns="0" tIns="0" rIns="0" bIns="0" rtlCol="0" anchor="ctr"/>
          <a:lstStyle/>
          <a:p>
            <a:pPr indent="0" marL="0">
              <a:buNone/>
            </a:pPr>
            <a:r>
              <a:rPr lang="en-US" sz="1250" b="1" dirty="0">
                <a:solidFill>
                  <a:srgbClr val="1E56A0"/>
                </a:solidFill>
                <a:latin typeface="Calibri" pitchFamily="34" charset="0"/>
                <a:ea typeface="Calibri" pitchFamily="34" charset="-122"/>
                <a:cs typeface="Calibri" pitchFamily="34" charset="-120"/>
              </a:rPr>
              <a:t>Question:  </a:t>
            </a:r>
            <a:pPr indent="0" marL="0">
              <a:buNone/>
            </a:pPr>
            <a:r>
              <a:rPr lang="en-US" sz="1250" i="1" dirty="0">
                <a:solidFill>
                  <a:srgbClr val="16202A"/>
                </a:solidFill>
                <a:latin typeface="Calibri" pitchFamily="34" charset="0"/>
                <a:ea typeface="Calibri" pitchFamily="34" charset="-122"/>
                <a:cs typeface="Calibri" pitchFamily="34" charset="-120"/>
              </a:rPr>
              <a:t>How many employees have a name that starts with A and ends with R?</a:t>
            </a:r>
            <a:endParaRPr lang="en-US" sz="1250" dirty="0"/>
          </a:p>
        </p:txBody>
      </p:sp>
      <p:sp>
        <p:nvSpPr>
          <p:cNvPr id="25" name="Shape 23"/>
          <p:cNvSpPr/>
          <p:nvPr/>
        </p:nvSpPr>
        <p:spPr>
          <a:xfrm>
            <a:off x="548640" y="5522976"/>
            <a:ext cx="10652760" cy="548640"/>
          </a:xfrm>
          <a:prstGeom prst="roundRect">
            <a:avLst>
              <a:gd name="adj" fmla="val 13333"/>
            </a:avLst>
          </a:prstGeom>
          <a:solidFill>
            <a:srgbClr val="0E2A3D"/>
          </a:solidFill>
          <a:ln/>
        </p:spPr>
      </p:sp>
      <p:sp>
        <p:nvSpPr>
          <p:cNvPr id="26" name="Text 24"/>
          <p:cNvSpPr/>
          <p:nvPr/>
        </p:nvSpPr>
        <p:spPr>
          <a:xfrm>
            <a:off x="749808" y="5596128"/>
            <a:ext cx="10250424" cy="402336"/>
          </a:xfrm>
          <a:prstGeom prst="rect">
            <a:avLst/>
          </a:prstGeom>
          <a:noFill/>
          <a:ln/>
        </p:spPr>
        <p:txBody>
          <a:bodyPr wrap="square" lIns="0" tIns="0" rIns="0" bIns="0" rtlCol="0" anchor="ctr"/>
          <a:lstStyle/>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SELECT COUNT(*) FROM employees</a:t>
            </a:r>
            <a:endParaRPr lang="en-US" sz="1200" dirty="0"/>
          </a:p>
          <a:p>
            <a:pPr algn="l" indent="0" marL="0">
              <a:lnSpc>
                <a:spcPct val="125000"/>
              </a:lnSpc>
              <a:buNone/>
            </a:pPr>
            <a:r>
              <a:rPr lang="en-US" sz="1200" dirty="0">
                <a:solidFill>
                  <a:srgbClr val="BEE9FF"/>
                </a:solidFill>
                <a:latin typeface="Courier New" pitchFamily="34" charset="0"/>
                <a:ea typeface="Courier New" pitchFamily="34" charset="-122"/>
                <a:cs typeface="Courier New" pitchFamily="34" charset="-120"/>
              </a:rPr>
              <a:t>WHERE first_name LIKE 'A%R';</a:t>
            </a:r>
            <a:endParaRPr lang="en-US" sz="1200" dirty="0"/>
          </a:p>
        </p:txBody>
      </p:sp>
      <p:sp>
        <p:nvSpPr>
          <p:cNvPr id="27" name="Text 25"/>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8" name="Text 2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6</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Sorting Data: ORDER BY</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Sort your results ascending or descending — finally answering that top-10-salaries question from Part 4</a:t>
            </a:r>
            <a:endParaRPr lang="en-US" sz="1350" dirty="0"/>
          </a:p>
        </p:txBody>
      </p:sp>
      <p:sp>
        <p:nvSpPr>
          <p:cNvPr id="6" name="Shape 4"/>
          <p:cNvSpPr/>
          <p:nvPr/>
        </p:nvSpPr>
        <p:spPr>
          <a:xfrm>
            <a:off x="548640" y="1965960"/>
            <a:ext cx="10652760" cy="1188720"/>
          </a:xfrm>
          <a:prstGeom prst="roundRect">
            <a:avLst>
              <a:gd name="adj" fmla="val 6154"/>
            </a:avLst>
          </a:prstGeom>
          <a:solidFill>
            <a:srgbClr val="0E2A3D"/>
          </a:solidFill>
          <a:ln/>
        </p:spPr>
      </p:sp>
      <p:sp>
        <p:nvSpPr>
          <p:cNvPr id="7" name="Text 5"/>
          <p:cNvSpPr/>
          <p:nvPr/>
        </p:nvSpPr>
        <p:spPr>
          <a:xfrm>
            <a:off x="749808" y="2039112"/>
            <a:ext cx="10250424" cy="1042416"/>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SELECT column_name, COUNT(column_name) AS "counts"</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FROM table_name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GROUP BY column_name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ORDER BY counts DESC;</a:t>
            </a:r>
            <a:endParaRPr lang="en-US" sz="1500" dirty="0"/>
          </a:p>
        </p:txBody>
      </p:sp>
      <p:sp>
        <p:nvSpPr>
          <p:cNvPr id="8" name="Shape 6"/>
          <p:cNvSpPr/>
          <p:nvPr/>
        </p:nvSpPr>
        <p:spPr>
          <a:xfrm>
            <a:off x="548640" y="3319272"/>
            <a:ext cx="10652760" cy="530352"/>
          </a:xfrm>
          <a:prstGeom prst="roundRect">
            <a:avLst>
              <a:gd name="adj" fmla="val 10345"/>
            </a:avLst>
          </a:prstGeom>
          <a:solidFill>
            <a:srgbClr val="F2F6FA"/>
          </a:solidFill>
          <a:ln/>
        </p:spPr>
      </p:sp>
      <p:sp>
        <p:nvSpPr>
          <p:cNvPr id="9" name="Text 7"/>
          <p:cNvSpPr/>
          <p:nvPr/>
        </p:nvSpPr>
        <p:spPr>
          <a:xfrm>
            <a:off x="777240" y="3319272"/>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ORDER BY column</a:t>
            </a:r>
            <a:endParaRPr lang="en-US" sz="1250" dirty="0"/>
          </a:p>
        </p:txBody>
      </p:sp>
      <p:sp>
        <p:nvSpPr>
          <p:cNvPr id="10" name="Text 8"/>
          <p:cNvSpPr/>
          <p:nvPr/>
        </p:nvSpPr>
        <p:spPr>
          <a:xfrm>
            <a:off x="3291840" y="3319272"/>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Sorts results by this column — ascending (ASC) by default</a:t>
            </a:r>
            <a:endParaRPr lang="en-US" sz="1200" dirty="0"/>
          </a:p>
        </p:txBody>
      </p:sp>
      <p:sp>
        <p:nvSpPr>
          <p:cNvPr id="11" name="Shape 9"/>
          <p:cNvSpPr/>
          <p:nvPr/>
        </p:nvSpPr>
        <p:spPr>
          <a:xfrm>
            <a:off x="548640" y="3931920"/>
            <a:ext cx="10652760" cy="530352"/>
          </a:xfrm>
          <a:prstGeom prst="roundRect">
            <a:avLst>
              <a:gd name="adj" fmla="val 10345"/>
            </a:avLst>
          </a:prstGeom>
          <a:solidFill>
            <a:srgbClr val="F2F6FA"/>
          </a:solidFill>
          <a:ln/>
        </p:spPr>
      </p:sp>
      <p:sp>
        <p:nvSpPr>
          <p:cNvPr id="12" name="Text 10"/>
          <p:cNvSpPr/>
          <p:nvPr/>
        </p:nvSpPr>
        <p:spPr>
          <a:xfrm>
            <a:off x="777240" y="3931920"/>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DESC</a:t>
            </a:r>
            <a:endParaRPr lang="en-US" sz="1250" dirty="0"/>
          </a:p>
        </p:txBody>
      </p:sp>
      <p:sp>
        <p:nvSpPr>
          <p:cNvPr id="13" name="Text 11"/>
          <p:cNvSpPr/>
          <p:nvPr/>
        </p:nvSpPr>
        <p:spPr>
          <a:xfrm>
            <a:off x="3291840" y="3931920"/>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Sort descending instead — largest or most-recent first</a:t>
            </a:r>
            <a:endParaRPr lang="en-US" sz="1200" dirty="0"/>
          </a:p>
        </p:txBody>
      </p:sp>
      <p:sp>
        <p:nvSpPr>
          <p:cNvPr id="14" name="Shape 12"/>
          <p:cNvSpPr/>
          <p:nvPr/>
        </p:nvSpPr>
        <p:spPr>
          <a:xfrm>
            <a:off x="548640" y="4617720"/>
            <a:ext cx="10652760" cy="594360"/>
          </a:xfrm>
          <a:prstGeom prst="roundRect">
            <a:avLst>
              <a:gd name="adj" fmla="val 9231"/>
            </a:avLst>
          </a:prstGeom>
          <a:solidFill>
            <a:srgbClr val="FFF4E8"/>
          </a:solidFill>
          <a:ln/>
        </p:spPr>
      </p:sp>
      <p:sp>
        <p:nvSpPr>
          <p:cNvPr id="15" name="Text 13"/>
          <p:cNvSpPr/>
          <p:nvPr/>
        </p:nvSpPr>
        <p:spPr>
          <a:xfrm>
            <a:off x="777240" y="4617720"/>
            <a:ext cx="10241280" cy="594360"/>
          </a:xfrm>
          <a:prstGeom prst="rect">
            <a:avLst/>
          </a:prstGeom>
          <a:noFill/>
          <a:ln/>
        </p:spPr>
        <p:txBody>
          <a:bodyPr wrap="square" lIns="0" tIns="0" rIns="0" bIns="0" rtlCol="0" anchor="ctr"/>
          <a:lstStyle/>
          <a:p>
            <a:pPr indent="0" marL="0">
              <a:buNone/>
            </a:pPr>
            <a:r>
              <a:rPr lang="en-US" sz="1150" dirty="0">
                <a:solidFill>
                  <a:srgbClr val="8A5A1E"/>
                </a:solidFill>
                <a:latin typeface="Calibri" pitchFamily="34" charset="0"/>
                <a:ea typeface="Calibri" pitchFamily="34" charset="-122"/>
                <a:cs typeface="Calibri" pitchFamily="34" charset="-120"/>
              </a:rPr>
              <a:t>Multiple columns work too: ORDER BY first_name ASC, last_name DESC sorts by first name ascending, then breaks ties by last name descending.</a:t>
            </a:r>
            <a:endParaRPr lang="en-US" sz="115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6</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500" b="1" dirty="0">
                <a:solidFill>
                  <a:srgbClr val="16202A"/>
                </a:solidFill>
                <a:latin typeface="Cambria" pitchFamily="34" charset="0"/>
                <a:ea typeface="Cambria" pitchFamily="34" charset="-122"/>
                <a:cs typeface="Cambria" pitchFamily="34" charset="-120"/>
              </a:rPr>
              <a:t>ORDER BY + LIMIT — Answering “Top 10” Questions</a:t>
            </a:r>
            <a:endParaRPr lang="en-US" sz="25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Remember this practice question from Part 4? Now we finally have every piece we need.</a:t>
            </a:r>
            <a:endParaRPr lang="en-US" sz="1250" dirty="0"/>
          </a:p>
        </p:txBody>
      </p:sp>
      <p:sp>
        <p:nvSpPr>
          <p:cNvPr id="6" name="Shape 4"/>
          <p:cNvSpPr/>
          <p:nvPr/>
        </p:nvSpPr>
        <p:spPr>
          <a:xfrm>
            <a:off x="548640" y="1920240"/>
            <a:ext cx="5074920" cy="347472"/>
          </a:xfrm>
          <a:prstGeom prst="rect">
            <a:avLst/>
          </a:prstGeom>
          <a:solidFill>
            <a:srgbClr val="1E56A0"/>
          </a:solidFill>
          <a:ln w="9525">
            <a:solidFill>
              <a:srgbClr val="FFFFFF"/>
            </a:solidFill>
            <a:prstDash val="solid"/>
          </a:ln>
        </p:spPr>
      </p:sp>
      <p:sp>
        <p:nvSpPr>
          <p:cNvPr id="7" name="Text 5"/>
          <p:cNvSpPr/>
          <p:nvPr/>
        </p:nvSpPr>
        <p:spPr>
          <a:xfrm>
            <a:off x="548640" y="1920240"/>
            <a:ext cx="50749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emp_no</a:t>
            </a:r>
            <a:endParaRPr lang="en-US" sz="1150" dirty="0"/>
          </a:p>
        </p:txBody>
      </p:sp>
      <p:sp>
        <p:nvSpPr>
          <p:cNvPr id="8" name="Shape 6"/>
          <p:cNvSpPr/>
          <p:nvPr/>
        </p:nvSpPr>
        <p:spPr>
          <a:xfrm>
            <a:off x="5623560" y="1920240"/>
            <a:ext cx="5074920" cy="347472"/>
          </a:xfrm>
          <a:prstGeom prst="rect">
            <a:avLst/>
          </a:prstGeom>
          <a:solidFill>
            <a:srgbClr val="1E56A0"/>
          </a:solidFill>
          <a:ln w="9525">
            <a:solidFill>
              <a:srgbClr val="FFFFFF"/>
            </a:solidFill>
            <a:prstDash val="solid"/>
          </a:ln>
        </p:spPr>
      </p:sp>
      <p:sp>
        <p:nvSpPr>
          <p:cNvPr id="9" name="Text 7"/>
          <p:cNvSpPr/>
          <p:nvPr/>
        </p:nvSpPr>
        <p:spPr>
          <a:xfrm>
            <a:off x="5623560" y="1920240"/>
            <a:ext cx="50749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salary</a:t>
            </a:r>
            <a:endParaRPr lang="en-US" sz="1150" dirty="0"/>
          </a:p>
        </p:txBody>
      </p:sp>
      <p:sp>
        <p:nvSpPr>
          <p:cNvPr id="10" name="Shape 8"/>
          <p:cNvSpPr/>
          <p:nvPr/>
        </p:nvSpPr>
        <p:spPr>
          <a:xfrm>
            <a:off x="548640" y="2267712"/>
            <a:ext cx="5074920" cy="347472"/>
          </a:xfrm>
          <a:prstGeom prst="rect">
            <a:avLst/>
          </a:prstGeom>
          <a:solidFill>
            <a:srgbClr val="D9E9F7"/>
          </a:solidFill>
          <a:ln w="9525">
            <a:solidFill>
              <a:srgbClr val="E2E8E8"/>
            </a:solidFill>
            <a:prstDash val="solid"/>
          </a:ln>
        </p:spPr>
      </p:sp>
      <p:sp>
        <p:nvSpPr>
          <p:cNvPr id="11" name="Text 9"/>
          <p:cNvSpPr/>
          <p:nvPr/>
        </p:nvSpPr>
        <p:spPr>
          <a:xfrm>
            <a:off x="548640" y="2267712"/>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10001</a:t>
            </a:r>
            <a:endParaRPr lang="en-US" sz="1100" dirty="0"/>
          </a:p>
        </p:txBody>
      </p:sp>
      <p:sp>
        <p:nvSpPr>
          <p:cNvPr id="12" name="Shape 10"/>
          <p:cNvSpPr/>
          <p:nvPr/>
        </p:nvSpPr>
        <p:spPr>
          <a:xfrm>
            <a:off x="5623560" y="2267712"/>
            <a:ext cx="5074920" cy="347472"/>
          </a:xfrm>
          <a:prstGeom prst="rect">
            <a:avLst/>
          </a:prstGeom>
          <a:solidFill>
            <a:srgbClr val="D9E9F7"/>
          </a:solidFill>
          <a:ln w="9525">
            <a:solidFill>
              <a:srgbClr val="E2E8E8"/>
            </a:solidFill>
            <a:prstDash val="solid"/>
          </a:ln>
        </p:spPr>
      </p:sp>
      <p:sp>
        <p:nvSpPr>
          <p:cNvPr id="13" name="Text 11"/>
          <p:cNvSpPr/>
          <p:nvPr/>
        </p:nvSpPr>
        <p:spPr>
          <a:xfrm>
            <a:off x="5623560" y="2267712"/>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158,220</a:t>
            </a:r>
            <a:endParaRPr lang="en-US" sz="1100" dirty="0"/>
          </a:p>
        </p:txBody>
      </p:sp>
      <p:sp>
        <p:nvSpPr>
          <p:cNvPr id="14" name="Shape 12"/>
          <p:cNvSpPr/>
          <p:nvPr/>
        </p:nvSpPr>
        <p:spPr>
          <a:xfrm>
            <a:off x="548640" y="2615184"/>
            <a:ext cx="5074920" cy="347472"/>
          </a:xfrm>
          <a:prstGeom prst="rect">
            <a:avLst/>
          </a:prstGeom>
          <a:solidFill>
            <a:srgbClr val="D9E9F7"/>
          </a:solidFill>
          <a:ln w="9525">
            <a:solidFill>
              <a:srgbClr val="E2E8E8"/>
            </a:solidFill>
            <a:prstDash val="solid"/>
          </a:ln>
        </p:spPr>
      </p:sp>
      <p:sp>
        <p:nvSpPr>
          <p:cNvPr id="15" name="Text 13"/>
          <p:cNvSpPr/>
          <p:nvPr/>
        </p:nvSpPr>
        <p:spPr>
          <a:xfrm>
            <a:off x="548640" y="2615184"/>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10002</a:t>
            </a:r>
            <a:endParaRPr lang="en-US" sz="1100" dirty="0"/>
          </a:p>
        </p:txBody>
      </p:sp>
      <p:sp>
        <p:nvSpPr>
          <p:cNvPr id="16" name="Shape 14"/>
          <p:cNvSpPr/>
          <p:nvPr/>
        </p:nvSpPr>
        <p:spPr>
          <a:xfrm>
            <a:off x="5623560" y="2615184"/>
            <a:ext cx="5074920" cy="347472"/>
          </a:xfrm>
          <a:prstGeom prst="rect">
            <a:avLst/>
          </a:prstGeom>
          <a:solidFill>
            <a:srgbClr val="D9E9F7"/>
          </a:solidFill>
          <a:ln w="9525">
            <a:solidFill>
              <a:srgbClr val="E2E8E8"/>
            </a:solidFill>
            <a:prstDash val="solid"/>
          </a:ln>
        </p:spPr>
      </p:sp>
      <p:sp>
        <p:nvSpPr>
          <p:cNvPr id="17" name="Text 15"/>
          <p:cNvSpPr/>
          <p:nvPr/>
        </p:nvSpPr>
        <p:spPr>
          <a:xfrm>
            <a:off x="5623560" y="2615184"/>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152,710</a:t>
            </a:r>
            <a:endParaRPr lang="en-US" sz="1100" dirty="0"/>
          </a:p>
        </p:txBody>
      </p:sp>
      <p:sp>
        <p:nvSpPr>
          <p:cNvPr id="18" name="Shape 16"/>
          <p:cNvSpPr/>
          <p:nvPr/>
        </p:nvSpPr>
        <p:spPr>
          <a:xfrm>
            <a:off x="548640" y="2962656"/>
            <a:ext cx="5074920" cy="347472"/>
          </a:xfrm>
          <a:prstGeom prst="rect">
            <a:avLst/>
          </a:prstGeom>
          <a:solidFill>
            <a:srgbClr val="FFFFFF"/>
          </a:solidFill>
          <a:ln w="9525">
            <a:solidFill>
              <a:srgbClr val="E2E8E8"/>
            </a:solidFill>
            <a:prstDash val="solid"/>
          </a:ln>
        </p:spPr>
      </p:sp>
      <p:sp>
        <p:nvSpPr>
          <p:cNvPr id="19" name="Text 17"/>
          <p:cNvSpPr/>
          <p:nvPr/>
        </p:nvSpPr>
        <p:spPr>
          <a:xfrm>
            <a:off x="548640" y="2962656"/>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10003</a:t>
            </a:r>
            <a:endParaRPr lang="en-US" sz="1100" dirty="0"/>
          </a:p>
        </p:txBody>
      </p:sp>
      <p:sp>
        <p:nvSpPr>
          <p:cNvPr id="20" name="Shape 18"/>
          <p:cNvSpPr/>
          <p:nvPr/>
        </p:nvSpPr>
        <p:spPr>
          <a:xfrm>
            <a:off x="5623560" y="2962656"/>
            <a:ext cx="5074920" cy="347472"/>
          </a:xfrm>
          <a:prstGeom prst="rect">
            <a:avLst/>
          </a:prstGeom>
          <a:solidFill>
            <a:srgbClr val="FFFFFF"/>
          </a:solidFill>
          <a:ln w="9525">
            <a:solidFill>
              <a:srgbClr val="E2E8E8"/>
            </a:solidFill>
            <a:prstDash val="solid"/>
          </a:ln>
        </p:spPr>
      </p:sp>
      <p:sp>
        <p:nvSpPr>
          <p:cNvPr id="21" name="Text 19"/>
          <p:cNvSpPr/>
          <p:nvPr/>
        </p:nvSpPr>
        <p:spPr>
          <a:xfrm>
            <a:off x="5623560" y="2962656"/>
            <a:ext cx="5074920" cy="347472"/>
          </a:xfrm>
          <a:prstGeom prst="rect">
            <a:avLst/>
          </a:prstGeom>
          <a:noFill/>
          <a:ln/>
        </p:spPr>
        <p:txBody>
          <a:bodyPr wrap="square" lIns="0" tIns="0" rIns="0" bIns="0" rtlCol="0" anchor="ctr"/>
          <a:lstStyle/>
          <a:p>
            <a:pPr algn="ctr" indent="0" marL="0">
              <a:buNone/>
            </a:pPr>
            <a:r>
              <a:rPr lang="en-US" sz="1100" dirty="0">
                <a:solidFill>
                  <a:srgbClr val="16202A"/>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548640" y="3566160"/>
            <a:ext cx="10607040" cy="347472"/>
          </a:xfrm>
          <a:prstGeom prst="rect">
            <a:avLst/>
          </a:prstGeom>
          <a:noFill/>
          <a:ln/>
        </p:spPr>
        <p:txBody>
          <a:bodyPr wrap="square" lIns="0" tIns="0" rIns="0" bIns="0" rtlCol="0" anchor="ctr"/>
          <a:lstStyle/>
          <a:p>
            <a:pPr indent="0" marL="0">
              <a:buNone/>
            </a:pPr>
            <a:r>
              <a:rPr lang="en-US" sz="1300" b="1" dirty="0">
                <a:solidFill>
                  <a:srgbClr val="1E56A0"/>
                </a:solidFill>
                <a:latin typeface="Calibri" pitchFamily="34" charset="0"/>
                <a:ea typeface="Calibri" pitchFamily="34" charset="-122"/>
                <a:cs typeface="Calibri" pitchFamily="34" charset="-120"/>
              </a:rPr>
              <a:t>Question:  </a:t>
            </a:r>
            <a:pPr indent="0" marL="0">
              <a:buNone/>
            </a:pPr>
            <a:r>
              <a:rPr lang="en-US" sz="1300" i="1" dirty="0">
                <a:solidFill>
                  <a:srgbClr val="16202A"/>
                </a:solidFill>
                <a:latin typeface="Calibri" pitchFamily="34" charset="0"/>
                <a:ea typeface="Calibri" pitchFamily="34" charset="-122"/>
                <a:cs typeface="Calibri" pitchFamily="34" charset="-120"/>
              </a:rPr>
              <a:t>Return the top 10 employees who generated the highest salary</a:t>
            </a:r>
            <a:endParaRPr lang="en-US" sz="1300" dirty="0"/>
          </a:p>
        </p:txBody>
      </p:sp>
      <p:sp>
        <p:nvSpPr>
          <p:cNvPr id="23" name="Shape 21"/>
          <p:cNvSpPr/>
          <p:nvPr/>
        </p:nvSpPr>
        <p:spPr>
          <a:xfrm>
            <a:off x="548640" y="3950208"/>
            <a:ext cx="7315200" cy="1051560"/>
          </a:xfrm>
          <a:prstGeom prst="roundRect">
            <a:avLst>
              <a:gd name="adj" fmla="val 6957"/>
            </a:avLst>
          </a:prstGeom>
          <a:solidFill>
            <a:srgbClr val="0E2A3D"/>
          </a:solidFill>
          <a:ln/>
        </p:spPr>
      </p:sp>
      <p:sp>
        <p:nvSpPr>
          <p:cNvPr id="24" name="Text 22"/>
          <p:cNvSpPr/>
          <p:nvPr/>
        </p:nvSpPr>
        <p:spPr>
          <a:xfrm>
            <a:off x="749808" y="4023360"/>
            <a:ext cx="6912864" cy="905256"/>
          </a:xfrm>
          <a:prstGeom prst="rect">
            <a:avLst/>
          </a:prstGeom>
          <a:noFill/>
          <a:ln/>
        </p:spPr>
        <p:txBody>
          <a:bodyPr wrap="square" lIns="0" tIns="0" rIns="0" bIns="0" rtlCol="0" anchor="t"/>
          <a:lstStyle/>
          <a:p>
            <a:pPr algn="l" indent="0" marL="0">
              <a:lnSpc>
                <a:spcPct val="125000"/>
              </a:lnSpc>
              <a:buNone/>
            </a:pPr>
            <a:r>
              <a:rPr lang="en-US" sz="1300" dirty="0">
                <a:solidFill>
                  <a:srgbClr val="BEE9FF"/>
                </a:solidFill>
                <a:latin typeface="Courier New" pitchFamily="34" charset="0"/>
                <a:ea typeface="Courier New" pitchFamily="34" charset="-122"/>
                <a:cs typeface="Courier New" pitchFamily="34" charset="-120"/>
              </a:rPr>
              <a:t>SELECT emp_no, salary</a:t>
            </a:r>
            <a:endParaRPr lang="en-US" sz="1300" dirty="0"/>
          </a:p>
          <a:p>
            <a:pPr algn="l" indent="0" marL="0">
              <a:lnSpc>
                <a:spcPct val="125000"/>
              </a:lnSpc>
              <a:buNone/>
            </a:pPr>
            <a:r>
              <a:rPr lang="en-US" sz="1300" dirty="0">
                <a:solidFill>
                  <a:srgbClr val="BEE9FF"/>
                </a:solidFill>
                <a:latin typeface="Courier New" pitchFamily="34" charset="0"/>
                <a:ea typeface="Courier New" pitchFamily="34" charset="-122"/>
                <a:cs typeface="Courier New" pitchFamily="34" charset="-120"/>
              </a:rPr>
              <a:t>FROM salaries</a:t>
            </a:r>
            <a:endParaRPr lang="en-US" sz="1300" dirty="0"/>
          </a:p>
          <a:p>
            <a:pPr algn="l" indent="0" marL="0">
              <a:lnSpc>
                <a:spcPct val="125000"/>
              </a:lnSpc>
              <a:buNone/>
            </a:pPr>
            <a:r>
              <a:rPr lang="en-US" sz="1300" dirty="0">
                <a:solidFill>
                  <a:srgbClr val="BEE9FF"/>
                </a:solidFill>
                <a:latin typeface="Courier New" pitchFamily="34" charset="0"/>
                <a:ea typeface="Courier New" pitchFamily="34" charset="-122"/>
                <a:cs typeface="Courier New" pitchFamily="34" charset="-120"/>
              </a:rPr>
              <a:t>ORDER BY salary DESC</a:t>
            </a:r>
            <a:endParaRPr lang="en-US" sz="1300" dirty="0"/>
          </a:p>
          <a:p>
            <a:pPr algn="l" indent="0" marL="0">
              <a:lnSpc>
                <a:spcPct val="125000"/>
              </a:lnSpc>
              <a:buNone/>
            </a:pPr>
            <a:r>
              <a:rPr lang="en-US" sz="1300" dirty="0">
                <a:solidFill>
                  <a:srgbClr val="BEE9FF"/>
                </a:solidFill>
                <a:latin typeface="Courier New" pitchFamily="34" charset="0"/>
                <a:ea typeface="Courier New" pitchFamily="34" charset="-122"/>
                <a:cs typeface="Courier New" pitchFamily="34" charset="-120"/>
              </a:rPr>
              <a:t>LIMIT 10;</a:t>
            </a:r>
            <a:endParaRPr lang="en-US" sz="1300" dirty="0"/>
          </a:p>
        </p:txBody>
      </p:sp>
      <p:sp>
        <p:nvSpPr>
          <p:cNvPr id="25" name="Shape 23"/>
          <p:cNvSpPr/>
          <p:nvPr/>
        </p:nvSpPr>
        <p:spPr>
          <a:xfrm>
            <a:off x="8046720" y="3950208"/>
            <a:ext cx="3154680" cy="1051560"/>
          </a:xfrm>
          <a:prstGeom prst="roundRect">
            <a:avLst>
              <a:gd name="adj" fmla="val 6957"/>
            </a:avLst>
          </a:prstGeom>
          <a:solidFill>
            <a:srgbClr val="2FBF8F"/>
          </a:solidFill>
          <a:ln/>
        </p:spPr>
      </p:sp>
      <p:sp>
        <p:nvSpPr>
          <p:cNvPr id="26" name="Text 24"/>
          <p:cNvSpPr/>
          <p:nvPr/>
        </p:nvSpPr>
        <p:spPr>
          <a:xfrm>
            <a:off x="8046720" y="3950208"/>
            <a:ext cx="315468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 rows</a:t>
            </a:r>
            <a:endParaRPr lang="en-US" sz="1600" dirty="0"/>
          </a:p>
        </p:txBody>
      </p:sp>
      <p:sp>
        <p:nvSpPr>
          <p:cNvPr id="27" name="Text 25"/>
          <p:cNvSpPr/>
          <p:nvPr/>
        </p:nvSpPr>
        <p:spPr>
          <a:xfrm>
            <a:off x="548640" y="5111496"/>
            <a:ext cx="10607040" cy="45720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ORDER BY salary DESC puts the highest earners first; LIMIT 10 then cuts the result down to just the first 10 rows.</a:t>
            </a:r>
            <a:endParaRPr lang="en-US" sz="1100" dirty="0"/>
          </a:p>
        </p:txBody>
      </p:sp>
      <p:sp>
        <p:nvSpPr>
          <p:cNvPr id="28" name="Text 26"/>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6</a:t>
            </a:r>
            <a:endParaRPr lang="en-US" sz="1050" dirty="0"/>
          </a:p>
        </p:txBody>
      </p:sp>
      <p:sp>
        <p:nvSpPr>
          <p:cNvPr id="4" name="Text 2"/>
          <p:cNvSpPr/>
          <p:nvPr/>
        </p:nvSpPr>
        <p:spPr>
          <a:xfrm>
            <a:off x="548640" y="914400"/>
            <a:ext cx="10058400" cy="777240"/>
          </a:xfrm>
          <a:prstGeom prst="rect">
            <a:avLst/>
          </a:prstGeom>
          <a:noFill/>
          <a:ln/>
        </p:spPr>
        <p:txBody>
          <a:bodyPr wrap="square" lIns="0" tIns="0" rIns="0" bIns="0" rtlCol="0" anchor="t"/>
          <a:lstStyle/>
          <a:p>
            <a:pPr indent="0" marL="0">
              <a:buNone/>
            </a:pPr>
            <a:r>
              <a:rPr lang="en-US" sz="2600" b="1" dirty="0">
                <a:solidFill>
                  <a:srgbClr val="16202A"/>
                </a:solidFill>
                <a:latin typeface="Cambria" pitchFamily="34" charset="0"/>
                <a:ea typeface="Cambria" pitchFamily="34" charset="-122"/>
                <a:cs typeface="Cambria" pitchFamily="34" charset="-120"/>
              </a:rPr>
              <a:t>The Real Order of Operations</a:t>
            </a:r>
            <a:endParaRPr lang="en-US" sz="2600" dirty="0"/>
          </a:p>
        </p:txBody>
      </p:sp>
      <p:sp>
        <p:nvSpPr>
          <p:cNvPr id="5" name="Text 3"/>
          <p:cNvSpPr/>
          <p:nvPr/>
        </p:nvSpPr>
        <p:spPr>
          <a:xfrm>
            <a:off x="548640" y="1463040"/>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SQL clauses run in a fixed sequence — and it’s not the order you type them in</a:t>
            </a:r>
            <a:endParaRPr lang="en-US" sz="1300" dirty="0"/>
          </a:p>
        </p:txBody>
      </p:sp>
      <p:sp>
        <p:nvSpPr>
          <p:cNvPr id="6" name="Shape 4"/>
          <p:cNvSpPr/>
          <p:nvPr/>
        </p:nvSpPr>
        <p:spPr>
          <a:xfrm>
            <a:off x="548640" y="2148840"/>
            <a:ext cx="1481328" cy="777240"/>
          </a:xfrm>
          <a:prstGeom prst="roundRect">
            <a:avLst>
              <a:gd name="adj" fmla="val 9412"/>
            </a:avLst>
          </a:prstGeom>
          <a:solidFill>
            <a:srgbClr val="1E56A0"/>
          </a:solidFill>
          <a:ln/>
        </p:spPr>
      </p:sp>
      <p:sp>
        <p:nvSpPr>
          <p:cNvPr id="7" name="Text 5"/>
          <p:cNvSpPr/>
          <p:nvPr/>
        </p:nvSpPr>
        <p:spPr>
          <a:xfrm>
            <a:off x="548640" y="2148840"/>
            <a:ext cx="1481328"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FROM</a:t>
            </a:r>
            <a:endParaRPr lang="en-US" sz="1050" dirty="0"/>
          </a:p>
        </p:txBody>
      </p:sp>
      <p:sp>
        <p:nvSpPr>
          <p:cNvPr id="8" name="Text 6"/>
          <p:cNvSpPr/>
          <p:nvPr/>
        </p:nvSpPr>
        <p:spPr>
          <a:xfrm>
            <a:off x="2011680" y="2148840"/>
            <a:ext cx="320040" cy="777240"/>
          </a:xfrm>
          <a:prstGeom prst="rect">
            <a:avLst/>
          </a:prstGeom>
          <a:noFill/>
          <a:ln/>
        </p:spPr>
        <p:txBody>
          <a:bodyPr wrap="square" lIns="0" tIns="0" rIns="0" bIns="0" rtlCol="0" anchor="ctr"/>
          <a:lstStyle/>
          <a:p>
            <a:pPr algn="ctr" indent="0" marL="0">
              <a:buNone/>
            </a:pPr>
            <a:r>
              <a:rPr lang="en-US" sz="1400" b="1" dirty="0">
                <a:solidFill>
                  <a:srgbClr val="5B6B79"/>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075688" y="2148840"/>
            <a:ext cx="1481328" cy="777240"/>
          </a:xfrm>
          <a:prstGeom prst="roundRect">
            <a:avLst>
              <a:gd name="adj" fmla="val 9412"/>
            </a:avLst>
          </a:prstGeom>
          <a:solidFill>
            <a:srgbClr val="1E56A0"/>
          </a:solidFill>
          <a:ln/>
        </p:spPr>
      </p:sp>
      <p:sp>
        <p:nvSpPr>
          <p:cNvPr id="10" name="Text 8"/>
          <p:cNvSpPr/>
          <p:nvPr/>
        </p:nvSpPr>
        <p:spPr>
          <a:xfrm>
            <a:off x="2075688" y="2148840"/>
            <a:ext cx="1481328"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WHERE</a:t>
            </a:r>
            <a:endParaRPr lang="en-US" sz="1050" dirty="0"/>
          </a:p>
        </p:txBody>
      </p:sp>
      <p:sp>
        <p:nvSpPr>
          <p:cNvPr id="11" name="Text 9"/>
          <p:cNvSpPr/>
          <p:nvPr/>
        </p:nvSpPr>
        <p:spPr>
          <a:xfrm>
            <a:off x="3538728" y="2148840"/>
            <a:ext cx="320040" cy="777240"/>
          </a:xfrm>
          <a:prstGeom prst="rect">
            <a:avLst/>
          </a:prstGeom>
          <a:noFill/>
          <a:ln/>
        </p:spPr>
        <p:txBody>
          <a:bodyPr wrap="square" lIns="0" tIns="0" rIns="0" bIns="0" rtlCol="0" anchor="ctr"/>
          <a:lstStyle/>
          <a:p>
            <a:pPr algn="ctr" indent="0" marL="0">
              <a:buNone/>
            </a:pPr>
            <a:r>
              <a:rPr lang="en-US" sz="1400" b="1" dirty="0">
                <a:solidFill>
                  <a:srgbClr val="5B6B79"/>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3602736" y="2148840"/>
            <a:ext cx="1481328" cy="777240"/>
          </a:xfrm>
          <a:prstGeom prst="roundRect">
            <a:avLst>
              <a:gd name="adj" fmla="val 9412"/>
            </a:avLst>
          </a:prstGeom>
          <a:solidFill>
            <a:srgbClr val="1E56A0"/>
          </a:solidFill>
          <a:ln/>
        </p:spPr>
      </p:sp>
      <p:sp>
        <p:nvSpPr>
          <p:cNvPr id="13" name="Text 11"/>
          <p:cNvSpPr/>
          <p:nvPr/>
        </p:nvSpPr>
        <p:spPr>
          <a:xfrm>
            <a:off x="3602736" y="2148840"/>
            <a:ext cx="1481328"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GROUP BY</a:t>
            </a:r>
            <a:endParaRPr lang="en-US" sz="1050" dirty="0"/>
          </a:p>
        </p:txBody>
      </p:sp>
      <p:sp>
        <p:nvSpPr>
          <p:cNvPr id="14" name="Text 12"/>
          <p:cNvSpPr/>
          <p:nvPr/>
        </p:nvSpPr>
        <p:spPr>
          <a:xfrm>
            <a:off x="5065776" y="2148840"/>
            <a:ext cx="320040" cy="777240"/>
          </a:xfrm>
          <a:prstGeom prst="rect">
            <a:avLst/>
          </a:prstGeom>
          <a:noFill/>
          <a:ln/>
        </p:spPr>
        <p:txBody>
          <a:bodyPr wrap="square" lIns="0" tIns="0" rIns="0" bIns="0" rtlCol="0" anchor="ctr"/>
          <a:lstStyle/>
          <a:p>
            <a:pPr algn="ctr" indent="0" marL="0">
              <a:buNone/>
            </a:pPr>
            <a:r>
              <a:rPr lang="en-US" sz="1400" b="1" dirty="0">
                <a:solidFill>
                  <a:srgbClr val="5B6B79"/>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129784" y="2148840"/>
            <a:ext cx="1481328" cy="777240"/>
          </a:xfrm>
          <a:prstGeom prst="roundRect">
            <a:avLst>
              <a:gd name="adj" fmla="val 9412"/>
            </a:avLst>
          </a:prstGeom>
          <a:solidFill>
            <a:srgbClr val="1E56A0"/>
          </a:solidFill>
          <a:ln/>
        </p:spPr>
      </p:sp>
      <p:sp>
        <p:nvSpPr>
          <p:cNvPr id="16" name="Text 14"/>
          <p:cNvSpPr/>
          <p:nvPr/>
        </p:nvSpPr>
        <p:spPr>
          <a:xfrm>
            <a:off x="5129784" y="2148840"/>
            <a:ext cx="1481328"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HAVING</a:t>
            </a:r>
            <a:endParaRPr lang="en-US" sz="1050" dirty="0"/>
          </a:p>
        </p:txBody>
      </p:sp>
      <p:sp>
        <p:nvSpPr>
          <p:cNvPr id="17" name="Text 15"/>
          <p:cNvSpPr/>
          <p:nvPr/>
        </p:nvSpPr>
        <p:spPr>
          <a:xfrm>
            <a:off x="6592824" y="2148840"/>
            <a:ext cx="320040" cy="777240"/>
          </a:xfrm>
          <a:prstGeom prst="rect">
            <a:avLst/>
          </a:prstGeom>
          <a:noFill/>
          <a:ln/>
        </p:spPr>
        <p:txBody>
          <a:bodyPr wrap="square" lIns="0" tIns="0" rIns="0" bIns="0" rtlCol="0" anchor="ctr"/>
          <a:lstStyle/>
          <a:p>
            <a:pPr algn="ctr" indent="0" marL="0">
              <a:buNone/>
            </a:pPr>
            <a:r>
              <a:rPr lang="en-US" sz="1400" b="1" dirty="0">
                <a:solidFill>
                  <a:srgbClr val="5B6B79"/>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6656832" y="2148840"/>
            <a:ext cx="1481328" cy="777240"/>
          </a:xfrm>
          <a:prstGeom prst="roundRect">
            <a:avLst>
              <a:gd name="adj" fmla="val 9412"/>
            </a:avLst>
          </a:prstGeom>
          <a:solidFill>
            <a:srgbClr val="1E56A0"/>
          </a:solidFill>
          <a:ln/>
        </p:spPr>
      </p:sp>
      <p:sp>
        <p:nvSpPr>
          <p:cNvPr id="19" name="Text 17"/>
          <p:cNvSpPr/>
          <p:nvPr/>
        </p:nvSpPr>
        <p:spPr>
          <a:xfrm>
            <a:off x="6656832" y="2148840"/>
            <a:ext cx="1481328"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SELECT</a:t>
            </a:r>
            <a:endParaRPr lang="en-US" sz="1050" dirty="0"/>
          </a:p>
        </p:txBody>
      </p:sp>
      <p:sp>
        <p:nvSpPr>
          <p:cNvPr id="20" name="Text 18"/>
          <p:cNvSpPr/>
          <p:nvPr/>
        </p:nvSpPr>
        <p:spPr>
          <a:xfrm>
            <a:off x="8119872" y="2148840"/>
            <a:ext cx="320040" cy="777240"/>
          </a:xfrm>
          <a:prstGeom prst="rect">
            <a:avLst/>
          </a:prstGeom>
          <a:noFill/>
          <a:ln/>
        </p:spPr>
        <p:txBody>
          <a:bodyPr wrap="square" lIns="0" tIns="0" rIns="0" bIns="0" rtlCol="0" anchor="ctr"/>
          <a:lstStyle/>
          <a:p>
            <a:pPr algn="ctr" indent="0" marL="0">
              <a:buNone/>
            </a:pPr>
            <a:r>
              <a:rPr lang="en-US" sz="1400" b="1" dirty="0">
                <a:solidFill>
                  <a:srgbClr val="5B6B79"/>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8183880" y="2148840"/>
            <a:ext cx="1481328" cy="777240"/>
          </a:xfrm>
          <a:prstGeom prst="roundRect">
            <a:avLst>
              <a:gd name="adj" fmla="val 9412"/>
            </a:avLst>
          </a:prstGeom>
          <a:solidFill>
            <a:srgbClr val="1E56A0"/>
          </a:solidFill>
          <a:ln/>
        </p:spPr>
      </p:sp>
      <p:sp>
        <p:nvSpPr>
          <p:cNvPr id="22" name="Text 20"/>
          <p:cNvSpPr/>
          <p:nvPr/>
        </p:nvSpPr>
        <p:spPr>
          <a:xfrm>
            <a:off x="8183880" y="2148840"/>
            <a:ext cx="1481328"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ORDER BY</a:t>
            </a:r>
            <a:endParaRPr lang="en-US" sz="1050" dirty="0"/>
          </a:p>
        </p:txBody>
      </p:sp>
      <p:sp>
        <p:nvSpPr>
          <p:cNvPr id="23" name="Text 21"/>
          <p:cNvSpPr/>
          <p:nvPr/>
        </p:nvSpPr>
        <p:spPr>
          <a:xfrm>
            <a:off x="9646920" y="2148840"/>
            <a:ext cx="320040" cy="777240"/>
          </a:xfrm>
          <a:prstGeom prst="rect">
            <a:avLst/>
          </a:prstGeom>
          <a:noFill/>
          <a:ln/>
        </p:spPr>
        <p:txBody>
          <a:bodyPr wrap="square" lIns="0" tIns="0" rIns="0" bIns="0" rtlCol="0" anchor="ctr"/>
          <a:lstStyle/>
          <a:p>
            <a:pPr algn="ctr" indent="0" marL="0">
              <a:buNone/>
            </a:pPr>
            <a:r>
              <a:rPr lang="en-US" sz="1400" b="1" dirty="0">
                <a:solidFill>
                  <a:srgbClr val="5B6B79"/>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9710928" y="2148840"/>
            <a:ext cx="1481328" cy="777240"/>
          </a:xfrm>
          <a:prstGeom prst="roundRect">
            <a:avLst>
              <a:gd name="adj" fmla="val 9412"/>
            </a:avLst>
          </a:prstGeom>
          <a:solidFill>
            <a:srgbClr val="1E56A0"/>
          </a:solidFill>
          <a:ln/>
        </p:spPr>
      </p:sp>
      <p:sp>
        <p:nvSpPr>
          <p:cNvPr id="25" name="Text 23"/>
          <p:cNvSpPr/>
          <p:nvPr/>
        </p:nvSpPr>
        <p:spPr>
          <a:xfrm>
            <a:off x="9710928" y="2148840"/>
            <a:ext cx="1481328"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LIMIT</a:t>
            </a:r>
            <a:endParaRPr lang="en-US" sz="1050" dirty="0"/>
          </a:p>
        </p:txBody>
      </p:sp>
      <p:sp>
        <p:nvSpPr>
          <p:cNvPr id="26" name="Text 24"/>
          <p:cNvSpPr/>
          <p:nvPr/>
        </p:nvSpPr>
        <p:spPr>
          <a:xfrm>
            <a:off x="548640" y="3246120"/>
            <a:ext cx="10607040" cy="292608"/>
          </a:xfrm>
          <a:prstGeom prst="rect">
            <a:avLst/>
          </a:prstGeom>
          <a:noFill/>
          <a:ln/>
        </p:spPr>
        <p:txBody>
          <a:bodyPr wrap="square" lIns="0" tIns="0" rIns="0" bIns="0" rtlCol="0" anchor="ctr"/>
          <a:lstStyle/>
          <a:p>
            <a:pPr indent="0" marL="0">
              <a:buNone/>
            </a:pPr>
            <a:r>
              <a:rPr lang="en-US" sz="1150" b="1" dirty="0">
                <a:solidFill>
                  <a:srgbClr val="1E56A0"/>
                </a:solidFill>
                <a:latin typeface="Courier New" pitchFamily="34" charset="0"/>
                <a:ea typeface="Courier New" pitchFamily="34" charset="-122"/>
                <a:cs typeface="Courier New" pitchFamily="34" charset="-120"/>
              </a:rPr>
              <a:t>FROM:  </a:t>
            </a:r>
            <a:pPr indent="0" marL="0">
              <a:buNone/>
            </a:pPr>
            <a:r>
              <a:rPr lang="en-US" sz="1150" dirty="0">
                <a:solidFill>
                  <a:srgbClr val="5B6B79"/>
                </a:solidFill>
                <a:latin typeface="Calibri" pitchFamily="34" charset="0"/>
                <a:ea typeface="Calibri" pitchFamily="34" charset="-122"/>
                <a:cs typeface="Calibri" pitchFamily="34" charset="-120"/>
              </a:rPr>
              <a:t>Pick the table(s) to start from</a:t>
            </a:r>
            <a:endParaRPr lang="en-US" sz="1150" dirty="0"/>
          </a:p>
        </p:txBody>
      </p:sp>
      <p:sp>
        <p:nvSpPr>
          <p:cNvPr id="27" name="Text 25"/>
          <p:cNvSpPr/>
          <p:nvPr/>
        </p:nvSpPr>
        <p:spPr>
          <a:xfrm>
            <a:off x="548640" y="3575304"/>
            <a:ext cx="10607040" cy="292608"/>
          </a:xfrm>
          <a:prstGeom prst="rect">
            <a:avLst/>
          </a:prstGeom>
          <a:noFill/>
          <a:ln/>
        </p:spPr>
        <p:txBody>
          <a:bodyPr wrap="square" lIns="0" tIns="0" rIns="0" bIns="0" rtlCol="0" anchor="ctr"/>
          <a:lstStyle/>
          <a:p>
            <a:pPr indent="0" marL="0">
              <a:buNone/>
            </a:pPr>
            <a:r>
              <a:rPr lang="en-US" sz="1150" b="1" dirty="0">
                <a:solidFill>
                  <a:srgbClr val="1E56A0"/>
                </a:solidFill>
                <a:latin typeface="Courier New" pitchFamily="34" charset="0"/>
                <a:ea typeface="Courier New" pitchFamily="34" charset="-122"/>
                <a:cs typeface="Courier New" pitchFamily="34" charset="-120"/>
              </a:rPr>
              <a:t>WHERE:  </a:t>
            </a:r>
            <a:pPr indent="0" marL="0">
              <a:buNone/>
            </a:pPr>
            <a:r>
              <a:rPr lang="en-US" sz="1150" dirty="0">
                <a:solidFill>
                  <a:srgbClr val="5B6B79"/>
                </a:solidFill>
                <a:latin typeface="Calibri" pitchFamily="34" charset="0"/>
                <a:ea typeface="Calibri" pitchFamily="34" charset="-122"/>
                <a:cs typeface="Calibri" pitchFamily="34" charset="-120"/>
              </a:rPr>
              <a:t>Filter individual rows</a:t>
            </a:r>
            <a:endParaRPr lang="en-US" sz="1150" dirty="0"/>
          </a:p>
        </p:txBody>
      </p:sp>
      <p:sp>
        <p:nvSpPr>
          <p:cNvPr id="28" name="Text 26"/>
          <p:cNvSpPr/>
          <p:nvPr/>
        </p:nvSpPr>
        <p:spPr>
          <a:xfrm>
            <a:off x="548640" y="3904488"/>
            <a:ext cx="10607040" cy="292608"/>
          </a:xfrm>
          <a:prstGeom prst="rect">
            <a:avLst/>
          </a:prstGeom>
          <a:noFill/>
          <a:ln/>
        </p:spPr>
        <p:txBody>
          <a:bodyPr wrap="square" lIns="0" tIns="0" rIns="0" bIns="0" rtlCol="0" anchor="ctr"/>
          <a:lstStyle/>
          <a:p>
            <a:pPr indent="0" marL="0">
              <a:buNone/>
            </a:pPr>
            <a:r>
              <a:rPr lang="en-US" sz="1150" b="1" dirty="0">
                <a:solidFill>
                  <a:srgbClr val="1E56A0"/>
                </a:solidFill>
                <a:latin typeface="Courier New" pitchFamily="34" charset="0"/>
                <a:ea typeface="Courier New" pitchFamily="34" charset="-122"/>
                <a:cs typeface="Courier New" pitchFamily="34" charset="-120"/>
              </a:rPr>
              <a:t>GROUP BY:  </a:t>
            </a:r>
            <a:pPr indent="0" marL="0">
              <a:buNone/>
            </a:pPr>
            <a:r>
              <a:rPr lang="en-US" sz="1150" dirty="0">
                <a:solidFill>
                  <a:srgbClr val="5B6B79"/>
                </a:solidFill>
                <a:latin typeface="Calibri" pitchFamily="34" charset="0"/>
                <a:ea typeface="Calibri" pitchFamily="34" charset="-122"/>
                <a:cs typeface="Calibri" pitchFamily="34" charset="-120"/>
              </a:rPr>
              <a:t>Collapse rows into groups</a:t>
            </a:r>
            <a:endParaRPr lang="en-US" sz="1150" dirty="0"/>
          </a:p>
        </p:txBody>
      </p:sp>
      <p:sp>
        <p:nvSpPr>
          <p:cNvPr id="29" name="Text 27"/>
          <p:cNvSpPr/>
          <p:nvPr/>
        </p:nvSpPr>
        <p:spPr>
          <a:xfrm>
            <a:off x="548640" y="4233672"/>
            <a:ext cx="10607040" cy="292608"/>
          </a:xfrm>
          <a:prstGeom prst="rect">
            <a:avLst/>
          </a:prstGeom>
          <a:noFill/>
          <a:ln/>
        </p:spPr>
        <p:txBody>
          <a:bodyPr wrap="square" lIns="0" tIns="0" rIns="0" bIns="0" rtlCol="0" anchor="ctr"/>
          <a:lstStyle/>
          <a:p>
            <a:pPr indent="0" marL="0">
              <a:buNone/>
            </a:pPr>
            <a:r>
              <a:rPr lang="en-US" sz="1150" b="1" dirty="0">
                <a:solidFill>
                  <a:srgbClr val="1E56A0"/>
                </a:solidFill>
                <a:latin typeface="Courier New" pitchFamily="34" charset="0"/>
                <a:ea typeface="Courier New" pitchFamily="34" charset="-122"/>
                <a:cs typeface="Courier New" pitchFamily="34" charset="-120"/>
              </a:rPr>
              <a:t>HAVING:  </a:t>
            </a:r>
            <a:pPr indent="0" marL="0">
              <a:buNone/>
            </a:pPr>
            <a:r>
              <a:rPr lang="en-US" sz="1150" dirty="0">
                <a:solidFill>
                  <a:srgbClr val="5B6B79"/>
                </a:solidFill>
                <a:latin typeface="Calibri" pitchFamily="34" charset="0"/>
                <a:ea typeface="Calibri" pitchFamily="34" charset="-122"/>
                <a:cs typeface="Calibri" pitchFamily="34" charset="-120"/>
              </a:rPr>
              <a:t>Filter the groups themselves</a:t>
            </a:r>
            <a:endParaRPr lang="en-US" sz="1150" dirty="0"/>
          </a:p>
        </p:txBody>
      </p:sp>
      <p:sp>
        <p:nvSpPr>
          <p:cNvPr id="30" name="Text 28"/>
          <p:cNvSpPr/>
          <p:nvPr/>
        </p:nvSpPr>
        <p:spPr>
          <a:xfrm>
            <a:off x="548640" y="4562856"/>
            <a:ext cx="10607040" cy="292608"/>
          </a:xfrm>
          <a:prstGeom prst="rect">
            <a:avLst/>
          </a:prstGeom>
          <a:noFill/>
          <a:ln/>
        </p:spPr>
        <p:txBody>
          <a:bodyPr wrap="square" lIns="0" tIns="0" rIns="0" bIns="0" rtlCol="0" anchor="ctr"/>
          <a:lstStyle/>
          <a:p>
            <a:pPr indent="0" marL="0">
              <a:buNone/>
            </a:pPr>
            <a:r>
              <a:rPr lang="en-US" sz="1150" b="1" dirty="0">
                <a:solidFill>
                  <a:srgbClr val="1E56A0"/>
                </a:solidFill>
                <a:latin typeface="Courier New" pitchFamily="34" charset="0"/>
                <a:ea typeface="Courier New" pitchFamily="34" charset="-122"/>
                <a:cs typeface="Courier New" pitchFamily="34" charset="-120"/>
              </a:rPr>
              <a:t>SELECT:  </a:t>
            </a:r>
            <a:pPr indent="0" marL="0">
              <a:buNone/>
            </a:pPr>
            <a:r>
              <a:rPr lang="en-US" sz="1150" dirty="0">
                <a:solidFill>
                  <a:srgbClr val="5B6B79"/>
                </a:solidFill>
                <a:latin typeface="Calibri" pitchFamily="34" charset="0"/>
                <a:ea typeface="Calibri" pitchFamily="34" charset="-122"/>
                <a:cs typeface="Calibri" pitchFamily="34" charset="-120"/>
              </a:rPr>
              <a:t>Choose which columns to return</a:t>
            </a:r>
            <a:endParaRPr lang="en-US" sz="1150" dirty="0"/>
          </a:p>
        </p:txBody>
      </p:sp>
      <p:sp>
        <p:nvSpPr>
          <p:cNvPr id="31" name="Text 29"/>
          <p:cNvSpPr/>
          <p:nvPr/>
        </p:nvSpPr>
        <p:spPr>
          <a:xfrm>
            <a:off x="548640" y="4892040"/>
            <a:ext cx="10607040" cy="292608"/>
          </a:xfrm>
          <a:prstGeom prst="rect">
            <a:avLst/>
          </a:prstGeom>
          <a:noFill/>
          <a:ln/>
        </p:spPr>
        <p:txBody>
          <a:bodyPr wrap="square" lIns="0" tIns="0" rIns="0" bIns="0" rtlCol="0" anchor="ctr"/>
          <a:lstStyle/>
          <a:p>
            <a:pPr indent="0" marL="0">
              <a:buNone/>
            </a:pPr>
            <a:r>
              <a:rPr lang="en-US" sz="1150" b="1" dirty="0">
                <a:solidFill>
                  <a:srgbClr val="1E56A0"/>
                </a:solidFill>
                <a:latin typeface="Courier New" pitchFamily="34" charset="0"/>
                <a:ea typeface="Courier New" pitchFamily="34" charset="-122"/>
                <a:cs typeface="Courier New" pitchFamily="34" charset="-120"/>
              </a:rPr>
              <a:t>ORDER BY:  </a:t>
            </a:r>
            <a:pPr indent="0" marL="0">
              <a:buNone/>
            </a:pPr>
            <a:r>
              <a:rPr lang="en-US" sz="1150" dirty="0">
                <a:solidFill>
                  <a:srgbClr val="5B6B79"/>
                </a:solidFill>
                <a:latin typeface="Calibri" pitchFamily="34" charset="0"/>
                <a:ea typeface="Calibri" pitchFamily="34" charset="-122"/>
                <a:cs typeface="Calibri" pitchFamily="34" charset="-120"/>
              </a:rPr>
              <a:t>Sort the final result set</a:t>
            </a:r>
            <a:endParaRPr lang="en-US" sz="1150" dirty="0"/>
          </a:p>
        </p:txBody>
      </p:sp>
      <p:sp>
        <p:nvSpPr>
          <p:cNvPr id="32" name="Text 30"/>
          <p:cNvSpPr/>
          <p:nvPr/>
        </p:nvSpPr>
        <p:spPr>
          <a:xfrm>
            <a:off x="548640" y="5221224"/>
            <a:ext cx="10607040" cy="292608"/>
          </a:xfrm>
          <a:prstGeom prst="rect">
            <a:avLst/>
          </a:prstGeom>
          <a:noFill/>
          <a:ln/>
        </p:spPr>
        <p:txBody>
          <a:bodyPr wrap="square" lIns="0" tIns="0" rIns="0" bIns="0" rtlCol="0" anchor="ctr"/>
          <a:lstStyle/>
          <a:p>
            <a:pPr indent="0" marL="0">
              <a:buNone/>
            </a:pPr>
            <a:r>
              <a:rPr lang="en-US" sz="1150" b="1" dirty="0">
                <a:solidFill>
                  <a:srgbClr val="1E56A0"/>
                </a:solidFill>
                <a:latin typeface="Courier New" pitchFamily="34" charset="0"/>
                <a:ea typeface="Courier New" pitchFamily="34" charset="-122"/>
                <a:cs typeface="Courier New" pitchFamily="34" charset="-120"/>
              </a:rPr>
              <a:t>LIMIT:  </a:t>
            </a:r>
            <a:pPr indent="0" marL="0">
              <a:buNone/>
            </a:pPr>
            <a:r>
              <a:rPr lang="en-US" sz="1150" dirty="0">
                <a:solidFill>
                  <a:srgbClr val="5B6B79"/>
                </a:solidFill>
                <a:latin typeface="Calibri" pitchFamily="34" charset="0"/>
                <a:ea typeface="Calibri" pitchFamily="34" charset="-122"/>
                <a:cs typeface="Calibri" pitchFamily="34" charset="-120"/>
              </a:rPr>
              <a:t>Cut down to a fixed number of rows</a:t>
            </a:r>
            <a:endParaRPr lang="en-US" sz="1150" dirty="0"/>
          </a:p>
        </p:txBody>
      </p:sp>
      <p:sp>
        <p:nvSpPr>
          <p:cNvPr id="33" name="Text 3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34" name="Text 3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1C2C"/>
        </a:solidFill>
      </p:bgPr>
    </p:bg>
    <p:spTree>
      <p:nvGrpSpPr>
        <p:cNvPr id="1" name=""/>
        <p:cNvGrpSpPr/>
        <p:nvPr/>
      </p:nvGrpSpPr>
      <p:grpSpPr>
        <a:xfrm>
          <a:off x="0" y="0"/>
          <a:ext cx="0" cy="0"/>
          <a:chOff x="0" y="0"/>
          <a:chExt cx="0" cy="0"/>
        </a:xfrm>
      </p:grpSpPr>
      <p:sp>
        <p:nvSpPr>
          <p:cNvPr id="2" name="Shape 0"/>
          <p:cNvSpPr/>
          <p:nvPr/>
        </p:nvSpPr>
        <p:spPr>
          <a:xfrm>
            <a:off x="9692640" y="731520"/>
            <a:ext cx="146304" cy="146304"/>
          </a:xfrm>
          <a:prstGeom prst="ellipse">
            <a:avLst/>
          </a:prstGeom>
          <a:solidFill>
            <a:srgbClr val="0FA3B1"/>
          </a:solidFill>
          <a:ln/>
        </p:spPr>
      </p:sp>
      <p:sp>
        <p:nvSpPr>
          <p:cNvPr id="3" name="Shape 1"/>
          <p:cNvSpPr/>
          <p:nvPr/>
        </p:nvSpPr>
        <p:spPr>
          <a:xfrm>
            <a:off x="10424160" y="1188720"/>
            <a:ext cx="146304" cy="146304"/>
          </a:xfrm>
          <a:prstGeom prst="ellipse">
            <a:avLst/>
          </a:prstGeom>
          <a:solidFill>
            <a:srgbClr val="0FA3B1"/>
          </a:solidFill>
          <a:ln/>
        </p:spPr>
      </p:sp>
      <p:sp>
        <p:nvSpPr>
          <p:cNvPr id="4" name="Shape 2"/>
          <p:cNvSpPr/>
          <p:nvPr/>
        </p:nvSpPr>
        <p:spPr>
          <a:xfrm>
            <a:off x="9326880" y="1645920"/>
            <a:ext cx="146304" cy="146304"/>
          </a:xfrm>
          <a:prstGeom prst="ellipse">
            <a:avLst/>
          </a:prstGeom>
          <a:solidFill>
            <a:srgbClr val="0FA3B1"/>
          </a:solidFill>
          <a:ln/>
        </p:spPr>
      </p:sp>
      <p:sp>
        <p:nvSpPr>
          <p:cNvPr id="5" name="Shape 3"/>
          <p:cNvSpPr/>
          <p:nvPr/>
        </p:nvSpPr>
        <p:spPr>
          <a:xfrm>
            <a:off x="11064240" y="822960"/>
            <a:ext cx="146304" cy="146304"/>
          </a:xfrm>
          <a:prstGeom prst="ellipse">
            <a:avLst/>
          </a:prstGeom>
          <a:solidFill>
            <a:srgbClr val="0FA3B1"/>
          </a:solidFill>
          <a:ln/>
        </p:spPr>
      </p:sp>
      <p:sp>
        <p:nvSpPr>
          <p:cNvPr id="6" name="Shape 4"/>
          <p:cNvSpPr/>
          <p:nvPr/>
        </p:nvSpPr>
        <p:spPr>
          <a:xfrm>
            <a:off x="10881360" y="2011680"/>
            <a:ext cx="146304" cy="146304"/>
          </a:xfrm>
          <a:prstGeom prst="ellipse">
            <a:avLst/>
          </a:prstGeom>
          <a:solidFill>
            <a:srgbClr val="0FA3B1"/>
          </a:solidFill>
          <a:ln/>
        </p:spPr>
      </p:sp>
      <p:sp>
        <p:nvSpPr>
          <p:cNvPr id="7" name="Shape 5"/>
          <p:cNvSpPr/>
          <p:nvPr/>
        </p:nvSpPr>
        <p:spPr>
          <a:xfrm>
            <a:off x="9875520" y="2377440"/>
            <a:ext cx="146304" cy="146304"/>
          </a:xfrm>
          <a:prstGeom prst="ellipse">
            <a:avLst/>
          </a:prstGeom>
          <a:solidFill>
            <a:srgbClr val="0FA3B1"/>
          </a:solidFill>
          <a:ln/>
        </p:spPr>
      </p:sp>
      <p:sp>
        <p:nvSpPr>
          <p:cNvPr id="8" name="Text 6"/>
          <p:cNvSpPr/>
          <p:nvPr/>
        </p:nvSpPr>
        <p:spPr>
          <a:xfrm>
            <a:off x="822960" y="2651760"/>
            <a:ext cx="7315200" cy="457200"/>
          </a:xfrm>
          <a:prstGeom prst="rect">
            <a:avLst/>
          </a:prstGeom>
          <a:noFill/>
          <a:ln/>
        </p:spPr>
        <p:txBody>
          <a:bodyPr wrap="square" lIns="0" tIns="0" rIns="0" bIns="0" rtlCol="0" anchor="ctr"/>
          <a:lstStyle/>
          <a:p>
            <a:pPr indent="0" marL="0">
              <a:buNone/>
            </a:pPr>
            <a:r>
              <a:rPr lang="en-US" sz="1400" b="1" spc="300" kern="0" dirty="0">
                <a:solidFill>
                  <a:srgbClr val="2FBF8F"/>
                </a:solidFill>
                <a:latin typeface="Calibri" pitchFamily="34" charset="0"/>
                <a:ea typeface="Calibri" pitchFamily="34" charset="-122"/>
                <a:cs typeface="Calibri" pitchFamily="34" charset="-120"/>
              </a:rPr>
              <a:t>PART 7</a:t>
            </a:r>
            <a:endParaRPr lang="en-US" sz="1400" dirty="0"/>
          </a:p>
        </p:txBody>
      </p:sp>
      <p:sp>
        <p:nvSpPr>
          <p:cNvPr id="9" name="Text 7"/>
          <p:cNvSpPr/>
          <p:nvPr/>
        </p:nvSpPr>
        <p:spPr>
          <a:xfrm>
            <a:off x="822960" y="3063240"/>
            <a:ext cx="10058400" cy="10972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Combining Tables</a:t>
            </a:r>
            <a:endParaRPr lang="en-US" sz="3800" dirty="0"/>
          </a:p>
        </p:txBody>
      </p:sp>
      <p:sp>
        <p:nvSpPr>
          <p:cNvPr id="10" name="Shape 8"/>
          <p:cNvSpPr/>
          <p:nvPr/>
        </p:nvSpPr>
        <p:spPr>
          <a:xfrm>
            <a:off x="822960" y="3977640"/>
            <a:ext cx="2011680" cy="0"/>
          </a:xfrm>
          <a:prstGeom prst="line">
            <a:avLst/>
          </a:prstGeom>
          <a:noFill/>
          <a:ln w="25400">
            <a:solidFill>
              <a:srgbClr val="1E56A0"/>
            </a:solidFill>
            <a:prstDash val="solid"/>
          </a:ln>
        </p:spPr>
      </p:sp>
      <p:sp>
        <p:nvSpPr>
          <p:cNvPr id="11" name="Text 9"/>
          <p:cNvSpPr/>
          <p:nvPr/>
        </p:nvSpPr>
        <p:spPr>
          <a:xfrm>
            <a:off x="822960" y="4160520"/>
            <a:ext cx="9144000" cy="548640"/>
          </a:xfrm>
          <a:prstGeom prst="rect">
            <a:avLst/>
          </a:prstGeom>
          <a:noFill/>
          <a:ln/>
        </p:spPr>
        <p:txBody>
          <a:bodyPr wrap="square" lIns="0" tIns="0" rIns="0" bIns="0" rtlCol="0" anchor="ctr"/>
          <a:lstStyle/>
          <a:p>
            <a:pPr indent="0" marL="0">
              <a:buNone/>
            </a:pPr>
            <a:r>
              <a:rPr lang="en-US" sz="1500" i="1" dirty="0">
                <a:solidFill>
                  <a:srgbClr val="BFD6E8"/>
                </a:solidFill>
                <a:latin typeface="Calibri" pitchFamily="34" charset="0"/>
                <a:ea typeface="Calibri" pitchFamily="34" charset="-122"/>
                <a:cs typeface="Calibri" pitchFamily="34" charset="-120"/>
              </a:rPr>
              <a:t>Multi-table SELECT and every type of JOIN</a:t>
            </a:r>
            <a:endParaRPr lang="en-US" sz="15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3"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7</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Multi-Table SELECT: The Old Way</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Combine data from multiple tables by listing them both in FROM, and matching them in WHERE</a:t>
            </a:r>
            <a:endParaRPr lang="en-US" sz="1350" dirty="0"/>
          </a:p>
        </p:txBody>
      </p:sp>
      <p:sp>
        <p:nvSpPr>
          <p:cNvPr id="6" name="Shape 4"/>
          <p:cNvSpPr/>
          <p:nvPr/>
        </p:nvSpPr>
        <p:spPr>
          <a:xfrm>
            <a:off x="548640" y="1965960"/>
            <a:ext cx="10652760" cy="822960"/>
          </a:xfrm>
          <a:prstGeom prst="roundRect">
            <a:avLst>
              <a:gd name="adj" fmla="val 8889"/>
            </a:avLst>
          </a:prstGeom>
          <a:solidFill>
            <a:srgbClr val="0E2A3D"/>
          </a:solidFill>
          <a:ln/>
        </p:spPr>
      </p:sp>
      <p:sp>
        <p:nvSpPr>
          <p:cNvPr id="7" name="Text 5"/>
          <p:cNvSpPr/>
          <p:nvPr/>
        </p:nvSpPr>
        <p:spPr>
          <a:xfrm>
            <a:off x="749808" y="2039112"/>
            <a:ext cx="10250424" cy="676656"/>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SELECT s.*, CONCAT(first_name, ' ', last_name) AS "name"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FROM employees.employees AS e, employees.salaries AS s</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WHERE e.emp_no = s.emp_no;</a:t>
            </a:r>
            <a:endParaRPr lang="en-US" sz="1500" dirty="0"/>
          </a:p>
        </p:txBody>
      </p:sp>
      <p:sp>
        <p:nvSpPr>
          <p:cNvPr id="8" name="Shape 6"/>
          <p:cNvSpPr/>
          <p:nvPr/>
        </p:nvSpPr>
        <p:spPr>
          <a:xfrm>
            <a:off x="548640" y="2953512"/>
            <a:ext cx="10652760" cy="530352"/>
          </a:xfrm>
          <a:prstGeom prst="roundRect">
            <a:avLst>
              <a:gd name="adj" fmla="val 10345"/>
            </a:avLst>
          </a:prstGeom>
          <a:solidFill>
            <a:srgbClr val="F2F6FA"/>
          </a:solidFill>
          <a:ln/>
        </p:spPr>
      </p:sp>
      <p:sp>
        <p:nvSpPr>
          <p:cNvPr id="9" name="Text 7"/>
          <p:cNvSpPr/>
          <p:nvPr/>
        </p:nvSpPr>
        <p:spPr>
          <a:xfrm>
            <a:off x="777240" y="2953512"/>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FROM a, b</a:t>
            </a:r>
            <a:endParaRPr lang="en-US" sz="1250" dirty="0"/>
          </a:p>
        </p:txBody>
      </p:sp>
      <p:sp>
        <p:nvSpPr>
          <p:cNvPr id="10" name="Text 8"/>
          <p:cNvSpPr/>
          <p:nvPr/>
        </p:nvSpPr>
        <p:spPr>
          <a:xfrm>
            <a:off x="3291840" y="2953512"/>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Lists both tables, comma-separated — each one aliased for short reference</a:t>
            </a:r>
            <a:endParaRPr lang="en-US" sz="1200" dirty="0"/>
          </a:p>
        </p:txBody>
      </p:sp>
      <p:sp>
        <p:nvSpPr>
          <p:cNvPr id="11" name="Shape 9"/>
          <p:cNvSpPr/>
          <p:nvPr/>
        </p:nvSpPr>
        <p:spPr>
          <a:xfrm>
            <a:off x="548640" y="3566160"/>
            <a:ext cx="10652760" cy="530352"/>
          </a:xfrm>
          <a:prstGeom prst="roundRect">
            <a:avLst>
              <a:gd name="adj" fmla="val 10345"/>
            </a:avLst>
          </a:prstGeom>
          <a:solidFill>
            <a:srgbClr val="F2F6FA"/>
          </a:solidFill>
          <a:ln/>
        </p:spPr>
      </p:sp>
      <p:sp>
        <p:nvSpPr>
          <p:cNvPr id="12" name="Text 10"/>
          <p:cNvSpPr/>
          <p:nvPr/>
        </p:nvSpPr>
        <p:spPr>
          <a:xfrm>
            <a:off x="777240" y="3566160"/>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WHERE a.key = b.key</a:t>
            </a:r>
            <a:endParaRPr lang="en-US" sz="1250" dirty="0"/>
          </a:p>
        </p:txBody>
      </p:sp>
      <p:sp>
        <p:nvSpPr>
          <p:cNvPr id="13" name="Text 11"/>
          <p:cNvSpPr/>
          <p:nvPr/>
        </p:nvSpPr>
        <p:spPr>
          <a:xfrm>
            <a:off x="3291840" y="3566160"/>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The condition that actually links matching rows together</a:t>
            </a:r>
            <a:endParaRPr lang="en-US" sz="1200" dirty="0"/>
          </a:p>
        </p:txBody>
      </p:sp>
      <p:sp>
        <p:nvSpPr>
          <p:cNvPr id="14" name="Shape 12"/>
          <p:cNvSpPr/>
          <p:nvPr/>
        </p:nvSpPr>
        <p:spPr>
          <a:xfrm>
            <a:off x="548640" y="4251960"/>
            <a:ext cx="10652760" cy="777240"/>
          </a:xfrm>
          <a:prstGeom prst="roundRect">
            <a:avLst>
              <a:gd name="adj" fmla="val 7059"/>
            </a:avLst>
          </a:prstGeom>
          <a:solidFill>
            <a:srgbClr val="FFF4E8"/>
          </a:solidFill>
          <a:ln/>
        </p:spPr>
      </p:sp>
      <p:sp>
        <p:nvSpPr>
          <p:cNvPr id="15" name="Text 13"/>
          <p:cNvSpPr/>
          <p:nvPr/>
        </p:nvSpPr>
        <p:spPr>
          <a:xfrm>
            <a:off x="777240" y="4251960"/>
            <a:ext cx="10241280" cy="777240"/>
          </a:xfrm>
          <a:prstGeom prst="rect">
            <a:avLst/>
          </a:prstGeom>
          <a:noFill/>
          <a:ln/>
        </p:spPr>
        <p:txBody>
          <a:bodyPr wrap="square" lIns="0" tIns="0" rIns="0" bIns="0" rtlCol="0" anchor="ctr"/>
          <a:lstStyle/>
          <a:p>
            <a:pPr indent="0" marL="0">
              <a:buNone/>
            </a:pPr>
            <a:r>
              <a:rPr lang="en-US" sz="1150" dirty="0">
                <a:solidFill>
                  <a:srgbClr val="8A5A1E"/>
                </a:solidFill>
                <a:latin typeface="Calibri" pitchFamily="34" charset="0"/>
                <a:ea typeface="Calibri" pitchFamily="34" charset="-122"/>
                <a:cs typeface="Calibri" pitchFamily="34" charset="-120"/>
              </a:rPr>
              <a:t>This works, but it’s easy to forget the WHERE match — miss it, and you get every possible pairing of rows from both tables, a mess called a cross join. JOIN, coming next, makes that link impossible to forget.</a:t>
            </a:r>
            <a:endParaRPr lang="en-US" sz="115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7</a:t>
            </a:r>
            <a:endParaRPr lang="en-US" sz="1050" dirty="0"/>
          </a:p>
        </p:txBody>
      </p:sp>
      <p:sp>
        <p:nvSpPr>
          <p:cNvPr id="4" name="Text 2"/>
          <p:cNvSpPr/>
          <p:nvPr/>
        </p:nvSpPr>
        <p:spPr>
          <a:xfrm>
            <a:off x="548640" y="914400"/>
            <a:ext cx="10332720" cy="777240"/>
          </a:xfrm>
          <a:prstGeom prst="rect">
            <a:avLst/>
          </a:prstGeom>
          <a:noFill/>
          <a:ln/>
        </p:spPr>
        <p:txBody>
          <a:bodyPr wrap="square" lIns="0" tIns="0" rIns="0" bIns="0" rtlCol="0" anchor="t"/>
          <a:lstStyle/>
          <a:p>
            <a:pPr indent="0" marL="0">
              <a:buNone/>
            </a:pPr>
            <a:r>
              <a:rPr lang="en-US" sz="2700" b="1" dirty="0">
                <a:solidFill>
                  <a:srgbClr val="16202A"/>
                </a:solidFill>
                <a:latin typeface="Cambria" pitchFamily="34" charset="0"/>
                <a:ea typeface="Cambria" pitchFamily="34" charset="-122"/>
                <a:cs typeface="Cambria" pitchFamily="34" charset="-120"/>
              </a:rPr>
              <a:t>JOIN — A Cleaner Way to Combine Tables</a:t>
            </a:r>
            <a:endParaRPr lang="en-US" sz="2700" dirty="0"/>
          </a:p>
        </p:txBody>
      </p:sp>
      <p:sp>
        <p:nvSpPr>
          <p:cNvPr id="5" name="Text 3"/>
          <p:cNvSpPr/>
          <p:nvPr/>
        </p:nvSpPr>
        <p:spPr>
          <a:xfrm>
            <a:off x="548640" y="1508760"/>
            <a:ext cx="10698480" cy="411480"/>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Purpose:  </a:t>
            </a:r>
            <a:pPr indent="0" marL="0">
              <a:buNone/>
            </a:pPr>
            <a:r>
              <a:rPr lang="en-US" sz="1350" dirty="0">
                <a:solidFill>
                  <a:srgbClr val="16202A"/>
                </a:solidFill>
                <a:latin typeface="Calibri" pitchFamily="34" charset="0"/>
                <a:ea typeface="Calibri" pitchFamily="34" charset="-122"/>
                <a:cs typeface="Calibri" pitchFamily="34" charset="-120"/>
              </a:rPr>
              <a:t>Combine columns from two tables, with the matching condition built directly into the syntax</a:t>
            </a:r>
            <a:endParaRPr lang="en-US" sz="1350" dirty="0"/>
          </a:p>
        </p:txBody>
      </p:sp>
      <p:sp>
        <p:nvSpPr>
          <p:cNvPr id="6" name="Shape 4"/>
          <p:cNvSpPr/>
          <p:nvPr/>
        </p:nvSpPr>
        <p:spPr>
          <a:xfrm>
            <a:off x="548640" y="1965960"/>
            <a:ext cx="10652760" cy="822960"/>
          </a:xfrm>
          <a:prstGeom prst="roundRect">
            <a:avLst>
              <a:gd name="adj" fmla="val 8889"/>
            </a:avLst>
          </a:prstGeom>
          <a:solidFill>
            <a:srgbClr val="0E2A3D"/>
          </a:solidFill>
          <a:ln/>
        </p:spPr>
      </p:sp>
      <p:sp>
        <p:nvSpPr>
          <p:cNvPr id="7" name="Text 5"/>
          <p:cNvSpPr/>
          <p:nvPr/>
        </p:nvSpPr>
        <p:spPr>
          <a:xfrm>
            <a:off x="749808" y="2039112"/>
            <a:ext cx="10250424" cy="676656"/>
          </a:xfrm>
          <a:prstGeom prst="rect">
            <a:avLst/>
          </a:prstGeom>
          <a:noFill/>
          <a:ln/>
        </p:spPr>
        <p:txBody>
          <a:bodyPr wrap="square" lIns="0" tIns="0" rIns="0" bIns="0" rtlCol="0" anchor="ctr"/>
          <a:lstStyle/>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SELECT e.first_name, e.last_name, s.salary</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FROM employees AS e</a:t>
            </a:r>
            <a:endParaRPr lang="en-US" sz="1500" dirty="0"/>
          </a:p>
          <a:p>
            <a:pPr algn="l" indent="0" marL="0">
              <a:lnSpc>
                <a:spcPct val="125000"/>
              </a:lnSpc>
              <a:buNone/>
            </a:pPr>
            <a:r>
              <a:rPr lang="en-US" sz="1500" dirty="0">
                <a:solidFill>
                  <a:srgbClr val="BEE9FF"/>
                </a:solidFill>
                <a:latin typeface="Courier New" pitchFamily="34" charset="0"/>
                <a:ea typeface="Courier New" pitchFamily="34" charset="-122"/>
                <a:cs typeface="Courier New" pitchFamily="34" charset="-120"/>
              </a:rPr>
              <a:t>JOIN salaries AS s ON e.emp_no = s.emp_no;</a:t>
            </a:r>
            <a:endParaRPr lang="en-US" sz="1500" dirty="0"/>
          </a:p>
        </p:txBody>
      </p:sp>
      <p:sp>
        <p:nvSpPr>
          <p:cNvPr id="8" name="Shape 6"/>
          <p:cNvSpPr/>
          <p:nvPr/>
        </p:nvSpPr>
        <p:spPr>
          <a:xfrm>
            <a:off x="548640" y="2953512"/>
            <a:ext cx="10652760" cy="530352"/>
          </a:xfrm>
          <a:prstGeom prst="roundRect">
            <a:avLst>
              <a:gd name="adj" fmla="val 10345"/>
            </a:avLst>
          </a:prstGeom>
          <a:solidFill>
            <a:srgbClr val="F2F6FA"/>
          </a:solidFill>
          <a:ln/>
        </p:spPr>
      </p:sp>
      <p:sp>
        <p:nvSpPr>
          <p:cNvPr id="9" name="Text 7"/>
          <p:cNvSpPr/>
          <p:nvPr/>
        </p:nvSpPr>
        <p:spPr>
          <a:xfrm>
            <a:off x="777240" y="2953512"/>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JOIN table</a:t>
            </a:r>
            <a:endParaRPr lang="en-US" sz="1250" dirty="0"/>
          </a:p>
        </p:txBody>
      </p:sp>
      <p:sp>
        <p:nvSpPr>
          <p:cNvPr id="10" name="Text 8"/>
          <p:cNvSpPr/>
          <p:nvPr/>
        </p:nvSpPr>
        <p:spPr>
          <a:xfrm>
            <a:off x="3291840" y="2953512"/>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The second table you’re combining in</a:t>
            </a:r>
            <a:endParaRPr lang="en-US" sz="1200" dirty="0"/>
          </a:p>
        </p:txBody>
      </p:sp>
      <p:sp>
        <p:nvSpPr>
          <p:cNvPr id="11" name="Shape 9"/>
          <p:cNvSpPr/>
          <p:nvPr/>
        </p:nvSpPr>
        <p:spPr>
          <a:xfrm>
            <a:off x="548640" y="3566160"/>
            <a:ext cx="10652760" cy="530352"/>
          </a:xfrm>
          <a:prstGeom prst="roundRect">
            <a:avLst>
              <a:gd name="adj" fmla="val 10345"/>
            </a:avLst>
          </a:prstGeom>
          <a:solidFill>
            <a:srgbClr val="F2F6FA"/>
          </a:solidFill>
          <a:ln/>
        </p:spPr>
      </p:sp>
      <p:sp>
        <p:nvSpPr>
          <p:cNvPr id="12" name="Text 10"/>
          <p:cNvSpPr/>
          <p:nvPr/>
        </p:nvSpPr>
        <p:spPr>
          <a:xfrm>
            <a:off x="777240" y="3566160"/>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ON a.key = b.key</a:t>
            </a:r>
            <a:endParaRPr lang="en-US" sz="1250" dirty="0"/>
          </a:p>
        </p:txBody>
      </p:sp>
      <p:sp>
        <p:nvSpPr>
          <p:cNvPr id="13" name="Text 11"/>
          <p:cNvSpPr/>
          <p:nvPr/>
        </p:nvSpPr>
        <p:spPr>
          <a:xfrm>
            <a:off x="3291840" y="3566160"/>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The matching condition — required, and impossible to accidentally omit</a:t>
            </a:r>
            <a:endParaRPr lang="en-US" sz="1200" dirty="0"/>
          </a:p>
        </p:txBody>
      </p:sp>
      <p:sp>
        <p:nvSpPr>
          <p:cNvPr id="14" name="Shape 12"/>
          <p:cNvSpPr/>
          <p:nvPr/>
        </p:nvSpPr>
        <p:spPr>
          <a:xfrm>
            <a:off x="548640" y="4178808"/>
            <a:ext cx="10652760" cy="530352"/>
          </a:xfrm>
          <a:prstGeom prst="roundRect">
            <a:avLst>
              <a:gd name="adj" fmla="val 10345"/>
            </a:avLst>
          </a:prstGeom>
          <a:solidFill>
            <a:srgbClr val="F2F6FA"/>
          </a:solidFill>
          <a:ln/>
        </p:spPr>
      </p:sp>
      <p:sp>
        <p:nvSpPr>
          <p:cNvPr id="15" name="Text 13"/>
          <p:cNvSpPr/>
          <p:nvPr/>
        </p:nvSpPr>
        <p:spPr>
          <a:xfrm>
            <a:off x="777240" y="4178808"/>
            <a:ext cx="2468880" cy="530352"/>
          </a:xfrm>
          <a:prstGeom prst="rect">
            <a:avLst/>
          </a:prstGeom>
          <a:noFill/>
          <a:ln/>
        </p:spPr>
        <p:txBody>
          <a:bodyPr wrap="square" lIns="0" tIns="0" rIns="0" bIns="0" rtlCol="0" anchor="ctr"/>
          <a:lstStyle/>
          <a:p>
            <a:pPr indent="0" marL="0">
              <a:buNone/>
            </a:pPr>
            <a:r>
              <a:rPr lang="en-US" sz="1250" b="1" dirty="0">
                <a:solidFill>
                  <a:srgbClr val="1E56A0"/>
                </a:solidFill>
                <a:latin typeface="Courier New" pitchFamily="34" charset="0"/>
                <a:ea typeface="Courier New" pitchFamily="34" charset="-122"/>
                <a:cs typeface="Courier New" pitchFamily="34" charset="-120"/>
              </a:rPr>
              <a:t>USING (key)</a:t>
            </a:r>
            <a:endParaRPr lang="en-US" sz="1250" dirty="0"/>
          </a:p>
        </p:txBody>
      </p:sp>
      <p:sp>
        <p:nvSpPr>
          <p:cNvPr id="16" name="Text 14"/>
          <p:cNvSpPr/>
          <p:nvPr/>
        </p:nvSpPr>
        <p:spPr>
          <a:xfrm>
            <a:off x="3291840" y="4178808"/>
            <a:ext cx="7772400" cy="530352"/>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Shortcut for ON when both tables use the exact same column name for the key</a:t>
            </a:r>
            <a:endParaRPr lang="en-US" sz="1200" dirty="0"/>
          </a:p>
        </p:txBody>
      </p:sp>
      <p:sp>
        <p:nvSpPr>
          <p:cNvPr id="17" name="Shape 15"/>
          <p:cNvSpPr/>
          <p:nvPr/>
        </p:nvSpPr>
        <p:spPr>
          <a:xfrm>
            <a:off x="548640" y="4864608"/>
            <a:ext cx="10652760" cy="594360"/>
          </a:xfrm>
          <a:prstGeom prst="roundRect">
            <a:avLst>
              <a:gd name="adj" fmla="val 9231"/>
            </a:avLst>
          </a:prstGeom>
          <a:solidFill>
            <a:srgbClr val="FFF4E8"/>
          </a:solidFill>
          <a:ln/>
        </p:spPr>
      </p:sp>
      <p:sp>
        <p:nvSpPr>
          <p:cNvPr id="18" name="Text 16"/>
          <p:cNvSpPr/>
          <p:nvPr/>
        </p:nvSpPr>
        <p:spPr>
          <a:xfrm>
            <a:off x="777240" y="4864608"/>
            <a:ext cx="10241280" cy="594360"/>
          </a:xfrm>
          <a:prstGeom prst="rect">
            <a:avLst/>
          </a:prstGeom>
          <a:noFill/>
          <a:ln/>
        </p:spPr>
        <p:txBody>
          <a:bodyPr wrap="square" lIns="0" tIns="0" rIns="0" bIns="0" rtlCol="0" anchor="ctr"/>
          <a:lstStyle/>
          <a:p>
            <a:pPr indent="0" marL="0">
              <a:buNone/>
            </a:pPr>
            <a:r>
              <a:rPr lang="en-US" sz="1150" dirty="0">
                <a:solidFill>
                  <a:srgbClr val="8A5A1E"/>
                </a:solidFill>
                <a:latin typeface="Calibri" pitchFamily="34" charset="0"/>
                <a:ea typeface="Calibri" pitchFamily="34" charset="-122"/>
                <a:cs typeface="Calibri" pitchFamily="34" charset="-120"/>
              </a:rPr>
              <a:t>USING (emp_no) is equivalent to ON e.emp_no = s.emp_no, but only works when both sides share an identical column name.</a:t>
            </a:r>
            <a:endParaRPr lang="en-US" sz="1150" dirty="0"/>
          </a:p>
        </p:txBody>
      </p:sp>
      <p:sp>
        <p:nvSpPr>
          <p:cNvPr id="19" name="Text 17"/>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7</a:t>
            </a:r>
            <a:endParaRPr lang="en-US" sz="1050" dirty="0"/>
          </a:p>
        </p:txBody>
      </p:sp>
      <p:sp>
        <p:nvSpPr>
          <p:cNvPr id="4" name="Text 2"/>
          <p:cNvSpPr/>
          <p:nvPr/>
        </p:nvSpPr>
        <p:spPr>
          <a:xfrm>
            <a:off x="548640" y="914400"/>
            <a:ext cx="7315200" cy="777240"/>
          </a:xfrm>
          <a:prstGeom prst="rect">
            <a:avLst/>
          </a:prstGeom>
          <a:noFill/>
          <a:ln/>
        </p:spPr>
        <p:txBody>
          <a:bodyPr wrap="square" lIns="0" tIns="0" rIns="0" bIns="0" rtlCol="0" anchor="t"/>
          <a:lstStyle/>
          <a:p>
            <a:pPr indent="0" marL="0">
              <a:buNone/>
            </a:pPr>
            <a:r>
              <a:rPr lang="en-US" sz="2900" b="1" dirty="0">
                <a:solidFill>
                  <a:srgbClr val="16202A"/>
                </a:solidFill>
                <a:latin typeface="Cambria" pitchFamily="34" charset="0"/>
                <a:ea typeface="Cambria" pitchFamily="34" charset="-122"/>
                <a:cs typeface="Cambria" pitchFamily="34" charset="-120"/>
              </a:rPr>
              <a:t>Types of JOIN</a:t>
            </a:r>
            <a:endParaRPr lang="en-US" sz="2900" dirty="0"/>
          </a:p>
        </p:txBody>
      </p:sp>
      <p:sp>
        <p:nvSpPr>
          <p:cNvPr id="5" name="Text 3"/>
          <p:cNvSpPr/>
          <p:nvPr/>
        </p:nvSpPr>
        <p:spPr>
          <a:xfrm>
            <a:off x="548640" y="1508760"/>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Different JOIN types decide what happens to rows that don’t have a match on the other side</a:t>
            </a:r>
            <a:endParaRPr lang="en-US" sz="1300" dirty="0"/>
          </a:p>
        </p:txBody>
      </p:sp>
      <p:sp>
        <p:nvSpPr>
          <p:cNvPr id="6" name="Shape 4"/>
          <p:cNvSpPr/>
          <p:nvPr/>
        </p:nvSpPr>
        <p:spPr>
          <a:xfrm>
            <a:off x="548640" y="2057400"/>
            <a:ext cx="2606040" cy="2468880"/>
          </a:xfrm>
          <a:prstGeom prst="roundRect">
            <a:avLst>
              <a:gd name="adj" fmla="val 2963"/>
            </a:avLst>
          </a:prstGeom>
          <a:solidFill>
            <a:srgbClr val="F2F6FA"/>
          </a:solidFill>
          <a:ln/>
        </p:spPr>
      </p:sp>
      <p:pic>
        <p:nvPicPr>
          <p:cNvPr id="7" name="Image 0" descr="/home/claude/sqlcourse/media/inner_join.png">    </p:cNvPr>
          <p:cNvPicPr>
            <a:picLocks noChangeAspect="1"/>
          </p:cNvPicPr>
          <p:nvPr/>
        </p:nvPicPr>
        <p:blipFill>
          <a:blip r:embed="rId1"/>
          <a:srcRect l="0" r="0" t="0" b="0"/>
          <a:stretch/>
        </p:blipFill>
        <p:spPr>
          <a:xfrm>
            <a:off x="731520" y="2194560"/>
            <a:ext cx="2240280" cy="1371600"/>
          </a:xfrm>
          <a:prstGeom prst="rect">
            <a:avLst/>
          </a:prstGeom>
        </p:spPr>
      </p:pic>
      <p:sp>
        <p:nvSpPr>
          <p:cNvPr id="8" name="Text 5"/>
          <p:cNvSpPr/>
          <p:nvPr/>
        </p:nvSpPr>
        <p:spPr>
          <a:xfrm>
            <a:off x="685800" y="3657600"/>
            <a:ext cx="2331720" cy="274320"/>
          </a:xfrm>
          <a:prstGeom prst="rect">
            <a:avLst/>
          </a:prstGeom>
          <a:noFill/>
          <a:ln/>
        </p:spPr>
        <p:txBody>
          <a:bodyPr wrap="square" lIns="0" tIns="0" rIns="0" bIns="0" rtlCol="0" anchor="ctr"/>
          <a:lstStyle/>
          <a:p>
            <a:pPr algn="ctr" indent="0" marL="0">
              <a:buNone/>
            </a:pPr>
            <a:r>
              <a:rPr lang="en-US" sz="1150" b="1" dirty="0">
                <a:solidFill>
                  <a:srgbClr val="1E56A0"/>
                </a:solidFill>
                <a:latin typeface="Calibri" pitchFamily="34" charset="0"/>
                <a:ea typeface="Calibri" pitchFamily="34" charset="-122"/>
                <a:cs typeface="Calibri" pitchFamily="34" charset="-120"/>
              </a:rPr>
              <a:t>INNER JOIN</a:t>
            </a:r>
            <a:endParaRPr lang="en-US" sz="1150" dirty="0"/>
          </a:p>
        </p:txBody>
      </p:sp>
      <p:sp>
        <p:nvSpPr>
          <p:cNvPr id="9" name="Text 6"/>
          <p:cNvSpPr/>
          <p:nvPr/>
        </p:nvSpPr>
        <p:spPr>
          <a:xfrm>
            <a:off x="685800" y="3950208"/>
            <a:ext cx="2331720" cy="502920"/>
          </a:xfrm>
          <a:prstGeom prst="rect">
            <a:avLst/>
          </a:prstGeom>
          <a:noFill/>
          <a:ln/>
        </p:spPr>
        <p:txBody>
          <a:bodyPr wrap="square" lIns="0" tIns="0" rIns="0" bIns="0" rtlCol="0" anchor="ctr"/>
          <a:lstStyle/>
          <a:p>
            <a:pPr algn="ctr" indent="0" marL="0">
              <a:buNone/>
            </a:pPr>
            <a:r>
              <a:rPr lang="en-US" sz="950" dirty="0">
                <a:solidFill>
                  <a:srgbClr val="5B6B79"/>
                </a:solidFill>
                <a:latin typeface="Calibri" pitchFamily="34" charset="0"/>
                <a:ea typeface="Calibri" pitchFamily="34" charset="-122"/>
                <a:cs typeface="Calibri" pitchFamily="34" charset="-120"/>
              </a:rPr>
              <a:t>Only rows that match in both tables</a:t>
            </a:r>
            <a:endParaRPr lang="en-US" sz="950" dirty="0"/>
          </a:p>
        </p:txBody>
      </p:sp>
      <p:sp>
        <p:nvSpPr>
          <p:cNvPr id="10" name="Shape 7"/>
          <p:cNvSpPr/>
          <p:nvPr/>
        </p:nvSpPr>
        <p:spPr>
          <a:xfrm>
            <a:off x="3273552" y="2057400"/>
            <a:ext cx="2606040" cy="2468880"/>
          </a:xfrm>
          <a:prstGeom prst="roundRect">
            <a:avLst>
              <a:gd name="adj" fmla="val 2963"/>
            </a:avLst>
          </a:prstGeom>
          <a:solidFill>
            <a:srgbClr val="F2F6FA"/>
          </a:solidFill>
          <a:ln/>
        </p:spPr>
      </p:sp>
      <p:pic>
        <p:nvPicPr>
          <p:cNvPr id="11" name="Image 1" descr="/home/claude/sqlcourse/media/left_join.png">    </p:cNvPr>
          <p:cNvPicPr>
            <a:picLocks noChangeAspect="1"/>
          </p:cNvPicPr>
          <p:nvPr/>
        </p:nvPicPr>
        <p:blipFill>
          <a:blip r:embed="rId2"/>
          <a:srcRect l="0" r="0" t="0" b="0"/>
          <a:stretch/>
        </p:blipFill>
        <p:spPr>
          <a:xfrm>
            <a:off x="3456432" y="2194560"/>
            <a:ext cx="2240280" cy="1371600"/>
          </a:xfrm>
          <a:prstGeom prst="rect">
            <a:avLst/>
          </a:prstGeom>
        </p:spPr>
      </p:pic>
      <p:sp>
        <p:nvSpPr>
          <p:cNvPr id="12" name="Text 8"/>
          <p:cNvSpPr/>
          <p:nvPr/>
        </p:nvSpPr>
        <p:spPr>
          <a:xfrm>
            <a:off x="3410712" y="3657600"/>
            <a:ext cx="2331720" cy="274320"/>
          </a:xfrm>
          <a:prstGeom prst="rect">
            <a:avLst/>
          </a:prstGeom>
          <a:noFill/>
          <a:ln/>
        </p:spPr>
        <p:txBody>
          <a:bodyPr wrap="square" lIns="0" tIns="0" rIns="0" bIns="0" rtlCol="0" anchor="ctr"/>
          <a:lstStyle/>
          <a:p>
            <a:pPr algn="ctr" indent="0" marL="0">
              <a:buNone/>
            </a:pPr>
            <a:r>
              <a:rPr lang="en-US" sz="1150" b="1" dirty="0">
                <a:solidFill>
                  <a:srgbClr val="1E56A0"/>
                </a:solidFill>
                <a:latin typeface="Calibri" pitchFamily="34" charset="0"/>
                <a:ea typeface="Calibri" pitchFamily="34" charset="-122"/>
                <a:cs typeface="Calibri" pitchFamily="34" charset="-120"/>
              </a:rPr>
              <a:t>LEFT JOIN</a:t>
            </a:r>
            <a:endParaRPr lang="en-US" sz="1150" dirty="0"/>
          </a:p>
        </p:txBody>
      </p:sp>
      <p:sp>
        <p:nvSpPr>
          <p:cNvPr id="13" name="Text 9"/>
          <p:cNvSpPr/>
          <p:nvPr/>
        </p:nvSpPr>
        <p:spPr>
          <a:xfrm>
            <a:off x="3410712" y="3950208"/>
            <a:ext cx="2331720" cy="502920"/>
          </a:xfrm>
          <a:prstGeom prst="rect">
            <a:avLst/>
          </a:prstGeom>
          <a:noFill/>
          <a:ln/>
        </p:spPr>
        <p:txBody>
          <a:bodyPr wrap="square" lIns="0" tIns="0" rIns="0" bIns="0" rtlCol="0" anchor="ctr"/>
          <a:lstStyle/>
          <a:p>
            <a:pPr algn="ctr" indent="0" marL="0">
              <a:buNone/>
            </a:pPr>
            <a:r>
              <a:rPr lang="en-US" sz="950" dirty="0">
                <a:solidFill>
                  <a:srgbClr val="5B6B79"/>
                </a:solidFill>
                <a:latin typeface="Calibri" pitchFamily="34" charset="0"/>
                <a:ea typeface="Calibri" pitchFamily="34" charset="-122"/>
                <a:cs typeface="Calibri" pitchFamily="34" charset="-120"/>
              </a:rPr>
              <a:t>Every row from the left table, matched where possible</a:t>
            </a:r>
            <a:endParaRPr lang="en-US" sz="950" dirty="0"/>
          </a:p>
        </p:txBody>
      </p:sp>
      <p:sp>
        <p:nvSpPr>
          <p:cNvPr id="14" name="Shape 10"/>
          <p:cNvSpPr/>
          <p:nvPr/>
        </p:nvSpPr>
        <p:spPr>
          <a:xfrm>
            <a:off x="5998464" y="2057400"/>
            <a:ext cx="2606040" cy="2468880"/>
          </a:xfrm>
          <a:prstGeom prst="roundRect">
            <a:avLst>
              <a:gd name="adj" fmla="val 2963"/>
            </a:avLst>
          </a:prstGeom>
          <a:solidFill>
            <a:srgbClr val="F2F6FA"/>
          </a:solidFill>
          <a:ln/>
        </p:spPr>
      </p:sp>
      <p:pic>
        <p:nvPicPr>
          <p:cNvPr id="15" name="Image 2" descr="/home/claude/sqlcourse/media/right_join.png">    </p:cNvPr>
          <p:cNvPicPr>
            <a:picLocks noChangeAspect="1"/>
          </p:cNvPicPr>
          <p:nvPr/>
        </p:nvPicPr>
        <p:blipFill>
          <a:blip r:embed="rId3"/>
          <a:srcRect l="0" r="0" t="0" b="0"/>
          <a:stretch/>
        </p:blipFill>
        <p:spPr>
          <a:xfrm>
            <a:off x="6181344" y="2194560"/>
            <a:ext cx="2240280" cy="1371600"/>
          </a:xfrm>
          <a:prstGeom prst="rect">
            <a:avLst/>
          </a:prstGeom>
        </p:spPr>
      </p:pic>
      <p:sp>
        <p:nvSpPr>
          <p:cNvPr id="16" name="Text 11"/>
          <p:cNvSpPr/>
          <p:nvPr/>
        </p:nvSpPr>
        <p:spPr>
          <a:xfrm>
            <a:off x="6135624" y="3657600"/>
            <a:ext cx="2331720" cy="274320"/>
          </a:xfrm>
          <a:prstGeom prst="rect">
            <a:avLst/>
          </a:prstGeom>
          <a:noFill/>
          <a:ln/>
        </p:spPr>
        <p:txBody>
          <a:bodyPr wrap="square" lIns="0" tIns="0" rIns="0" bIns="0" rtlCol="0" anchor="ctr"/>
          <a:lstStyle/>
          <a:p>
            <a:pPr algn="ctr" indent="0" marL="0">
              <a:buNone/>
            </a:pPr>
            <a:r>
              <a:rPr lang="en-US" sz="1150" b="1" dirty="0">
                <a:solidFill>
                  <a:srgbClr val="1E56A0"/>
                </a:solidFill>
                <a:latin typeface="Calibri" pitchFamily="34" charset="0"/>
                <a:ea typeface="Calibri" pitchFamily="34" charset="-122"/>
                <a:cs typeface="Calibri" pitchFamily="34" charset="-120"/>
              </a:rPr>
              <a:t>RIGHT JOIN</a:t>
            </a:r>
            <a:endParaRPr lang="en-US" sz="1150" dirty="0"/>
          </a:p>
        </p:txBody>
      </p:sp>
      <p:sp>
        <p:nvSpPr>
          <p:cNvPr id="17" name="Text 12"/>
          <p:cNvSpPr/>
          <p:nvPr/>
        </p:nvSpPr>
        <p:spPr>
          <a:xfrm>
            <a:off x="6135624" y="3950208"/>
            <a:ext cx="2331720" cy="502920"/>
          </a:xfrm>
          <a:prstGeom prst="rect">
            <a:avLst/>
          </a:prstGeom>
          <a:noFill/>
          <a:ln/>
        </p:spPr>
        <p:txBody>
          <a:bodyPr wrap="square" lIns="0" tIns="0" rIns="0" bIns="0" rtlCol="0" anchor="ctr"/>
          <a:lstStyle/>
          <a:p>
            <a:pPr algn="ctr" indent="0" marL="0">
              <a:buNone/>
            </a:pPr>
            <a:r>
              <a:rPr lang="en-US" sz="950" dirty="0">
                <a:solidFill>
                  <a:srgbClr val="5B6B79"/>
                </a:solidFill>
                <a:latin typeface="Calibri" pitchFamily="34" charset="0"/>
                <a:ea typeface="Calibri" pitchFamily="34" charset="-122"/>
                <a:cs typeface="Calibri" pitchFamily="34" charset="-120"/>
              </a:rPr>
              <a:t>Every row from the right table, matched where possible</a:t>
            </a:r>
            <a:endParaRPr lang="en-US" sz="950" dirty="0"/>
          </a:p>
        </p:txBody>
      </p:sp>
      <p:sp>
        <p:nvSpPr>
          <p:cNvPr id="18" name="Shape 13"/>
          <p:cNvSpPr/>
          <p:nvPr/>
        </p:nvSpPr>
        <p:spPr>
          <a:xfrm>
            <a:off x="8723376" y="2057400"/>
            <a:ext cx="2606040" cy="2468880"/>
          </a:xfrm>
          <a:prstGeom prst="roundRect">
            <a:avLst>
              <a:gd name="adj" fmla="val 2963"/>
            </a:avLst>
          </a:prstGeom>
          <a:solidFill>
            <a:srgbClr val="F2F6FA"/>
          </a:solidFill>
          <a:ln/>
        </p:spPr>
      </p:sp>
      <p:pic>
        <p:nvPicPr>
          <p:cNvPr id="19" name="Image 3" descr="/home/claude/sqlcourse/media/full_join.png">    </p:cNvPr>
          <p:cNvPicPr>
            <a:picLocks noChangeAspect="1"/>
          </p:cNvPicPr>
          <p:nvPr/>
        </p:nvPicPr>
        <p:blipFill>
          <a:blip r:embed="rId4"/>
          <a:srcRect l="0" r="0" t="0" b="0"/>
          <a:stretch/>
        </p:blipFill>
        <p:spPr>
          <a:xfrm>
            <a:off x="8906256" y="2194560"/>
            <a:ext cx="2240280" cy="1371600"/>
          </a:xfrm>
          <a:prstGeom prst="rect">
            <a:avLst/>
          </a:prstGeom>
        </p:spPr>
      </p:pic>
      <p:sp>
        <p:nvSpPr>
          <p:cNvPr id="20" name="Text 14"/>
          <p:cNvSpPr/>
          <p:nvPr/>
        </p:nvSpPr>
        <p:spPr>
          <a:xfrm>
            <a:off x="8860536" y="3657600"/>
            <a:ext cx="2331720" cy="274320"/>
          </a:xfrm>
          <a:prstGeom prst="rect">
            <a:avLst/>
          </a:prstGeom>
          <a:noFill/>
          <a:ln/>
        </p:spPr>
        <p:txBody>
          <a:bodyPr wrap="square" lIns="0" tIns="0" rIns="0" bIns="0" rtlCol="0" anchor="ctr"/>
          <a:lstStyle/>
          <a:p>
            <a:pPr algn="ctr" indent="0" marL="0">
              <a:buNone/>
            </a:pPr>
            <a:r>
              <a:rPr lang="en-US" sz="1150" b="1" dirty="0">
                <a:solidFill>
                  <a:srgbClr val="1E56A0"/>
                </a:solidFill>
                <a:latin typeface="Calibri" pitchFamily="34" charset="0"/>
                <a:ea typeface="Calibri" pitchFamily="34" charset="-122"/>
                <a:cs typeface="Calibri" pitchFamily="34" charset="-120"/>
              </a:rPr>
              <a:t>FULL OUTER JOIN</a:t>
            </a:r>
            <a:endParaRPr lang="en-US" sz="1150" dirty="0"/>
          </a:p>
        </p:txBody>
      </p:sp>
      <p:sp>
        <p:nvSpPr>
          <p:cNvPr id="21" name="Text 15"/>
          <p:cNvSpPr/>
          <p:nvPr/>
        </p:nvSpPr>
        <p:spPr>
          <a:xfrm>
            <a:off x="8860536" y="3950208"/>
            <a:ext cx="2331720" cy="502920"/>
          </a:xfrm>
          <a:prstGeom prst="rect">
            <a:avLst/>
          </a:prstGeom>
          <a:noFill/>
          <a:ln/>
        </p:spPr>
        <p:txBody>
          <a:bodyPr wrap="square" lIns="0" tIns="0" rIns="0" bIns="0" rtlCol="0" anchor="ctr"/>
          <a:lstStyle/>
          <a:p>
            <a:pPr algn="ctr" indent="0" marL="0">
              <a:buNone/>
            </a:pPr>
            <a:r>
              <a:rPr lang="en-US" sz="950" dirty="0">
                <a:solidFill>
                  <a:srgbClr val="5B6B79"/>
                </a:solidFill>
                <a:latin typeface="Calibri" pitchFamily="34" charset="0"/>
                <a:ea typeface="Calibri" pitchFamily="34" charset="-122"/>
                <a:cs typeface="Calibri" pitchFamily="34" charset="-120"/>
              </a:rPr>
              <a:t>Every row from both tables, matched where possible</a:t>
            </a:r>
            <a:endParaRPr lang="en-US" sz="950" dirty="0"/>
          </a:p>
        </p:txBody>
      </p:sp>
      <p:sp>
        <p:nvSpPr>
          <p:cNvPr id="22" name="Shape 16"/>
          <p:cNvSpPr/>
          <p:nvPr/>
        </p:nvSpPr>
        <p:spPr>
          <a:xfrm>
            <a:off x="548640" y="4709160"/>
            <a:ext cx="10652760" cy="594360"/>
          </a:xfrm>
          <a:prstGeom prst="roundRect">
            <a:avLst>
              <a:gd name="adj" fmla="val 10769"/>
            </a:avLst>
          </a:prstGeom>
          <a:solidFill>
            <a:srgbClr val="FFF4E8"/>
          </a:solidFill>
          <a:ln/>
        </p:spPr>
      </p:sp>
      <p:sp>
        <p:nvSpPr>
          <p:cNvPr id="23" name="Text 17"/>
          <p:cNvSpPr/>
          <p:nvPr/>
        </p:nvSpPr>
        <p:spPr>
          <a:xfrm>
            <a:off x="777240" y="4709160"/>
            <a:ext cx="10241280" cy="594360"/>
          </a:xfrm>
          <a:prstGeom prst="rect">
            <a:avLst/>
          </a:prstGeom>
          <a:noFill/>
          <a:ln/>
        </p:spPr>
        <p:txBody>
          <a:bodyPr wrap="square" lIns="0" tIns="0" rIns="0" bIns="0" rtlCol="0" anchor="ctr"/>
          <a:lstStyle/>
          <a:p>
            <a:pPr indent="0" marL="0">
              <a:buNone/>
            </a:pPr>
            <a:r>
              <a:rPr lang="en-US" sz="1150" b="1" dirty="0">
                <a:solidFill>
                  <a:srgbClr val="8A5A1E"/>
                </a:solidFill>
                <a:latin typeface="Calibri" pitchFamily="34" charset="0"/>
                <a:ea typeface="Calibri" pitchFamily="34" charset="-122"/>
                <a:cs typeface="Calibri" pitchFamily="34" charset="-120"/>
              </a:rPr>
              <a:t>Unmatched rows:  </a:t>
            </a:r>
            <a:pPr indent="0" marL="0">
              <a:buNone/>
            </a:pPr>
            <a:r>
              <a:rPr lang="en-US" sz="1150" dirty="0">
                <a:solidFill>
                  <a:srgbClr val="8A5A1E"/>
                </a:solidFill>
                <a:latin typeface="Calibri" pitchFamily="34" charset="0"/>
                <a:ea typeface="Calibri" pitchFamily="34" charset="-122"/>
                <a:cs typeface="Calibri" pitchFamily="34" charset="-120"/>
              </a:rPr>
              <a:t>wherever there’s no match on the other side, MySQL fills those columns with NULL — which is exactly why understanding NULL from Part 5 matters here too.</a:t>
            </a:r>
            <a:endParaRPr lang="en-US" sz="115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7</a:t>
            </a:r>
            <a:endParaRPr lang="en-US" sz="1050" dirty="0"/>
          </a:p>
        </p:txBody>
      </p:sp>
      <p:sp>
        <p:nvSpPr>
          <p:cNvPr id="4" name="Text 2"/>
          <p:cNvSpPr/>
          <p:nvPr/>
        </p:nvSpPr>
        <p:spPr>
          <a:xfrm>
            <a:off x="548640" y="914400"/>
            <a:ext cx="9144000" cy="777240"/>
          </a:xfrm>
          <a:prstGeom prst="rect">
            <a:avLst/>
          </a:prstGeom>
          <a:noFill/>
          <a:ln/>
        </p:spPr>
        <p:txBody>
          <a:bodyPr wrap="square" lIns="0" tIns="0" rIns="0" bIns="0" rtlCol="0" anchor="t"/>
          <a:lstStyle/>
          <a:p>
            <a:pPr indent="0" marL="0">
              <a:buNone/>
            </a:pPr>
            <a:r>
              <a:rPr lang="en-US" sz="2800" b="1" dirty="0">
                <a:solidFill>
                  <a:srgbClr val="16202A"/>
                </a:solidFill>
                <a:latin typeface="Cambria" pitchFamily="34" charset="0"/>
                <a:ea typeface="Cambria" pitchFamily="34" charset="-122"/>
                <a:cs typeface="Cambria" pitchFamily="34" charset="-120"/>
              </a:rPr>
              <a:t>Putting It All Together</a:t>
            </a:r>
            <a:endParaRPr lang="en-US" sz="2800" dirty="0"/>
          </a:p>
        </p:txBody>
      </p:sp>
      <p:sp>
        <p:nvSpPr>
          <p:cNvPr id="5" name="Text 3"/>
          <p:cNvSpPr/>
          <p:nvPr/>
        </p:nvSpPr>
        <p:spPr>
          <a:xfrm>
            <a:off x="548640" y="1508760"/>
            <a:ext cx="1005840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One query, using nearly every skill from this entire course</a:t>
            </a:r>
            <a:endParaRPr lang="en-US" sz="1300" dirty="0"/>
          </a:p>
        </p:txBody>
      </p:sp>
      <p:sp>
        <p:nvSpPr>
          <p:cNvPr id="6" name="Text 4"/>
          <p:cNvSpPr/>
          <p:nvPr/>
        </p:nvSpPr>
        <p:spPr>
          <a:xfrm>
            <a:off x="548640" y="2011680"/>
            <a:ext cx="10607040" cy="594360"/>
          </a:xfrm>
          <a:prstGeom prst="rect">
            <a:avLst/>
          </a:prstGeom>
          <a:noFill/>
          <a:ln/>
        </p:spPr>
        <p:txBody>
          <a:bodyPr wrap="square" lIns="0" tIns="0" rIns="0" bIns="0" rtlCol="0" anchor="ctr"/>
          <a:lstStyle/>
          <a:p>
            <a:pPr indent="0" marL="0">
              <a:buNone/>
            </a:pPr>
            <a:r>
              <a:rPr lang="en-US" sz="1250" b="1" dirty="0">
                <a:solidFill>
                  <a:srgbClr val="1E56A0"/>
                </a:solidFill>
                <a:latin typeface="Calibri" pitchFamily="34" charset="0"/>
                <a:ea typeface="Calibri" pitchFamily="34" charset="-122"/>
                <a:cs typeface="Calibri" pitchFamily="34" charset="-120"/>
              </a:rPr>
              <a:t>Question:  </a:t>
            </a:r>
            <a:pPr indent="0" marL="0">
              <a:buNone/>
            </a:pPr>
            <a:r>
              <a:rPr lang="en-US" sz="1250" i="1" dirty="0">
                <a:solidFill>
                  <a:srgbClr val="16202A"/>
                </a:solidFill>
                <a:latin typeface="Calibri" pitchFamily="34" charset="0"/>
                <a:ea typeface="Calibri" pitchFamily="34" charset="-122"/>
                <a:cs typeface="Calibri" pitchFamily="34" charset="-120"/>
              </a:rPr>
              <a:t>For each department, what’s the average current salary of employees hired in the last 30 years — show only departments with more than 50 such employees, highest average first.</a:t>
            </a:r>
            <a:endParaRPr lang="en-US" sz="1250" dirty="0"/>
          </a:p>
        </p:txBody>
      </p:sp>
      <p:sp>
        <p:nvSpPr>
          <p:cNvPr id="7" name="Shape 5"/>
          <p:cNvSpPr/>
          <p:nvPr/>
        </p:nvSpPr>
        <p:spPr>
          <a:xfrm>
            <a:off x="548640" y="2651760"/>
            <a:ext cx="10652760" cy="2084832"/>
          </a:xfrm>
          <a:prstGeom prst="roundRect">
            <a:avLst>
              <a:gd name="adj" fmla="val 3509"/>
            </a:avLst>
          </a:prstGeom>
          <a:solidFill>
            <a:srgbClr val="0E2A3D"/>
          </a:solidFill>
          <a:ln/>
        </p:spPr>
      </p:sp>
      <p:sp>
        <p:nvSpPr>
          <p:cNvPr id="8" name="Text 6"/>
          <p:cNvSpPr/>
          <p:nvPr/>
        </p:nvSpPr>
        <p:spPr>
          <a:xfrm>
            <a:off x="749808" y="2724912"/>
            <a:ext cx="10250424" cy="1938528"/>
          </a:xfrm>
          <a:prstGeom prst="rect">
            <a:avLst/>
          </a:prstGeom>
          <a:noFill/>
          <a:ln/>
        </p:spPr>
        <p:txBody>
          <a:bodyPr wrap="square" lIns="0" tIns="0" rIns="0" bIns="0" rtlCol="0" anchor="t"/>
          <a:lstStyle/>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SELECT d.dept_name, AVG(s.salary) AS "avg_salary", COUNT(e.emp_no) AS "headcount"</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FROM employees AS e</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JOIN dept_emp AS de ON e.emp_no = de.emp_no</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JOIN departments AS d ON de.dept_no = d.dept_no</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JOIN salaries AS s ON e.emp_no = s.emp_no</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WHERE e.hire_date &gt; DATE_SUB(curdate(), INTERVAL 30 year)</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GROUP BY d.dept_name</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HAVING COUNT(e.emp_no) &gt; 50</a:t>
            </a:r>
            <a:endParaRPr lang="en-US" sz="1100" dirty="0"/>
          </a:p>
          <a:p>
            <a:pPr algn="l" indent="0" marL="0">
              <a:lnSpc>
                <a:spcPct val="125000"/>
              </a:lnSpc>
              <a:buNone/>
            </a:pPr>
            <a:r>
              <a:rPr lang="en-US" sz="1100" dirty="0">
                <a:solidFill>
                  <a:srgbClr val="BEE9FF"/>
                </a:solidFill>
                <a:latin typeface="Courier New" pitchFamily="34" charset="0"/>
                <a:ea typeface="Courier New" pitchFamily="34" charset="-122"/>
                <a:cs typeface="Courier New" pitchFamily="34" charset="-120"/>
              </a:rPr>
              <a:t>ORDER BY avg_salary DESC;</a:t>
            </a:r>
            <a:endParaRPr lang="en-US" sz="1100" dirty="0"/>
          </a:p>
        </p:txBody>
      </p:sp>
      <p:sp>
        <p:nvSpPr>
          <p:cNvPr id="9" name="Text 7"/>
          <p:cNvSpPr/>
          <p:nvPr/>
        </p:nvSpPr>
        <p:spPr>
          <a:xfrm>
            <a:off x="548640" y="4892040"/>
            <a:ext cx="10652760" cy="548640"/>
          </a:xfrm>
          <a:prstGeom prst="rect">
            <a:avLst/>
          </a:prstGeom>
          <a:noFill/>
          <a:ln/>
        </p:spPr>
        <p:txBody>
          <a:bodyPr wrap="square" lIns="0" tIns="0" rIns="0" bIns="0" rtlCol="0" anchor="ctr"/>
          <a:lstStyle/>
          <a:p>
            <a:pPr indent="0" marL="0">
              <a:buNone/>
            </a:pPr>
            <a:r>
              <a:rPr lang="en-US" sz="1050" i="1" dirty="0">
                <a:solidFill>
                  <a:srgbClr val="5B6B79"/>
                </a:solidFill>
                <a:latin typeface="Calibri" pitchFamily="34" charset="0"/>
                <a:ea typeface="Calibri" pitchFamily="34" charset="-122"/>
                <a:cs typeface="Calibri" pitchFamily="34" charset="-120"/>
              </a:rPr>
              <a:t>Spot the parts: JOIN (Part 7) · WHERE + date math (Parts 4–5) · GROUP BY + HAVING (Part 6) · aggregate functions (Part 3) · alias (Part 3) · ORDER BY (Part 6)</a:t>
            </a:r>
            <a:endParaRPr lang="en-US" sz="1050" dirty="0"/>
          </a:p>
        </p:txBody>
      </p:sp>
      <p:sp>
        <p:nvSpPr>
          <p:cNvPr id="10" name="Text 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SQL Crash Course · Evolve Data Analyst Path</a:t>
            </a:r>
            <a:endParaRPr lang="en-US" sz="900" dirty="0"/>
          </a:p>
        </p:txBody>
      </p:sp>
      <p:sp>
        <p:nvSpPr>
          <p:cNvPr id="11" name="Text 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C2C"/>
        </a:solidFill>
      </p:bgPr>
    </p:bg>
    <p:spTree>
      <p:nvGrpSpPr>
        <p:cNvPr id="1" name=""/>
        <p:cNvGrpSpPr/>
        <p:nvPr/>
      </p:nvGrpSpPr>
      <p:grpSpPr>
        <a:xfrm>
          <a:off x="0" y="0"/>
          <a:ext cx="0" cy="0"/>
          <a:chOff x="0" y="0"/>
          <a:chExt cx="0" cy="0"/>
        </a:xfrm>
      </p:grpSpPr>
      <p:sp>
        <p:nvSpPr>
          <p:cNvPr id="2" name="Text 0"/>
          <p:cNvSpPr/>
          <p:nvPr/>
        </p:nvSpPr>
        <p:spPr>
          <a:xfrm>
            <a:off x="822960" y="731520"/>
            <a:ext cx="7315200" cy="457200"/>
          </a:xfrm>
          <a:prstGeom prst="rect">
            <a:avLst/>
          </a:prstGeom>
          <a:noFill/>
          <a:ln/>
        </p:spPr>
        <p:txBody>
          <a:bodyPr wrap="square" lIns="0" tIns="0" rIns="0" bIns="0" rtlCol="0" anchor="ctr"/>
          <a:lstStyle/>
          <a:p>
            <a:pPr indent="0" marL="0">
              <a:buNone/>
            </a:pPr>
            <a:r>
              <a:rPr lang="en-US" sz="1400" b="1" spc="300" kern="0" dirty="0">
                <a:solidFill>
                  <a:srgbClr val="2FBF8F"/>
                </a:solidFill>
                <a:latin typeface="Calibri" pitchFamily="34" charset="0"/>
                <a:ea typeface="Calibri" pitchFamily="34" charset="-122"/>
                <a:cs typeface="Calibri" pitchFamily="34" charset="-120"/>
              </a:rPr>
              <a:t>COURSE RECAP</a:t>
            </a:r>
            <a:endParaRPr lang="en-US" sz="1400" dirty="0"/>
          </a:p>
        </p:txBody>
      </p:sp>
      <p:sp>
        <p:nvSpPr>
          <p:cNvPr id="3" name="Text 1"/>
          <p:cNvSpPr/>
          <p:nvPr/>
        </p:nvSpPr>
        <p:spPr>
          <a:xfrm>
            <a:off x="822960" y="1188720"/>
            <a:ext cx="10058400" cy="13716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 Can Now Query a</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Real Business Database</a:t>
            </a:r>
            <a:endParaRPr lang="en-US" sz="3200" dirty="0"/>
          </a:p>
        </p:txBody>
      </p:sp>
      <p:sp>
        <p:nvSpPr>
          <p:cNvPr id="4" name="Shape 2"/>
          <p:cNvSpPr/>
          <p:nvPr/>
        </p:nvSpPr>
        <p:spPr>
          <a:xfrm>
            <a:off x="822960" y="2606040"/>
            <a:ext cx="365760" cy="365760"/>
          </a:xfrm>
          <a:prstGeom prst="ellipse">
            <a:avLst/>
          </a:prstGeom>
          <a:solidFill>
            <a:srgbClr val="0FA3B1"/>
          </a:solidFill>
          <a:ln/>
        </p:spPr>
      </p:sp>
      <p:sp>
        <p:nvSpPr>
          <p:cNvPr id="5" name="Text 3"/>
          <p:cNvSpPr/>
          <p:nvPr/>
        </p:nvSpPr>
        <p:spPr>
          <a:xfrm>
            <a:off x="822960" y="2606040"/>
            <a:ext cx="365760" cy="365760"/>
          </a:xfrm>
          <a:prstGeom prst="rect">
            <a:avLst/>
          </a:prstGeom>
          <a:noFill/>
          <a:ln/>
        </p:spPr>
        <p:txBody>
          <a:bodyPr wrap="square" lIns="0" tIns="0" rIns="0" bIns="0" rtlCol="0" anchor="ctr"/>
          <a:lstStyle/>
          <a:p>
            <a:pPr algn="ctr" indent="0" marL="0">
              <a:buNone/>
            </a:pPr>
            <a:r>
              <a:rPr lang="en-US" sz="1200" b="1" dirty="0">
                <a:solidFill>
                  <a:srgbClr val="0B1C2C"/>
                </a:solidFill>
                <a:latin typeface="Cambria" pitchFamily="34" charset="0"/>
                <a:ea typeface="Cambria" pitchFamily="34" charset="-122"/>
                <a:cs typeface="Cambria" pitchFamily="34" charset="-120"/>
              </a:rPr>
              <a:t>1</a:t>
            </a:r>
            <a:endParaRPr lang="en-US" sz="1200" dirty="0"/>
          </a:p>
        </p:txBody>
      </p:sp>
      <p:sp>
        <p:nvSpPr>
          <p:cNvPr id="6" name="Text 4"/>
          <p:cNvSpPr/>
          <p:nvPr/>
        </p:nvSpPr>
        <p:spPr>
          <a:xfrm>
            <a:off x="1371600" y="2560320"/>
            <a:ext cx="457200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Databases &amp; DBMS</a:t>
            </a:r>
            <a:endParaRPr lang="en-US" sz="1250" dirty="0"/>
          </a:p>
        </p:txBody>
      </p:sp>
      <p:sp>
        <p:nvSpPr>
          <p:cNvPr id="7" name="Text 5"/>
          <p:cNvSpPr/>
          <p:nvPr/>
        </p:nvSpPr>
        <p:spPr>
          <a:xfrm>
            <a:off x="6126480" y="2560320"/>
            <a:ext cx="5120640" cy="411480"/>
          </a:xfrm>
          <a:prstGeom prst="rect">
            <a:avLst/>
          </a:prstGeom>
          <a:noFill/>
          <a:ln/>
        </p:spPr>
        <p:txBody>
          <a:bodyPr wrap="square" lIns="0" tIns="0" rIns="0" bIns="0" rtlCol="0" anchor="ctr"/>
          <a:lstStyle/>
          <a:p>
            <a:pPr indent="0" marL="0">
              <a:buNone/>
            </a:pPr>
            <a:r>
              <a:rPr lang="en-US" sz="1050" dirty="0">
                <a:solidFill>
                  <a:srgbClr val="BFD6E8"/>
                </a:solidFill>
                <a:latin typeface="Calibri" pitchFamily="34" charset="0"/>
                <a:ea typeface="Calibri" pitchFamily="34" charset="-122"/>
                <a:cs typeface="Calibri" pitchFamily="34" charset="-120"/>
              </a:rPr>
              <a:t>The relational model, and why it won</a:t>
            </a:r>
            <a:endParaRPr lang="en-US" sz="1050" dirty="0"/>
          </a:p>
        </p:txBody>
      </p:sp>
      <p:sp>
        <p:nvSpPr>
          <p:cNvPr id="8" name="Shape 6"/>
          <p:cNvSpPr/>
          <p:nvPr/>
        </p:nvSpPr>
        <p:spPr>
          <a:xfrm>
            <a:off x="822960" y="3063240"/>
            <a:ext cx="365760" cy="365760"/>
          </a:xfrm>
          <a:prstGeom prst="ellipse">
            <a:avLst/>
          </a:prstGeom>
          <a:solidFill>
            <a:srgbClr val="0FA3B1"/>
          </a:solidFill>
          <a:ln/>
        </p:spPr>
      </p:sp>
      <p:sp>
        <p:nvSpPr>
          <p:cNvPr id="9" name="Text 7"/>
          <p:cNvSpPr/>
          <p:nvPr/>
        </p:nvSpPr>
        <p:spPr>
          <a:xfrm>
            <a:off x="822960" y="3063240"/>
            <a:ext cx="365760" cy="365760"/>
          </a:xfrm>
          <a:prstGeom prst="rect">
            <a:avLst/>
          </a:prstGeom>
          <a:noFill/>
          <a:ln/>
        </p:spPr>
        <p:txBody>
          <a:bodyPr wrap="square" lIns="0" tIns="0" rIns="0" bIns="0" rtlCol="0" anchor="ctr"/>
          <a:lstStyle/>
          <a:p>
            <a:pPr algn="ctr" indent="0" marL="0">
              <a:buNone/>
            </a:pPr>
            <a:r>
              <a:rPr lang="en-US" sz="1200" b="1" dirty="0">
                <a:solidFill>
                  <a:srgbClr val="0B1C2C"/>
                </a:solidFill>
                <a:latin typeface="Cambria" pitchFamily="34" charset="0"/>
                <a:ea typeface="Cambria" pitchFamily="34" charset="-122"/>
                <a:cs typeface="Cambria" pitchFamily="34" charset="-120"/>
              </a:rPr>
              <a:t>2</a:t>
            </a:r>
            <a:endParaRPr lang="en-US" sz="1200" dirty="0"/>
          </a:p>
        </p:txBody>
      </p:sp>
      <p:sp>
        <p:nvSpPr>
          <p:cNvPr id="10" name="Text 8"/>
          <p:cNvSpPr/>
          <p:nvPr/>
        </p:nvSpPr>
        <p:spPr>
          <a:xfrm>
            <a:off x="1371600" y="3017520"/>
            <a:ext cx="457200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Meet SQL &amp; Your Toolkit</a:t>
            </a:r>
            <a:endParaRPr lang="en-US" sz="1250" dirty="0"/>
          </a:p>
        </p:txBody>
      </p:sp>
      <p:sp>
        <p:nvSpPr>
          <p:cNvPr id="11" name="Text 9"/>
          <p:cNvSpPr/>
          <p:nvPr/>
        </p:nvSpPr>
        <p:spPr>
          <a:xfrm>
            <a:off x="6126480" y="3017520"/>
            <a:ext cx="5120640" cy="411480"/>
          </a:xfrm>
          <a:prstGeom prst="rect">
            <a:avLst/>
          </a:prstGeom>
          <a:noFill/>
          <a:ln/>
        </p:spPr>
        <p:txBody>
          <a:bodyPr wrap="square" lIns="0" tIns="0" rIns="0" bIns="0" rtlCol="0" anchor="ctr"/>
          <a:lstStyle/>
          <a:p>
            <a:pPr indent="0" marL="0">
              <a:buNone/>
            </a:pPr>
            <a:r>
              <a:rPr lang="en-US" sz="1050" dirty="0">
                <a:solidFill>
                  <a:srgbClr val="BFD6E8"/>
                </a:solidFill>
                <a:latin typeface="Calibri" pitchFamily="34" charset="0"/>
                <a:ea typeface="Calibri" pitchFamily="34" charset="-122"/>
                <a:cs typeface="Calibri" pitchFamily="34" charset="-120"/>
              </a:rPr>
              <a:t>Records, fields, keys, and a working MySQL install</a:t>
            </a:r>
            <a:endParaRPr lang="en-US" sz="1050" dirty="0"/>
          </a:p>
        </p:txBody>
      </p:sp>
      <p:sp>
        <p:nvSpPr>
          <p:cNvPr id="12" name="Shape 10"/>
          <p:cNvSpPr/>
          <p:nvPr/>
        </p:nvSpPr>
        <p:spPr>
          <a:xfrm>
            <a:off x="822960" y="3520440"/>
            <a:ext cx="365760" cy="365760"/>
          </a:xfrm>
          <a:prstGeom prst="ellipse">
            <a:avLst/>
          </a:prstGeom>
          <a:solidFill>
            <a:srgbClr val="0FA3B1"/>
          </a:solidFill>
          <a:ln/>
        </p:spPr>
      </p:sp>
      <p:sp>
        <p:nvSpPr>
          <p:cNvPr id="13" name="Text 11"/>
          <p:cNvSpPr/>
          <p:nvPr/>
        </p:nvSpPr>
        <p:spPr>
          <a:xfrm>
            <a:off x="822960" y="3520440"/>
            <a:ext cx="365760" cy="365760"/>
          </a:xfrm>
          <a:prstGeom prst="rect">
            <a:avLst/>
          </a:prstGeom>
          <a:noFill/>
          <a:ln/>
        </p:spPr>
        <p:txBody>
          <a:bodyPr wrap="square" lIns="0" tIns="0" rIns="0" bIns="0" rtlCol="0" anchor="ctr"/>
          <a:lstStyle/>
          <a:p>
            <a:pPr algn="ctr" indent="0" marL="0">
              <a:buNone/>
            </a:pPr>
            <a:r>
              <a:rPr lang="en-US" sz="1200" b="1" dirty="0">
                <a:solidFill>
                  <a:srgbClr val="0B1C2C"/>
                </a:solidFill>
                <a:latin typeface="Cambria" pitchFamily="34" charset="0"/>
                <a:ea typeface="Cambria" pitchFamily="34" charset="-122"/>
                <a:cs typeface="Cambria" pitchFamily="34" charset="-120"/>
              </a:rPr>
              <a:t>3</a:t>
            </a:r>
            <a:endParaRPr lang="en-US" sz="1200" dirty="0"/>
          </a:p>
        </p:txBody>
      </p:sp>
      <p:sp>
        <p:nvSpPr>
          <p:cNvPr id="14" name="Text 12"/>
          <p:cNvSpPr/>
          <p:nvPr/>
        </p:nvSpPr>
        <p:spPr>
          <a:xfrm>
            <a:off x="1371600" y="3474720"/>
            <a:ext cx="457200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Your First Queries</a:t>
            </a:r>
            <a:endParaRPr lang="en-US" sz="1250" dirty="0"/>
          </a:p>
        </p:txBody>
      </p:sp>
      <p:sp>
        <p:nvSpPr>
          <p:cNvPr id="15" name="Text 13"/>
          <p:cNvSpPr/>
          <p:nvPr/>
        </p:nvSpPr>
        <p:spPr>
          <a:xfrm>
            <a:off x="6126480" y="3474720"/>
            <a:ext cx="5120640" cy="411480"/>
          </a:xfrm>
          <a:prstGeom prst="rect">
            <a:avLst/>
          </a:prstGeom>
          <a:noFill/>
          <a:ln/>
        </p:spPr>
        <p:txBody>
          <a:bodyPr wrap="square" lIns="0" tIns="0" rIns="0" bIns="0" rtlCol="0" anchor="ctr"/>
          <a:lstStyle/>
          <a:p>
            <a:pPr indent="0" marL="0">
              <a:buNone/>
            </a:pPr>
            <a:r>
              <a:rPr lang="en-US" sz="1050" dirty="0">
                <a:solidFill>
                  <a:srgbClr val="BFD6E8"/>
                </a:solidFill>
                <a:latin typeface="Calibri" pitchFamily="34" charset="0"/>
                <a:ea typeface="Calibri" pitchFamily="34" charset="-122"/>
                <a:cs typeface="Calibri" pitchFamily="34" charset="-120"/>
              </a:rPr>
              <a:t>SELECT, alias, CONCAT, and aggregate functions</a:t>
            </a:r>
            <a:endParaRPr lang="en-US" sz="1050" dirty="0"/>
          </a:p>
        </p:txBody>
      </p:sp>
      <p:sp>
        <p:nvSpPr>
          <p:cNvPr id="16" name="Shape 14"/>
          <p:cNvSpPr/>
          <p:nvPr/>
        </p:nvSpPr>
        <p:spPr>
          <a:xfrm>
            <a:off x="822960" y="3977640"/>
            <a:ext cx="365760" cy="365760"/>
          </a:xfrm>
          <a:prstGeom prst="ellipse">
            <a:avLst/>
          </a:prstGeom>
          <a:solidFill>
            <a:srgbClr val="0FA3B1"/>
          </a:solidFill>
          <a:ln/>
        </p:spPr>
      </p:sp>
      <p:sp>
        <p:nvSpPr>
          <p:cNvPr id="17" name="Text 15"/>
          <p:cNvSpPr/>
          <p:nvPr/>
        </p:nvSpPr>
        <p:spPr>
          <a:xfrm>
            <a:off x="822960" y="3977640"/>
            <a:ext cx="365760" cy="365760"/>
          </a:xfrm>
          <a:prstGeom prst="rect">
            <a:avLst/>
          </a:prstGeom>
          <a:noFill/>
          <a:ln/>
        </p:spPr>
        <p:txBody>
          <a:bodyPr wrap="square" lIns="0" tIns="0" rIns="0" bIns="0" rtlCol="0" anchor="ctr"/>
          <a:lstStyle/>
          <a:p>
            <a:pPr algn="ctr" indent="0" marL="0">
              <a:buNone/>
            </a:pPr>
            <a:r>
              <a:rPr lang="en-US" sz="1200" b="1" dirty="0">
                <a:solidFill>
                  <a:srgbClr val="0B1C2C"/>
                </a:solidFill>
                <a:latin typeface="Cambria" pitchFamily="34" charset="0"/>
                <a:ea typeface="Cambria" pitchFamily="34" charset="-122"/>
                <a:cs typeface="Cambria" pitchFamily="34" charset="-120"/>
              </a:rPr>
              <a:t>4</a:t>
            </a:r>
            <a:endParaRPr lang="en-US" sz="1200" dirty="0"/>
          </a:p>
        </p:txBody>
      </p:sp>
      <p:sp>
        <p:nvSpPr>
          <p:cNvPr id="18" name="Text 16"/>
          <p:cNvSpPr/>
          <p:nvPr/>
        </p:nvSpPr>
        <p:spPr>
          <a:xfrm>
            <a:off x="1371600" y="3931920"/>
            <a:ext cx="457200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Filtering Your Data</a:t>
            </a:r>
            <a:endParaRPr lang="en-US" sz="1250" dirty="0"/>
          </a:p>
        </p:txBody>
      </p:sp>
      <p:sp>
        <p:nvSpPr>
          <p:cNvPr id="19" name="Text 17"/>
          <p:cNvSpPr/>
          <p:nvPr/>
        </p:nvSpPr>
        <p:spPr>
          <a:xfrm>
            <a:off x="6126480" y="3931920"/>
            <a:ext cx="5120640" cy="411480"/>
          </a:xfrm>
          <a:prstGeom prst="rect">
            <a:avLst/>
          </a:prstGeom>
          <a:noFill/>
          <a:ln/>
        </p:spPr>
        <p:txBody>
          <a:bodyPr wrap="square" lIns="0" tIns="0" rIns="0" bIns="0" rtlCol="0" anchor="ctr"/>
          <a:lstStyle/>
          <a:p>
            <a:pPr indent="0" marL="0">
              <a:buNone/>
            </a:pPr>
            <a:r>
              <a:rPr lang="en-US" sz="1050" dirty="0">
                <a:solidFill>
                  <a:srgbClr val="BFD6E8"/>
                </a:solidFill>
                <a:latin typeface="Calibri" pitchFamily="34" charset="0"/>
                <a:ea typeface="Calibri" pitchFamily="34" charset="-122"/>
                <a:cs typeface="Calibri" pitchFamily="34" charset="-120"/>
              </a:rPr>
              <a:t>WHERE, AND/OR/IN/NOT, comparisons, BETWEEN</a:t>
            </a:r>
            <a:endParaRPr lang="en-US" sz="1050" dirty="0"/>
          </a:p>
        </p:txBody>
      </p:sp>
      <p:sp>
        <p:nvSpPr>
          <p:cNvPr id="20" name="Shape 18"/>
          <p:cNvSpPr/>
          <p:nvPr/>
        </p:nvSpPr>
        <p:spPr>
          <a:xfrm>
            <a:off x="822960" y="4434840"/>
            <a:ext cx="365760" cy="365760"/>
          </a:xfrm>
          <a:prstGeom prst="ellipse">
            <a:avLst/>
          </a:prstGeom>
          <a:solidFill>
            <a:srgbClr val="0FA3B1"/>
          </a:solidFill>
          <a:ln/>
        </p:spPr>
      </p:sp>
      <p:sp>
        <p:nvSpPr>
          <p:cNvPr id="21" name="Text 19"/>
          <p:cNvSpPr/>
          <p:nvPr/>
        </p:nvSpPr>
        <p:spPr>
          <a:xfrm>
            <a:off x="822960" y="4434840"/>
            <a:ext cx="365760" cy="365760"/>
          </a:xfrm>
          <a:prstGeom prst="rect">
            <a:avLst/>
          </a:prstGeom>
          <a:noFill/>
          <a:ln/>
        </p:spPr>
        <p:txBody>
          <a:bodyPr wrap="square" lIns="0" tIns="0" rIns="0" bIns="0" rtlCol="0" anchor="ctr"/>
          <a:lstStyle/>
          <a:p>
            <a:pPr algn="ctr" indent="0" marL="0">
              <a:buNone/>
            </a:pPr>
            <a:r>
              <a:rPr lang="en-US" sz="1200" b="1" dirty="0">
                <a:solidFill>
                  <a:srgbClr val="0B1C2C"/>
                </a:solidFill>
                <a:latin typeface="Cambria" pitchFamily="34" charset="0"/>
                <a:ea typeface="Cambria" pitchFamily="34" charset="-122"/>
                <a:cs typeface="Cambria" pitchFamily="34" charset="-120"/>
              </a:rPr>
              <a:t>5</a:t>
            </a:r>
            <a:endParaRPr lang="en-US" sz="1200" dirty="0"/>
          </a:p>
        </p:txBody>
      </p:sp>
      <p:sp>
        <p:nvSpPr>
          <p:cNvPr id="22" name="Text 20"/>
          <p:cNvSpPr/>
          <p:nvPr/>
        </p:nvSpPr>
        <p:spPr>
          <a:xfrm>
            <a:off x="1371600" y="4389120"/>
            <a:ext cx="457200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Dates, Time &amp; Missing Data</a:t>
            </a:r>
            <a:endParaRPr lang="en-US" sz="1250" dirty="0"/>
          </a:p>
        </p:txBody>
      </p:sp>
      <p:sp>
        <p:nvSpPr>
          <p:cNvPr id="23" name="Text 21"/>
          <p:cNvSpPr/>
          <p:nvPr/>
        </p:nvSpPr>
        <p:spPr>
          <a:xfrm>
            <a:off x="6126480" y="4389120"/>
            <a:ext cx="5120640" cy="411480"/>
          </a:xfrm>
          <a:prstGeom prst="rect">
            <a:avLst/>
          </a:prstGeom>
          <a:noFill/>
          <a:ln/>
        </p:spPr>
        <p:txBody>
          <a:bodyPr wrap="square" lIns="0" tIns="0" rIns="0" bIns="0" rtlCol="0" anchor="ctr"/>
          <a:lstStyle/>
          <a:p>
            <a:pPr indent="0" marL="0">
              <a:buNone/>
            </a:pPr>
            <a:r>
              <a:rPr lang="en-US" sz="1050" dirty="0">
                <a:solidFill>
                  <a:srgbClr val="BFD6E8"/>
                </a:solidFill>
                <a:latin typeface="Calibri" pitchFamily="34" charset="0"/>
                <a:ea typeface="Calibri" pitchFamily="34" charset="-122"/>
                <a:cs typeface="Calibri" pitchFamily="34" charset="-120"/>
              </a:rPr>
              <a:t>Date math, NULL, and COALESCE</a:t>
            </a:r>
            <a:endParaRPr lang="en-US" sz="1050" dirty="0"/>
          </a:p>
        </p:txBody>
      </p:sp>
      <p:sp>
        <p:nvSpPr>
          <p:cNvPr id="24" name="Shape 22"/>
          <p:cNvSpPr/>
          <p:nvPr/>
        </p:nvSpPr>
        <p:spPr>
          <a:xfrm>
            <a:off x="822960" y="4892040"/>
            <a:ext cx="365760" cy="365760"/>
          </a:xfrm>
          <a:prstGeom prst="ellipse">
            <a:avLst/>
          </a:prstGeom>
          <a:solidFill>
            <a:srgbClr val="0FA3B1"/>
          </a:solidFill>
          <a:ln/>
        </p:spPr>
      </p:sp>
      <p:sp>
        <p:nvSpPr>
          <p:cNvPr id="25" name="Text 23"/>
          <p:cNvSpPr/>
          <p:nvPr/>
        </p:nvSpPr>
        <p:spPr>
          <a:xfrm>
            <a:off x="822960" y="4892040"/>
            <a:ext cx="365760" cy="365760"/>
          </a:xfrm>
          <a:prstGeom prst="rect">
            <a:avLst/>
          </a:prstGeom>
          <a:noFill/>
          <a:ln/>
        </p:spPr>
        <p:txBody>
          <a:bodyPr wrap="square" lIns="0" tIns="0" rIns="0" bIns="0" rtlCol="0" anchor="ctr"/>
          <a:lstStyle/>
          <a:p>
            <a:pPr algn="ctr" indent="0" marL="0">
              <a:buNone/>
            </a:pPr>
            <a:r>
              <a:rPr lang="en-US" sz="1200" b="1" dirty="0">
                <a:solidFill>
                  <a:srgbClr val="0B1C2C"/>
                </a:solidFill>
                <a:latin typeface="Cambria" pitchFamily="34" charset="0"/>
                <a:ea typeface="Cambria" pitchFamily="34" charset="-122"/>
                <a:cs typeface="Cambria" pitchFamily="34" charset="-120"/>
              </a:rPr>
              <a:t>6</a:t>
            </a:r>
            <a:endParaRPr lang="en-US" sz="1200" dirty="0"/>
          </a:p>
        </p:txBody>
      </p:sp>
      <p:sp>
        <p:nvSpPr>
          <p:cNvPr id="26" name="Text 24"/>
          <p:cNvSpPr/>
          <p:nvPr/>
        </p:nvSpPr>
        <p:spPr>
          <a:xfrm>
            <a:off x="1371600" y="4846320"/>
            <a:ext cx="457200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Grouping, Matching &amp; Sorting</a:t>
            </a:r>
            <a:endParaRPr lang="en-US" sz="1250" dirty="0"/>
          </a:p>
        </p:txBody>
      </p:sp>
      <p:sp>
        <p:nvSpPr>
          <p:cNvPr id="27" name="Text 25"/>
          <p:cNvSpPr/>
          <p:nvPr/>
        </p:nvSpPr>
        <p:spPr>
          <a:xfrm>
            <a:off x="6126480" y="4846320"/>
            <a:ext cx="5120640" cy="411480"/>
          </a:xfrm>
          <a:prstGeom prst="rect">
            <a:avLst/>
          </a:prstGeom>
          <a:noFill/>
          <a:ln/>
        </p:spPr>
        <p:txBody>
          <a:bodyPr wrap="square" lIns="0" tIns="0" rIns="0" bIns="0" rtlCol="0" anchor="ctr"/>
          <a:lstStyle/>
          <a:p>
            <a:pPr indent="0" marL="0">
              <a:buNone/>
            </a:pPr>
            <a:r>
              <a:rPr lang="en-US" sz="1050" dirty="0">
                <a:solidFill>
                  <a:srgbClr val="BFD6E8"/>
                </a:solidFill>
                <a:latin typeface="Calibri" pitchFamily="34" charset="0"/>
                <a:ea typeface="Calibri" pitchFamily="34" charset="-122"/>
                <a:cs typeface="Calibri" pitchFamily="34" charset="-120"/>
              </a:rPr>
              <a:t>GROUP BY, HAVING, LIKE, ORDER BY, LIMIT</a:t>
            </a:r>
            <a:endParaRPr lang="en-US" sz="1050" dirty="0"/>
          </a:p>
        </p:txBody>
      </p:sp>
      <p:sp>
        <p:nvSpPr>
          <p:cNvPr id="28" name="Shape 26"/>
          <p:cNvSpPr/>
          <p:nvPr/>
        </p:nvSpPr>
        <p:spPr>
          <a:xfrm>
            <a:off x="822960" y="5349240"/>
            <a:ext cx="365760" cy="365760"/>
          </a:xfrm>
          <a:prstGeom prst="ellipse">
            <a:avLst/>
          </a:prstGeom>
          <a:solidFill>
            <a:srgbClr val="0FA3B1"/>
          </a:solidFill>
          <a:ln/>
        </p:spPr>
      </p:sp>
      <p:sp>
        <p:nvSpPr>
          <p:cNvPr id="29" name="Text 27"/>
          <p:cNvSpPr/>
          <p:nvPr/>
        </p:nvSpPr>
        <p:spPr>
          <a:xfrm>
            <a:off x="822960" y="5349240"/>
            <a:ext cx="365760" cy="365760"/>
          </a:xfrm>
          <a:prstGeom prst="rect">
            <a:avLst/>
          </a:prstGeom>
          <a:noFill/>
          <a:ln/>
        </p:spPr>
        <p:txBody>
          <a:bodyPr wrap="square" lIns="0" tIns="0" rIns="0" bIns="0" rtlCol="0" anchor="ctr"/>
          <a:lstStyle/>
          <a:p>
            <a:pPr algn="ctr" indent="0" marL="0">
              <a:buNone/>
            </a:pPr>
            <a:r>
              <a:rPr lang="en-US" sz="1200" b="1" dirty="0">
                <a:solidFill>
                  <a:srgbClr val="0B1C2C"/>
                </a:solidFill>
                <a:latin typeface="Cambria" pitchFamily="34" charset="0"/>
                <a:ea typeface="Cambria" pitchFamily="34" charset="-122"/>
                <a:cs typeface="Cambria" pitchFamily="34" charset="-120"/>
              </a:rPr>
              <a:t>7</a:t>
            </a:r>
            <a:endParaRPr lang="en-US" sz="1200" dirty="0"/>
          </a:p>
        </p:txBody>
      </p:sp>
      <p:sp>
        <p:nvSpPr>
          <p:cNvPr id="30" name="Text 28"/>
          <p:cNvSpPr/>
          <p:nvPr/>
        </p:nvSpPr>
        <p:spPr>
          <a:xfrm>
            <a:off x="1371600" y="5303520"/>
            <a:ext cx="457200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Combining Tables</a:t>
            </a:r>
            <a:endParaRPr lang="en-US" sz="1250" dirty="0"/>
          </a:p>
        </p:txBody>
      </p:sp>
      <p:sp>
        <p:nvSpPr>
          <p:cNvPr id="31" name="Text 29"/>
          <p:cNvSpPr/>
          <p:nvPr/>
        </p:nvSpPr>
        <p:spPr>
          <a:xfrm>
            <a:off x="6126480" y="5303520"/>
            <a:ext cx="5120640" cy="411480"/>
          </a:xfrm>
          <a:prstGeom prst="rect">
            <a:avLst/>
          </a:prstGeom>
          <a:noFill/>
          <a:ln/>
        </p:spPr>
        <p:txBody>
          <a:bodyPr wrap="square" lIns="0" tIns="0" rIns="0" bIns="0" rtlCol="0" anchor="ctr"/>
          <a:lstStyle/>
          <a:p>
            <a:pPr indent="0" marL="0">
              <a:buNone/>
            </a:pPr>
            <a:r>
              <a:rPr lang="en-US" sz="1050" dirty="0">
                <a:solidFill>
                  <a:srgbClr val="BFD6E8"/>
                </a:solidFill>
                <a:latin typeface="Calibri" pitchFamily="34" charset="0"/>
                <a:ea typeface="Calibri" pitchFamily="34" charset="-122"/>
                <a:cs typeface="Calibri" pitchFamily="34" charset="-120"/>
              </a:rPr>
              <a:t>Multi-table SELECT and every type of JOIN</a:t>
            </a:r>
            <a:endParaRPr lang="en-US" sz="1050" dirty="0"/>
          </a:p>
        </p:txBody>
      </p:sp>
      <p:sp>
        <p:nvSpPr>
          <p:cNvPr id="32" name="Shape 30"/>
          <p:cNvSpPr/>
          <p:nvPr/>
        </p:nvSpPr>
        <p:spPr>
          <a:xfrm>
            <a:off x="822960" y="5897880"/>
            <a:ext cx="2011680" cy="0"/>
          </a:xfrm>
          <a:prstGeom prst="line">
            <a:avLst/>
          </a:prstGeom>
          <a:noFill/>
          <a:ln w="25400">
            <a:solidFill>
              <a:srgbClr val="0FA3B1"/>
            </a:solidFill>
            <a:prstDash val="solid"/>
          </a:ln>
        </p:spPr>
      </p:sp>
      <p:sp>
        <p:nvSpPr>
          <p:cNvPr id="33" name="Text 31"/>
          <p:cNvSpPr/>
          <p:nvPr/>
        </p:nvSpPr>
        <p:spPr>
          <a:xfrm>
            <a:off x="822960" y="6080760"/>
            <a:ext cx="9875520" cy="457200"/>
          </a:xfrm>
          <a:prstGeom prst="rect">
            <a:avLst/>
          </a:prstGeom>
          <a:noFill/>
          <a:ln/>
        </p:spPr>
        <p:txBody>
          <a:bodyPr wrap="square" lIns="0" tIns="0" rIns="0" bIns="0" rtlCol="0" anchor="ctr"/>
          <a:lstStyle/>
          <a:p>
            <a:pPr indent="0" marL="0">
              <a:buNone/>
            </a:pPr>
            <a:r>
              <a:rPr lang="en-US" sz="1250" i="1" dirty="0">
                <a:solidFill>
                  <a:srgbClr val="2FBF8F"/>
                </a:solidFill>
                <a:latin typeface="Calibri" pitchFamily="34" charset="0"/>
                <a:ea typeface="Calibri" pitchFamily="34" charset="-122"/>
                <a:cs typeface="Calibri" pitchFamily="34" charset="-120"/>
              </a:rPr>
              <a:t>Every query in this course ran against a real, industry-standard dataset — the skills transfer directly.</a:t>
            </a:r>
            <a:endParaRPr lang="en-US" sz="12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50000"/>
            </a:avLst>
          </a:prstGeom>
          <a:solidFill>
            <a:srgbClr val="1E56A0"/>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KEEP GOING</a:t>
            </a:r>
            <a:endParaRPr lang="en-US" sz="1050" dirty="0"/>
          </a:p>
        </p:txBody>
      </p:sp>
      <p:sp>
        <p:nvSpPr>
          <p:cNvPr id="4" name="Text 2"/>
          <p:cNvSpPr/>
          <p:nvPr/>
        </p:nvSpPr>
        <p:spPr>
          <a:xfrm>
            <a:off x="548640" y="914400"/>
            <a:ext cx="9144000" cy="777240"/>
          </a:xfrm>
          <a:prstGeom prst="rect">
            <a:avLst/>
          </a:prstGeom>
          <a:noFill/>
          <a:ln/>
        </p:spPr>
        <p:txBody>
          <a:bodyPr wrap="square" lIns="0" tIns="0" rIns="0" bIns="0" rtlCol="0" anchor="t"/>
          <a:lstStyle/>
          <a:p>
            <a:pPr indent="0" marL="0">
              <a:buNone/>
            </a:pPr>
            <a:r>
              <a:rPr lang="en-US" sz="2800" b="1" dirty="0">
                <a:solidFill>
                  <a:srgbClr val="16202A"/>
                </a:solidFill>
                <a:latin typeface="Cambria" pitchFamily="34" charset="0"/>
                <a:ea typeface="Cambria" pitchFamily="34" charset="-122"/>
                <a:cs typeface="Cambria" pitchFamily="34" charset="-120"/>
              </a:rPr>
              <a:t>Resources to Learn &amp; Practice</a:t>
            </a:r>
            <a:endParaRPr lang="en-US" sz="2800" dirty="0"/>
          </a:p>
        </p:txBody>
      </p:sp>
      <p:sp>
        <p:nvSpPr>
          <p:cNvPr id="5" name="Text 3"/>
          <p:cNvSpPr/>
          <p:nvPr/>
        </p:nvSpPr>
        <p:spPr>
          <a:xfrm>
            <a:off x="548640" y="1508760"/>
            <a:ext cx="10607040" cy="36576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SQL fluency comes from repetition — here’s where to keep writing queries after this course ends</a:t>
            </a:r>
            <a:endParaRPr lang="en-US" sz="1300" dirty="0"/>
          </a:p>
        </p:txBody>
      </p:sp>
      <p:sp>
        <p:nvSpPr>
          <p:cNvPr id="6" name="Shape 4"/>
          <p:cNvSpPr/>
          <p:nvPr/>
        </p:nvSpPr>
        <p:spPr>
          <a:xfrm>
            <a:off x="548640" y="2103120"/>
            <a:ext cx="10652760" cy="777240"/>
          </a:xfrm>
          <a:prstGeom prst="roundRect">
            <a:avLst>
              <a:gd name="adj" fmla="val 8235"/>
            </a:avLst>
          </a:prstGeom>
          <a:solidFill>
            <a:srgbClr val="F2F6FA"/>
          </a:solidFill>
          <a:ln/>
        </p:spPr>
      </p:sp>
      <p:sp>
        <p:nvSpPr>
          <p:cNvPr id="7" name="Text 5"/>
          <p:cNvSpPr/>
          <p:nvPr/>
        </p:nvSpPr>
        <p:spPr>
          <a:xfrm>
            <a:off x="777240" y="2194560"/>
            <a:ext cx="10149840" cy="292608"/>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The employees sample database</a:t>
            </a:r>
            <a:endParaRPr lang="en-US" sz="1350" dirty="0"/>
          </a:p>
        </p:txBody>
      </p:sp>
      <p:sp>
        <p:nvSpPr>
          <p:cNvPr id="8" name="Text 6"/>
          <p:cNvSpPr/>
          <p:nvPr/>
        </p:nvSpPr>
        <p:spPr>
          <a:xfrm>
            <a:off x="777240" y="2487168"/>
            <a:ext cx="10149840" cy="36576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The exact dataset from this course — keep querying it, there’s always another business question to answer</a:t>
            </a:r>
            <a:endParaRPr lang="en-US" sz="1100" dirty="0"/>
          </a:p>
        </p:txBody>
      </p:sp>
      <p:sp>
        <p:nvSpPr>
          <p:cNvPr id="9" name="Shape 7"/>
          <p:cNvSpPr/>
          <p:nvPr/>
        </p:nvSpPr>
        <p:spPr>
          <a:xfrm>
            <a:off x="548640" y="2971800"/>
            <a:ext cx="10652760" cy="777240"/>
          </a:xfrm>
          <a:prstGeom prst="roundRect">
            <a:avLst>
              <a:gd name="adj" fmla="val 8235"/>
            </a:avLst>
          </a:prstGeom>
          <a:solidFill>
            <a:srgbClr val="F2F6FA"/>
          </a:solidFill>
          <a:ln/>
        </p:spPr>
      </p:sp>
      <p:sp>
        <p:nvSpPr>
          <p:cNvPr id="10" name="Text 8"/>
          <p:cNvSpPr/>
          <p:nvPr/>
        </p:nvSpPr>
        <p:spPr>
          <a:xfrm>
            <a:off x="777240" y="3063240"/>
            <a:ext cx="10149840" cy="292608"/>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db-fiddle.com</a:t>
            </a:r>
            <a:endParaRPr lang="en-US" sz="1350" dirty="0"/>
          </a:p>
        </p:txBody>
      </p:sp>
      <p:sp>
        <p:nvSpPr>
          <p:cNvPr id="11" name="Text 9"/>
          <p:cNvSpPr/>
          <p:nvPr/>
        </p:nvSpPr>
        <p:spPr>
          <a:xfrm>
            <a:off x="777240" y="3355848"/>
            <a:ext cx="10149840" cy="36576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Write and run SQL directly in your browser, no install needed — great for quick practice or sharing a query with someone</a:t>
            </a:r>
            <a:endParaRPr lang="en-US" sz="1100" dirty="0"/>
          </a:p>
        </p:txBody>
      </p:sp>
      <p:sp>
        <p:nvSpPr>
          <p:cNvPr id="12" name="Shape 10"/>
          <p:cNvSpPr/>
          <p:nvPr/>
        </p:nvSpPr>
        <p:spPr>
          <a:xfrm>
            <a:off x="548640" y="3840480"/>
            <a:ext cx="10652760" cy="777240"/>
          </a:xfrm>
          <a:prstGeom prst="roundRect">
            <a:avLst>
              <a:gd name="adj" fmla="val 8235"/>
            </a:avLst>
          </a:prstGeom>
          <a:solidFill>
            <a:srgbClr val="F2F6FA"/>
          </a:solidFill>
          <a:ln/>
        </p:spPr>
      </p:sp>
      <p:sp>
        <p:nvSpPr>
          <p:cNvPr id="13" name="Text 11"/>
          <p:cNvSpPr/>
          <p:nvPr/>
        </p:nvSpPr>
        <p:spPr>
          <a:xfrm>
            <a:off x="777240" y="3931920"/>
            <a:ext cx="10149840" cy="292608"/>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MySQL official documentation</a:t>
            </a:r>
            <a:endParaRPr lang="en-US" sz="1350" dirty="0"/>
          </a:p>
        </p:txBody>
      </p:sp>
      <p:sp>
        <p:nvSpPr>
          <p:cNvPr id="14" name="Text 12"/>
          <p:cNvSpPr/>
          <p:nvPr/>
        </p:nvSpPr>
        <p:spPr>
          <a:xfrm>
            <a:off x="777240" y="4224528"/>
            <a:ext cx="10149840" cy="36576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The definitive reference for every function and syntax detail — bookmark it, you’ll return often</a:t>
            </a:r>
            <a:endParaRPr lang="en-US" sz="1100" dirty="0"/>
          </a:p>
        </p:txBody>
      </p:sp>
      <p:sp>
        <p:nvSpPr>
          <p:cNvPr id="15" name="Shape 13"/>
          <p:cNvSpPr/>
          <p:nvPr/>
        </p:nvSpPr>
        <p:spPr>
          <a:xfrm>
            <a:off x="548640" y="4709160"/>
            <a:ext cx="10652760" cy="777240"/>
          </a:xfrm>
          <a:prstGeom prst="roundRect">
            <a:avLst>
              <a:gd name="adj" fmla="val 8235"/>
            </a:avLst>
          </a:prstGeom>
          <a:solidFill>
            <a:srgbClr val="F2F6FA"/>
          </a:solidFill>
          <a:ln/>
        </p:spPr>
      </p:sp>
      <p:sp>
        <p:nvSpPr>
          <p:cNvPr id="16" name="Text 14"/>
          <p:cNvSpPr/>
          <p:nvPr/>
        </p:nvSpPr>
        <p:spPr>
          <a:xfrm>
            <a:off x="777240" y="4800600"/>
            <a:ext cx="10149840" cy="292608"/>
          </a:xfrm>
          <a:prstGeom prst="rect">
            <a:avLst/>
          </a:prstGeom>
          <a:noFill/>
          <a:ln/>
        </p:spPr>
        <p:txBody>
          <a:bodyPr wrap="square" lIns="0" tIns="0" rIns="0" bIns="0" rtlCol="0" anchor="ctr"/>
          <a:lstStyle/>
          <a:p>
            <a:pPr indent="0" marL="0">
              <a:buNone/>
            </a:pPr>
            <a:r>
              <a:rPr lang="en-US" sz="1350" b="1" dirty="0">
                <a:solidFill>
                  <a:srgbClr val="1E56A0"/>
                </a:solidFill>
                <a:latin typeface="Calibri" pitchFamily="34" charset="0"/>
                <a:ea typeface="Calibri" pitchFamily="34" charset="-122"/>
                <a:cs typeface="Calibri" pitchFamily="34" charset="-120"/>
              </a:rPr>
              <a:t>Write your own business questions</a:t>
            </a:r>
            <a:endParaRPr lang="en-US" sz="1350" dirty="0"/>
          </a:p>
        </p:txBody>
      </p:sp>
      <p:sp>
        <p:nvSpPr>
          <p:cNvPr id="17" name="Text 15"/>
          <p:cNvSpPr/>
          <p:nvPr/>
        </p:nvSpPr>
        <p:spPr>
          <a:xfrm>
            <a:off x="777240" y="5093208"/>
            <a:ext cx="10149840" cy="365760"/>
          </a:xfrm>
          <a:prstGeom prst="rect">
            <a:avLst/>
          </a:prstGeom>
          <a:noFill/>
          <a:ln/>
        </p:spPr>
        <p:txBody>
          <a:bodyPr wrap="square" lIns="0" tIns="0" rIns="0" bIns="0" rtlCol="0" anchor="ctr"/>
          <a:lstStyle/>
          <a:p>
            <a:pPr indent="0" marL="0">
              <a:buNone/>
            </a:pPr>
            <a:r>
              <a:rPr lang="en-US" sz="1100" dirty="0">
                <a:solidFill>
                  <a:srgbClr val="5B6B79"/>
                </a:solidFill>
                <a:latin typeface="Calibri" pitchFamily="34" charset="0"/>
                <a:ea typeface="Calibri" pitchFamily="34" charset="-122"/>
                <a:cs typeface="Calibri" pitchFamily="34" charset="-120"/>
              </a:rPr>
              <a:t>The fastest way to improve: think of a question about data you care about, then figure out the query that answers it</a:t>
            </a:r>
            <a:endParaRPr lang="en-US" sz="1100" dirty="0"/>
          </a:p>
        </p:txBody>
      </p:sp>
      <p:sp>
        <p:nvSpPr>
          <p:cNvPr id="18" name="Shape 16"/>
          <p:cNvSpPr/>
          <p:nvPr/>
        </p:nvSpPr>
        <p:spPr>
          <a:xfrm>
            <a:off x="548640" y="5650992"/>
            <a:ext cx="10652760" cy="594360"/>
          </a:xfrm>
          <a:prstGeom prst="roundRect">
            <a:avLst>
              <a:gd name="adj" fmla="val 10769"/>
            </a:avLst>
          </a:prstGeom>
          <a:solidFill>
            <a:srgbClr val="E3F8F1"/>
          </a:solidFill>
          <a:ln/>
        </p:spPr>
      </p:sp>
      <p:sp>
        <p:nvSpPr>
          <p:cNvPr id="19" name="Text 17"/>
          <p:cNvSpPr/>
          <p:nvPr/>
        </p:nvSpPr>
        <p:spPr>
          <a:xfrm>
            <a:off x="777240" y="5650992"/>
            <a:ext cx="10241280" cy="594360"/>
          </a:xfrm>
          <a:prstGeom prst="rect">
            <a:avLst/>
          </a:prstGeom>
          <a:noFill/>
          <a:ln/>
        </p:spPr>
        <p:txBody>
          <a:bodyPr wrap="square" lIns="0" tIns="0" rIns="0" bIns="0" rtlCol="0" anchor="ctr"/>
          <a:lstStyle/>
          <a:p>
            <a:pPr indent="0" marL="0">
              <a:buNone/>
            </a:pPr>
            <a:r>
              <a:rPr lang="en-US" sz="1200" b="1" dirty="0">
                <a:solidFill>
                  <a:srgbClr val="106A56"/>
                </a:solidFill>
                <a:latin typeface="Calibri" pitchFamily="34" charset="0"/>
                <a:ea typeface="Calibri" pitchFamily="34" charset="-122"/>
                <a:cs typeface="Calibri" pitchFamily="34" charset="-120"/>
              </a:rPr>
              <a:t>Final thought:  </a:t>
            </a:r>
            <a:pPr indent="0" marL="0">
              <a:buNone/>
            </a:pPr>
            <a:r>
              <a:rPr lang="en-US" sz="1200" dirty="0">
                <a:solidFill>
                  <a:srgbClr val="106A56"/>
                </a:solidFill>
                <a:latin typeface="Calibri" pitchFamily="34" charset="0"/>
                <a:ea typeface="Calibri" pitchFamily="34" charset="-122"/>
                <a:cs typeface="Calibri" pitchFamily="34" charset="-120"/>
              </a:rPr>
              <a:t>you don’t get fluent in SQL by reading about it — you get fluent by writing queries, breaking them, and fixing them. Go break some queries.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2026-08-22T19:06:51Z</dcterms:created>
  <dcterms:modified xsi:type="dcterms:W3CDTF">2026-08-22T19:06:51Z</dcterms:modified>
</cp:coreProperties>
</file>